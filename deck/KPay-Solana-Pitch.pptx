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1.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d95bd35d-5009-52c4-e85d-614c09df0ab4}">
          <p14:sldIdLst>
            <p14:sldId id="256"/>
            <p14:sldId id="257"/>
            <p14:sldId id="258"/>
            <p14:sldId id="259"/>
            <p14:sldId id="260"/>
          </p14:sldIdLst>
        </p14:section>
        <p14:section name="Why Solana" id="{8ba76ab4-2af5-00b6-6117-103277952c77}">
          <p14:sldIdLst>
            <p14:sldId id="261"/>
            <p14:sldId id="262"/>
          </p14:sldIdLst>
        </p14:section>
        <p14:section name="Product demo" id="{09a47d40-1f0a-a9f5-5115-b055976cf1d1}">
          <p14:sldIdLst>
            <p14:sldId id="263"/>
            <p14:sldId id="264"/>
            <p14:sldId id="265"/>
            <p14:sldId id="266"/>
            <p14:sldId id="267"/>
            <p14:sldId id="268"/>
            <p14:sldId id="269"/>
            <p14:sldId id="270"/>
            <p14:sldId id="271"/>
          </p14:sldIdLst>
        </p14:section>
        <p14:section name="APIs" id="{3e2fc02b-20c7-77c1-dfd8-866ffafc9e2e}">
          <p14:sldIdLst>
            <p14:sldId id="272"/>
            <p14:sldId id="273"/>
          </p14:sldIdLst>
        </p14:section>
        <p14:section name="Business" id="{e393aca4-9530-43c1-4c52-03cbb2fc0ca9}">
          <p14:sldIdLst>
            <p14:sldId id="274"/>
            <p14:sldId id="275"/>
            <p14:sldId id="276"/>
          </p14:sldIdLst>
        </p14:section>
        <p14:section name="Close" id="{83ba6e68-cf5e-dc36-4c34-f8374d8f1dca}">
          <p14:sldIdLst>
            <p14:sldId id="27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ECECF5"/>
                </a:solidFill>
                <a:latin typeface="+mn-lt"/>
              </a:defRPr>
            </a:pPr>
            <a:r>
              <a:rPr sz="1400" b="0" i="0" u="none" strike="noStrike">
                <a:solidFill>
                  <a:srgbClr val="ECECF5"/>
                </a:solidFill>
                <a:latin typeface="+mn-lt"/>
              </a:rPr>
              <a:t>Stablecoin transfer share, April 2026 (%)</a:t>
            </a:r>
          </a:p>
        </c:rich>
      </c:tx>
      <c:layout/>
      <c:overlay val="0"/>
    </c:title>
    <c:autoTitleDeleted val="0"/>
    <c:plotArea>
      <c:layout/>
      <c:barChart>
        <c:barDir val="bar"/>
        <c:grouping val="clustered"/>
        <c:varyColors val="0"/>
        <c:ser>
          <c:idx val="0"/>
          <c:order val="0"/>
          <c:tx>
            <c:strRef>
              <c:f>Sheet1!$B$1</c:f>
              <c:strCache>
                <c:ptCount val="1"/>
                <c:pt idx="0">
                  <c:v>Share of weekly adjusted stablecoin transfer volume (%)</c:v>
                </c:pt>
              </c:strCache>
            </c:strRef>
          </c:tx>
          <c:spPr>
            <a:solidFill>
              <a:srgbClr val="14F195"/>
            </a:solidFill>
            <a:effectLst/>
          </c:spPr>
          <c:invertIfNegative val="0"/>
          <c:dLbls>
            <c:numFmt formatCode="0.0" sourceLinked="0"/>
            <c:txPr>
              <a:bodyPr/>
              <a:lstStyle/>
              <a:p>
                <a:pPr>
                  <a:defRPr b="0" i="0" strike="noStrike" sz="1400" u="none">
                    <a:solidFill>
                      <a:srgbClr val="ECECF5"/>
                    </a:solidFill>
                    <a:latin typeface="+mn-lt"/>
                  </a:defRPr>
                </a:pPr>
              </a:p>
            </c:txPr>
            <c:showLegendKey val="0"/>
            <c:showVal val="1"/>
            <c:showCatName val="0"/>
            <c:showSerName val="0"/>
            <c:showPercent val="0"/>
            <c:showBubbleSize val="0"/>
            <c:showLeaderLines val="0"/>
          </c:dLbls>
          <c:dPt>
            <c:idx val="0"/>
            <c:invertIfNegative val="0"/>
            <c:bubble3D val="0"/>
            <c:spPr>
              <a:solidFill>
                <a:srgbClr val="14F195"/>
              </a:solidFill>
              <a:effectLst/>
            </c:spPr>
          </c:dPt>
          <c:dPt>
            <c:idx val="1"/>
            <c:invertIfNegative val="0"/>
            <c:bubble3D val="0"/>
            <c:spPr>
              <a:solidFill>
                <a:srgbClr val="6B6B8A"/>
              </a:solidFill>
              <a:effectLst/>
            </c:spPr>
          </c:dPt>
          <c:dPt>
            <c:idx val="2"/>
            <c:invertIfNegative val="0"/>
            <c:bubble3D val="0"/>
            <c:spPr>
              <a:solidFill>
                <a:srgbClr val="6B6B8A"/>
              </a:solidFill>
              <a:effectLst/>
            </c:spPr>
          </c:dPt>
          <c:dPt>
            <c:idx val="3"/>
            <c:invertIfNegative val="0"/>
            <c:bubble3D val="0"/>
            <c:spPr>
              <a:solidFill>
                <a:srgbClr val="6B6B8A"/>
              </a:solidFill>
              <a:effectLst/>
            </c:spPr>
          </c:dPt>
          <c:cat>
            <c:multiLvlStrRef>
              <c:f>Sheet1!$A$2:$A$5</c:f>
              <c:multiLvlStrCache>
                <c:ptCount val="4"/>
                <c:lvl>
                  <c:pt idx="0">
                    <c:v>Solana</c:v>
                  </c:pt>
                  <c:pt idx="1">
                    <c:v>Ethereum</c:v>
                  </c:pt>
                  <c:pt idx="2">
                    <c:v>Tron</c:v>
                  </c:pt>
                  <c:pt idx="3">
                    <c:v>Base</c:v>
                  </c:pt>
                </c:lvl>
              </c:multiLvlStrCache>
            </c:multiLvlStrRef>
          </c:cat>
          <c:val>
            <c:numRef>
              <c:f>Sheet1!$B$2:$B$5</c:f>
              <c:numCache>
                <c:formatCode>General</c:formatCode>
                <c:ptCount val="4"/>
                <c:pt idx="0">
                  <c:v>32.6</c:v>
                </c:pt>
                <c:pt idx="1">
                  <c:v>27.8</c:v>
                </c:pt>
                <c:pt idx="2">
                  <c:v>18.5</c:v>
                </c:pt>
                <c:pt idx="3">
                  <c:v>14.6</c:v>
                </c:pt>
              </c:numCache>
            </c:numRef>
          </c:val>
        </c:ser>
        <c:dLbls>
          <c:numFmt formatCode="0.0" sourceLinked="0"/>
          <c:txPr>
            <a:bodyPr/>
            <a:lstStyle/>
            <a:p>
              <a:pPr>
                <a:defRPr b="0" i="0" strike="noStrike" sz="1400" u="none">
                  <a:solidFill>
                    <a:srgbClr val="ECECF5"/>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400" b="0" i="0" u="none" strike="noStrike">
                <a:solidFill>
                  <a:srgbClr val="ECECF5"/>
                </a:solidFill>
                <a:latin typeface="+mn-lt"/>
              </a:defRPr>
            </a:pPr>
            <a:endParaRPr lang="en-US"/>
          </a:p>
        </c:txPr>
        <c:crossAx val="2094734552"/>
        <c:crosses val="autoZero"/>
        <c:auto val="1"/>
        <c:lblAlgn val="ctr"/>
        <c:noMultiLvlLbl val="1"/>
      </c:catAx>
      <c:valAx>
        <c:axId val="2094734552"/>
        <c:scaling>
          <c:orientation val="minMax"/>
          <c:max val="4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KPay is a self-hosted payment gateway. Merchants accept cards, UPI and stablecoins through one checkout, and every merchant is settled in USDT on Solana. This deck covers the problem, the product (with a live demo), the APIs and why Solana is the settlement layer.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pains we hear from every merchant and PSP we talk 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KPay does three jobs end to end. Accept: cards, UPI and stablecoins on five networks. Account: a double-entry ledger with oracle-priced conversion. Settle: USDT to the merchant wallet on Solana, maker-checker approved and chain-verified.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left to right. Payers use whatever they have. KPay core routes, prices, records and risk-checks the payment. Settlement runs on Solana as an SPL USDT transfer. Merchants receive funds in their own wallet and can hold, treasury-manage or off-ramp.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KPay is used at four levels. A single merchant runs its own checkout. A platform or marketplace onboards sub-merchants. A PSP or acquirer white-labels KPay for its merchants. A bank or enterprise runs it multi-region with its own HSM and data residency. Same code, different modules switched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Blockeden / Artemis data on stablecoin transfer volume (Feb and Apr 2026); Visa USDC settlement on Solana for US banks (late 2025). Fee figure is the 5,000-lamport base fee; priority fees can add a little at peak. Alpenglow aims for ~150ms finality and is expected later in 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Comparison is by category, not against any one company. Hosted card gateways are strong on cards but you rent them and they settle in fiat on bank rails. Crypto processors take crypto only. KPay combines both and runs on your own infrastructure.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Play the embedded 110-second demo (also saved as video/kpay-demo.mp4). Each feature is captioned on screen. The following slides show the same flow as stills.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Unified login: one URL for every principal. Passwords are argon2-hashed with lockout. Admins must use MFA (TOTP or WebAuthn). Five platform roles, IP allow-listing on admin routes, and a fixation-safe session cookie.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Admin-driven onboarding. Every merchant is born pending_approval; no auto-approve path exists. Step 4 captures the merchant Solana wallet and verifies it on-chain (on curve, USDT token account exists, ownership proven by a signed message). Approval enables exactly the selected connectors and flips the merchant live in one transaction.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link carries the full checkout config: amount, currency, accepted methods, expiry and the crypto quote lock. The same thing is available through POST /api/v1/payment_links with an idempotency key.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Checkout encodes a Solana Pay transfer request: recipient, amount, spl-token mint and a unique reference public key. KPay finds the transaction by that reference, validates amount and mint, and credits only once the signature reaches finalized commitment.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what lets a regulated PSP or bank say yes to crypto. Crypto rollout is controlled per network and environment, per merchant cohort with daily exposure caps, by staged percentage, and through a global kill switch that halts crypto pay-in and settlement while fiat keeps working.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Processors plug in through one adapter seam (authorize, capture, sync, void, refund, payout). Routing picks connectors by priority and fails over on soft declines and timeouts. Unknown outcomes are never blind-retried; they are status-synced first. A coverage matrix shows exactly which method and currency combinations can be offered.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merchant requests settlement. The ledger reserves the balance and an admin approves it (merchants can never self-settle to chain). MPC custody signs the SPL USDT transfer, broadcast with a priority fee. The ledger marks it paid only after the signature reaches finalized, then a webhook fires.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Twelve modules, each with its own switch: payments core, ledger, checkout, Solana settlement, crypto pay-in, oracle, disputes, subscriptions, rolling reserve, reporting, webhooks and the white-label reseller module. Four extension seams mean new processors, custody providers, oracles and settlement rails plug in without core changes.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real routes from the KPay codebase. Partner routes take Bearer keys with scopes and an Idempotency-Key. Money-moving mutations also need an HMAC X-KP-Signature. The full contract, including every webhook event, is published at /openapi.json.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create a link that accepts card, UPI and Solana stablecoins and settles in USDT on Solana. Middle: the signed webhook the merchant receives, with the Solana signature and commitment. Right: the Solana building blocks KPay uses. The settlement block in the request is the Solana rail being added on the existing settlement-rail seam.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KPay ships as signed container images with Helm charts: gateway, worker and scheduler on PostgreSQL 16 and Redis 7, with your Solana RPC. Keys stay in your MPC or HSM, so KPay never touches funds. Licence is commercial and closed source, with source escrow for enterprises.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revenue lines. Annual licence per deployment, tiered by level (merchant, platform, PSP, bank). A basis-point usage fee on volume settled through the Solana rail. Enterprise support, SLAs and white-label onboarding. On top, operators earn MDR and the FX buffer on conversion inside their own deployment.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(demo): Solana Pay checkout, other-chain USDT merged into Solana, and auto-settlement in USDT. Next: a mainnet pilot with design partners, then new stablecoins, faster finality and local off-ramps.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ask. Every KPay install becomes a PSP, platform or bank settling on Solana, so the ecosystem gets distribution through operators rather than one merchant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KP_TITLE-image-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KP_SECTION-image-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KP_TITLE">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2011680"/>
            <a:ext cx="6035040" cy="173736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3" name="Text 0"/>
          <p:cNvSpPr/>
          <p:nvPr>
            <p:ph idx="101" type="body" hasCustomPrompt="1"/>
          </p:nvPr>
        </p:nvSpPr>
        <p:spPr>
          <a:xfrm>
            <a:off x="640080" y="3886200"/>
            <a:ext cx="5852160" cy="1097280"/>
          </a:xfrm>
          <a:prstGeom prst="rect">
            <a:avLst/>
          </a:prstGeom>
          <a:noFill/>
          <a:ln/>
        </p:spPr>
        <p:txBody>
          <a:bodyPr wrap="square" rtlCol="0"/>
          <a:lstStyle>
            <a:lvl1pPr indent="0" marL="0">
              <a:buNone/>
              <a:defRPr lang="en-US" sz="1800" dirty="0">
                <a:solidFill>
                  <a:schemeClr val="bg2"/>
                </a:solidFill>
              </a:defRPr>
            </a:lvl1pPr>
          </a:lstStyle>
          <a:p>
            <a:pPr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KP_SECTION">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881360" cy="731520"/>
          </a:xfrm>
          <a:prstGeom prst="rect">
            <a:avLst/>
          </a:prstGeom>
          <a:noFill/>
          <a:ln/>
        </p:spPr>
        <p:txBody>
          <a:bodyPr wrap="square" rtlCol="0"/>
          <a:lstStyle>
            <a:lvl1pPr algn="l" indent="0" marL="0">
              <a:buNone/>
              <a:defRPr lang="en-US" sz="3600" b="1" dirty="0">
                <a:solidFill>
                  <a:schemeClr val="bg1"/>
                </a:solidFill>
              </a:defRPr>
            </a:lvl1pPr>
          </a:lstStyle>
          <a:p>
            <a:pPr algn="l" indent="0" marL="0">
              <a:buNone/>
            </a:pPr>
            <a:endParaRPr lang="en-US" sz="3600" dirty="0"/>
          </a:p>
        </p:txBody>
      </p:sp>
      <p:sp>
        <p:nvSpPr>
          <p:cNvPr id="3" name="Text 0"/>
          <p:cNvSpPr/>
          <p:nvPr>
            <p:ph idx="101" type="body" hasCustomPrompt="1"/>
          </p:nvPr>
        </p:nvSpPr>
        <p:spPr>
          <a:xfrm>
            <a:off x="640080" y="1143000"/>
            <a:ext cx="10881360" cy="457200"/>
          </a:xfrm>
          <a:prstGeom prst="rect">
            <a:avLst/>
          </a:prstGeom>
          <a:noFill/>
          <a:ln/>
        </p:spPr>
        <p:txBody>
          <a:bodyPr wrap="square" rtlCol="0"/>
          <a:lstStyle>
            <a:lvl1pPr indent="0" marL="0">
              <a:buNone/>
              <a:defRPr lang="en-US" sz="1600" dirty="0">
                <a:solidFill>
                  <a:schemeClr val="accent6"/>
                </a:solidFill>
              </a:defRPr>
            </a:lvl1pPr>
          </a:lstStyle>
          <a:p>
            <a:pPr indent="0" marL="0">
              <a:buNone/>
            </a:pPr>
            <a:endParaRPr lang="en-US" sz="1600" dirty="0"/>
          </a:p>
        </p:txBody>
      </p:sp>
      <p:sp>
        <p:nvSpPr>
          <p:cNvPr id="4" name="Text 0"/>
          <p:cNvSpPr/>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chemeClr val="accent6"/>
                </a:solidFill>
              </a:rPr>
              <a:t>KPay  ·  Solana ecosystem deck  ·  Confidential</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KP_CONTENT">
    <p:bg>
      <p:bgPr>
        <a:solidFill>
          <a:srgbClr val="0B0B14"/>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64240" cy="685800"/>
          </a:xfrm>
          <a:prstGeom prst="rect">
            <a:avLst/>
          </a:prstGeom>
          <a:noFill/>
          <a:ln/>
        </p:spPr>
        <p:txBody>
          <a:bodyPr wrap="square" rtlCol="0"/>
          <a:lstStyle>
            <a:lvl1pPr algn="l" indent="0" marL="0">
              <a:buNone/>
              <a:defRPr lang="en-US" sz="3600" b="1" dirty="0">
                <a:solidFill>
                  <a:schemeClr val="bg1"/>
                </a:solidFill>
              </a:defRPr>
            </a:lvl1pPr>
          </a:lstStyle>
          <a:p>
            <a:pPr algn="l" indent="0" marL="0">
              <a:buNone/>
            </a:pPr>
            <a:endParaRPr lang="en-US" sz="3600" dirty="0"/>
          </a:p>
        </p:txBody>
      </p:sp>
      <p:sp>
        <p:nvSpPr>
          <p:cNvPr id="3" name="Text 0"/>
          <p:cNvSpPr/>
          <p:nvPr>
            <p:ph idx="101" type="body" hasCustomPrompt="1"/>
          </p:nvPr>
        </p:nvSpPr>
        <p:spPr>
          <a:xfrm>
            <a:off x="548640" y="1024128"/>
            <a:ext cx="11064240" cy="384048"/>
          </a:xfrm>
          <a:prstGeom prst="rect">
            <a:avLst/>
          </a:prstGeom>
          <a:noFill/>
          <a:ln/>
        </p:spPr>
        <p:txBody>
          <a:bodyPr wrap="square" rtlCol="0"/>
          <a:lstStyle>
            <a:lvl1pPr indent="0" marL="0">
              <a:buNone/>
              <a:defRPr lang="en-US" sz="1600" dirty="0">
                <a:solidFill>
                  <a:schemeClr val="accent6"/>
                </a:solidFill>
              </a:defRPr>
            </a:lvl1pPr>
          </a:lstStyle>
          <a:p>
            <a:pPr indent="0" marL="0">
              <a:buNone/>
            </a:pPr>
            <a:endParaRPr lang="en-US" sz="1600" dirty="0"/>
          </a:p>
        </p:txBody>
      </p:sp>
      <p:sp>
        <p:nvSpPr>
          <p:cNvPr id="4" name="Text 0"/>
          <p:cNvSpPr/>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chemeClr val="accent6"/>
                </a:solidFill>
              </a:rPr>
              <a:t>KPay  ·  Solana ecosystem deck  ·  Confidential</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4.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4.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4.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4.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4.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video" Target="../media/media-8-1.mp4"/><Relationship Id="rId2" Type="http://schemas.microsoft.com/office/2007/relationships/media" Target="../media/media-8-1.mp4"/><Relationship Id="rId3" Type="http://schemas.openxmlformats.org/officeDocument/2006/relationships/image" Target="../media/image-8-3.png"/><Relationship Id="rId4" Type="http://schemas.openxmlformats.org/officeDocument/2006/relationships/slideLayout" Target="../slideLayouts/slideLayout3.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slideLayout" Target="../slideLayouts/slideLayout4.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image" Target="../media/image-10-7.png"/><Relationship Id="rId8" Type="http://schemas.openxmlformats.org/officeDocument/2006/relationships/image" Target="../media/image-10-8.png"/><Relationship Id="rId9" Type="http://schemas.openxmlformats.org/officeDocument/2006/relationships/image" Target="../media/image-10-9.png"/><Relationship Id="rId10" Type="http://schemas.openxmlformats.org/officeDocument/2006/relationships/slideLayout" Target="../slideLayouts/slideLayout4.xml"/><Relationship Id="rId11"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4.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4.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slideLayout" Target="../slideLayouts/slideLayout4.xml"/><Relationship Id="rId7"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slideLayout" Target="../slideLayouts/slideLayout4.xml"/><Relationship Id="rId7"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4.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slideLayout" Target="../slideLayouts/slideLayout4.xml"/><Relationship Id="rId7"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image" Target="../media/image-18-5.png"/><Relationship Id="rId6" Type="http://schemas.openxmlformats.org/officeDocument/2006/relationships/slideLayout" Target="../slideLayouts/slideLayout4.xml"/><Relationship Id="rId7"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image" Target="../media/image-19-5.png"/><Relationship Id="rId6" Type="http://schemas.openxmlformats.org/officeDocument/2006/relationships/slideLayout" Target="../slideLayouts/slideLayout4.xml"/><Relationship Id="rId7"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slideLayout" Target="../slideLayouts/slideLayout4.xml"/><Relationship Id="rId5"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slideLayout" Target="../slideLayouts/slideLayout2.xml"/><Relationship Id="rId6"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640080" y="2011680"/>
            <a:ext cx="6035040" cy="1737360"/>
          </a:xfrm>
          <a:prstGeom prst="rect">
            <a:avLst/>
          </a:prstGeom>
          <a:noFill/>
          <a:ln/>
        </p:spPr>
        <p:txBody>
          <a:bodyPr wrap="square" lIns="0" tIns="0" rIns="0" bIns="0" rtlCol="0" anchor="b"/>
          <a:lstStyle/>
          <a:p>
            <a:pPr algn="l" indent="0" marL="0">
              <a:buNone/>
            </a:pPr>
            <a:r>
              <a:rPr lang="en-US" sz="4400" b="1" dirty="0">
                <a:solidFill>
                  <a:schemeClr val="bg1"/>
                </a:solidFill>
              </a:rPr>
              <a:t>KPay</a:t>
            </a:r>
            <a:endParaRPr lang="en-US" sz="4400" dirty="0"/>
          </a:p>
          <a:p>
            <a:pPr algn="l" indent="0" marL="0">
              <a:buNone/>
            </a:pPr>
            <a:r>
              <a:rPr lang="en-US" sz="3600" b="1" dirty="0">
                <a:solidFill>
                  <a:schemeClr val="bg1"/>
                </a:solidFill>
              </a:rPr>
              <a:t>Accept anything.</a:t>
            </a:r>
            <a:endParaRPr lang="en-US" sz="4400" dirty="0"/>
          </a:p>
          <a:p>
            <a:pPr algn="l" indent="0" marL="0">
              <a:buNone/>
            </a:pPr>
            <a:r>
              <a:rPr lang="en-US" sz="3600" b="1" dirty="0">
                <a:solidFill>
                  <a:schemeClr val="accent2"/>
                </a:solidFill>
              </a:rPr>
              <a:t>Auto-settle on Solana.</a:t>
            </a:r>
            <a:endParaRPr lang="en-US" sz="4400" dirty="0"/>
          </a:p>
        </p:txBody>
      </p:sp>
      <p:sp>
        <p:nvSpPr>
          <p:cNvPr id="3" name="Text 0"/>
          <p:cNvSpPr/>
          <p:nvPr>
            <p:ph idx="101" type="body" hasCustomPrompt="1"/>
          </p:nvPr>
        </p:nvSpPr>
        <p:spPr>
          <a:xfrm>
            <a:off x="640080" y="3886200"/>
            <a:ext cx="5852160" cy="1097280"/>
          </a:xfrm>
          <a:prstGeom prst="rect">
            <a:avLst/>
          </a:prstGeom>
          <a:noFill/>
          <a:ln/>
        </p:spPr>
        <p:txBody>
          <a:bodyPr wrap="square" lIns="0" tIns="0" rIns="0" bIns="0" rtlCol="0" anchor="t"/>
          <a:lstStyle/>
          <a:p>
            <a:pPr indent="0" marL="0">
              <a:buNone/>
            </a:pPr>
            <a:r>
              <a:rPr lang="en-US" sz="1800" dirty="0">
                <a:solidFill>
                  <a:schemeClr val="bg2"/>
                </a:solidFill>
              </a:rPr>
              <a:t>Self-hosted private payment infrastructure for humans &amp; AI agents. Card and crypto in, USDT on Solana out.</a:t>
            </a:r>
            <a:endParaRPr lang="en-US" sz="1800" dirty="0"/>
          </a:p>
        </p:txBody>
      </p:sp>
      <p:sp>
        <p:nvSpPr>
          <p:cNvPr id="4" name="tag pill"/>
          <p:cNvSpPr/>
          <p:nvPr/>
        </p:nvSpPr>
        <p:spPr>
          <a:xfrm>
            <a:off x="640080" y="1234440"/>
            <a:ext cx="3657600" cy="411480"/>
          </a:xfrm>
          <a:prstGeom prst="roundRect">
            <a:avLst>
              <a:gd name="adj" fmla="val 48889"/>
            </a:avLst>
          </a:prstGeom>
          <a:solidFill>
            <a:schemeClr val="accent2">
              <a:alpha val="15000"/>
            </a:schemeClr>
          </a:solidFill>
          <a:ln w="12700">
            <a:solidFill>
              <a:schemeClr val="accent2"/>
            </a:solidFill>
            <a:prstDash val="solid"/>
          </a:ln>
        </p:spPr>
      </p:sp>
      <p:sp>
        <p:nvSpPr>
          <p:cNvPr id="5" name="tag"/>
          <p:cNvSpPr txBox="1"/>
          <p:nvPr/>
        </p:nvSpPr>
        <p:spPr>
          <a:xfrm>
            <a:off x="640080" y="1234440"/>
            <a:ext cx="3657600" cy="411480"/>
          </a:xfrm>
          <a:prstGeom prst="rect">
            <a:avLst/>
          </a:prstGeom>
          <a:noFill/>
          <a:ln/>
        </p:spPr>
        <p:txBody>
          <a:bodyPr wrap="square" lIns="0" tIns="0" rIns="0" bIns="0" rtlCol="0" anchor="ctr"/>
          <a:lstStyle/>
          <a:p>
            <a:pPr algn="ctr" indent="0" marL="0">
              <a:buNone/>
            </a:pPr>
            <a:r>
              <a:rPr lang="en-US" sz="1400" b="1" dirty="0">
                <a:solidFill>
                  <a:schemeClr val="accent2"/>
                </a:solidFill>
              </a:rPr>
              <a:t>Self-hosted · permissionless</a:t>
            </a:r>
            <a:endParaRPr lang="en-US" sz="1400" dirty="0"/>
          </a:p>
        </p:txBody>
      </p:sp>
      <p:sp>
        <p:nvSpPr>
          <p:cNvPr id="6" name="Dashboard screenshot frame"/>
          <p:cNvSpPr/>
          <p:nvPr/>
        </p:nvSpPr>
        <p:spPr>
          <a:xfrm>
            <a:off x="6839712" y="1536192"/>
            <a:ext cx="4882896" cy="3099816"/>
          </a:xfrm>
          <a:prstGeom prst="roundRect">
            <a:avLst>
              <a:gd name="adj" fmla="val 2950"/>
            </a:avLst>
          </a:prstGeom>
          <a:solidFill>
            <a:srgbClr val="1C1C30"/>
          </a:solidFill>
          <a:ln w="15875">
            <a:solidFill>
              <a:srgbClr val="3A2A66"/>
            </a:solidFill>
            <a:prstDash val="solid"/>
          </a:ln>
          <a:effectLst>
            <a:outerShdw sx="100000" sy="100000" kx="0" ky="0" algn="bl" rotWithShape="0" blurRad="177800" dist="50800" dir="5400000">
              <a:srgbClr val="000000">
                <a:alpha val="55000"/>
              </a:srgbClr>
            </a:outerShdw>
          </a:effectLst>
        </p:spPr>
      </p:sp>
      <p:pic>
        <p:nvPicPr>
          <p:cNvPr id="7" name="Dashboard screenshot" descr="Dashboard screenshot">    </p:cNvPr>
          <p:cNvPicPr>
            <a:picLocks noChangeAspect="1"/>
          </p:cNvPicPr>
          <p:nvPr/>
        </p:nvPicPr>
        <p:blipFill>
          <a:blip r:embed="rId1"/>
          <a:stretch>
            <a:fillRect/>
          </a:stretch>
        </p:blipFill>
        <p:spPr>
          <a:xfrm>
            <a:off x="6903720" y="1600200"/>
            <a:ext cx="4754880" cy="2971800"/>
          </a:xfrm>
          <a:prstGeom prst="rect">
            <a:avLst/>
          </a:prstGeom>
        </p:spPr>
      </p:pic>
      <p:sp>
        <p:nvSpPr>
          <p:cNvPr id="8" name="caption"/>
          <p:cNvSpPr txBox="1"/>
          <p:nvPr/>
        </p:nvSpPr>
        <p:spPr>
          <a:xfrm>
            <a:off x="6903720" y="4800600"/>
            <a:ext cx="4754880" cy="320040"/>
          </a:xfrm>
          <a:prstGeom prst="rect">
            <a:avLst/>
          </a:prstGeom>
          <a:noFill/>
          <a:ln/>
        </p:spPr>
        <p:txBody>
          <a:bodyPr wrap="square" lIns="0" tIns="0" rIns="0" bIns="0" rtlCol="0" anchor="t"/>
          <a:lstStyle/>
          <a:p>
            <a:pPr algn="r" indent="0" marL="0">
              <a:buNone/>
            </a:pPr>
            <a:r>
              <a:rPr lang="en-US" sz="1200" dirty="0">
                <a:solidFill>
                  <a:schemeClr val="accent6"/>
                </a:solidFill>
              </a:rPr>
              <a:t>Live product · demo video inside</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64240" cy="685800"/>
          </a:xfrm>
          <a:prstGeom prst="rect">
            <a:avLst/>
          </a:prstGeom>
          <a:noFill/>
          <a:ln/>
        </p:spPr>
        <p:txBody>
          <a:bodyPr wrap="square" lIns="0" tIns="0" rIns="0" bIns="0" rtlCol="0" anchor="ctr"/>
          <a:lstStyle/>
          <a:p>
            <a:pPr algn="l" indent="0" marL="0">
              <a:buNone/>
            </a:pPr>
            <a:r>
              <a:rPr lang="en-US" sz="3600" b="1" dirty="0">
                <a:solidFill>
                  <a:schemeClr val="bg1"/>
                </a:solidFill>
              </a:rPr>
              <a:t>Money moves in seconds. Merchants wait days</a:t>
            </a:r>
            <a:endParaRPr lang="en-US" sz="3600" dirty="0"/>
          </a:p>
        </p:txBody>
      </p:sp>
      <p:sp>
        <p:nvSpPr>
          <p:cNvPr id="3" name="Text 0"/>
          <p:cNvSpPr/>
          <p:nvPr>
            <p:ph idx="101" type="body" hasCustomPrompt="1"/>
          </p:nvPr>
        </p:nvSpPr>
        <p:spPr>
          <a:xfrm>
            <a:off x="548640" y="1024128"/>
            <a:ext cx="11064240" cy="384048"/>
          </a:xfrm>
          <a:prstGeom prst="rect">
            <a:avLst/>
          </a:prstGeom>
          <a:noFill/>
          <a:ln/>
        </p:spPr>
        <p:txBody>
          <a:bodyPr wrap="square" lIns="0" tIns="0" rIns="0" bIns="0" rtlCol="0" anchor="t"/>
          <a:lstStyle/>
          <a:p>
            <a:pPr indent="0" marL="0">
              <a:buNone/>
            </a:pPr>
            <a:r>
              <a:rPr lang="en-US" sz="1600" dirty="0">
                <a:solidFill>
                  <a:schemeClr val="accent6"/>
                </a:solidFill>
              </a:rPr>
              <a:t>Settlement, cost and control are still broken for global merchants</a:t>
            </a:r>
            <a:endParaRPr lang="en-US" sz="1600" dirty="0"/>
          </a:p>
        </p:txBody>
      </p:sp>
      <p:sp>
        <p:nvSpPr>
          <p:cNvPr id="5" name="problem card 1"/>
          <p:cNvSpPr/>
          <p:nvPr/>
        </p:nvSpPr>
        <p:spPr>
          <a:xfrm>
            <a:off x="548640" y="1783080"/>
            <a:ext cx="3520440" cy="4160520"/>
          </a:xfrm>
          <a:prstGeom prst="roundRect">
            <a:avLst>
              <a:gd name="adj" fmla="val 3117"/>
            </a:avLst>
          </a:prstGeom>
          <a:solidFill>
            <a:schemeClr val="tx2"/>
          </a:solidFill>
          <a:ln w="12700">
            <a:solidFill>
              <a:srgbClr val="2A2A44"/>
            </a:solidFill>
            <a:prstDash val="solid"/>
          </a:ln>
        </p:spPr>
      </p:sp>
      <p:pic>
        <p:nvPicPr>
          <p:cNvPr id="6" name="icon FiClock" descr="preencoded.png">    </p:cNvPr>
          <p:cNvPicPr>
            <a:picLocks noChangeAspect="1"/>
          </p:cNvPicPr>
          <p:nvPr/>
        </p:nvPicPr>
        <p:blipFill>
          <a:blip r:embed="rId1"/>
          <a:stretch>
            <a:fillRect/>
          </a:stretch>
        </p:blipFill>
        <p:spPr>
          <a:xfrm>
            <a:off x="868680" y="2103120"/>
            <a:ext cx="685800" cy="685800"/>
          </a:xfrm>
          <a:prstGeom prst="rect">
            <a:avLst/>
          </a:prstGeom>
        </p:spPr>
      </p:pic>
      <p:sp>
        <p:nvSpPr>
          <p:cNvPr id="7" name="Text 3"/>
          <p:cNvSpPr txBox="1"/>
          <p:nvPr/>
        </p:nvSpPr>
        <p:spPr>
          <a:xfrm>
            <a:off x="868680" y="3017520"/>
            <a:ext cx="2880360" cy="457200"/>
          </a:xfrm>
          <a:prstGeom prst="rect">
            <a:avLst/>
          </a:prstGeom>
          <a:noFill/>
          <a:ln/>
        </p:spPr>
        <p:txBody>
          <a:bodyPr wrap="square" lIns="0" tIns="0" rIns="0" bIns="0" rtlCol="0" anchor="t"/>
          <a:lstStyle/>
          <a:p>
            <a:pPr indent="0" marL="0">
              <a:buNone/>
            </a:pPr>
            <a:r>
              <a:rPr lang="en-US" sz="2200" b="1" dirty="0">
                <a:solidFill>
                  <a:schemeClr val="bg1"/>
                </a:solidFill>
                <a:latin typeface="Arial" pitchFamily="34" charset="0"/>
                <a:ea typeface="Arial" pitchFamily="34" charset="-122"/>
                <a:cs typeface="Arial" pitchFamily="34" charset="-120"/>
              </a:rPr>
              <a:t>Slow settlement</a:t>
            </a:r>
            <a:endParaRPr lang="en-US" sz="2200" dirty="0"/>
          </a:p>
        </p:txBody>
      </p:sp>
      <p:sp>
        <p:nvSpPr>
          <p:cNvPr id="8" name="Text 4"/>
          <p:cNvSpPr txBox="1"/>
          <p:nvPr/>
        </p:nvSpPr>
        <p:spPr>
          <a:xfrm>
            <a:off x="868680" y="3566160"/>
            <a:ext cx="2880360" cy="2103120"/>
          </a:xfrm>
          <a:prstGeom prst="rect">
            <a:avLst/>
          </a:prstGeom>
          <a:noFill/>
          <a:ln/>
        </p:spPr>
        <p:txBody>
          <a:bodyPr wrap="square" lIns="0" tIns="0" rIns="0" bIns="0" rtlCol="0" anchor="t"/>
          <a:lstStyle/>
          <a:p>
            <a:pPr indent="0" marL="0">
              <a:buNone/>
            </a:pPr>
            <a:r>
              <a:rPr lang="en-US" sz="1600" dirty="0">
                <a:solidFill>
                  <a:schemeClr val="accent6"/>
                </a:solidFill>
              </a:rPr>
              <a:t>Bank rails settle T+1 to T+3, with weekend and holiday cut-offs. Working capital is stuck in transit.</a:t>
            </a:r>
            <a:endParaRPr lang="en-US" sz="1600" dirty="0"/>
          </a:p>
        </p:txBody>
      </p:sp>
      <p:sp>
        <p:nvSpPr>
          <p:cNvPr id="9" name="problem card 2"/>
          <p:cNvSpPr/>
          <p:nvPr/>
        </p:nvSpPr>
        <p:spPr>
          <a:xfrm>
            <a:off x="4343400" y="1783080"/>
            <a:ext cx="3520440" cy="4160520"/>
          </a:xfrm>
          <a:prstGeom prst="roundRect">
            <a:avLst>
              <a:gd name="adj" fmla="val 3117"/>
            </a:avLst>
          </a:prstGeom>
          <a:solidFill>
            <a:schemeClr val="tx2"/>
          </a:solidFill>
          <a:ln w="12700">
            <a:solidFill>
              <a:srgbClr val="2A2A44"/>
            </a:solidFill>
            <a:prstDash val="solid"/>
          </a:ln>
        </p:spPr>
      </p:sp>
      <p:pic>
        <p:nvPicPr>
          <p:cNvPr id="10" name="icon FiGlobe" descr="preencoded.png">    </p:cNvPr>
          <p:cNvPicPr>
            <a:picLocks noChangeAspect="1"/>
          </p:cNvPicPr>
          <p:nvPr/>
        </p:nvPicPr>
        <p:blipFill>
          <a:blip r:embed="rId2"/>
          <a:stretch>
            <a:fillRect/>
          </a:stretch>
        </p:blipFill>
        <p:spPr>
          <a:xfrm>
            <a:off x="4663440" y="2103120"/>
            <a:ext cx="685800" cy="685800"/>
          </a:xfrm>
          <a:prstGeom prst="rect">
            <a:avLst/>
          </a:prstGeom>
        </p:spPr>
      </p:pic>
      <p:sp>
        <p:nvSpPr>
          <p:cNvPr id="11" name="Text 6"/>
          <p:cNvSpPr txBox="1"/>
          <p:nvPr/>
        </p:nvSpPr>
        <p:spPr>
          <a:xfrm>
            <a:off x="4663440" y="3017520"/>
            <a:ext cx="2880360" cy="457200"/>
          </a:xfrm>
          <a:prstGeom prst="rect">
            <a:avLst/>
          </a:prstGeom>
          <a:noFill/>
          <a:ln/>
        </p:spPr>
        <p:txBody>
          <a:bodyPr wrap="square" lIns="0" tIns="0" rIns="0" bIns="0" rtlCol="0" anchor="t"/>
          <a:lstStyle/>
          <a:p>
            <a:pPr indent="0" marL="0">
              <a:buNone/>
            </a:pPr>
            <a:r>
              <a:rPr lang="en-US" sz="2200" b="1" dirty="0">
                <a:solidFill>
                  <a:schemeClr val="bg1"/>
                </a:solidFill>
                <a:latin typeface="Arial" pitchFamily="34" charset="0"/>
                <a:ea typeface="Arial" pitchFamily="34" charset="-122"/>
                <a:cs typeface="Arial" pitchFamily="34" charset="-120"/>
              </a:rPr>
              <a:t>Costly cross-border</a:t>
            </a:r>
            <a:endParaRPr lang="en-US" sz="2200" dirty="0"/>
          </a:p>
        </p:txBody>
      </p:sp>
      <p:sp>
        <p:nvSpPr>
          <p:cNvPr id="12" name="Text 7"/>
          <p:cNvSpPr txBox="1"/>
          <p:nvPr/>
        </p:nvSpPr>
        <p:spPr>
          <a:xfrm>
            <a:off x="4663440" y="3566160"/>
            <a:ext cx="2880360" cy="2103120"/>
          </a:xfrm>
          <a:prstGeom prst="rect">
            <a:avLst/>
          </a:prstGeom>
          <a:noFill/>
          <a:ln/>
        </p:spPr>
        <p:txBody>
          <a:bodyPr wrap="square" lIns="0" tIns="0" rIns="0" bIns="0" rtlCol="0" anchor="t"/>
          <a:lstStyle/>
          <a:p>
            <a:pPr indent="0" marL="0">
              <a:buNone/>
            </a:pPr>
            <a:r>
              <a:rPr lang="en-US" sz="1600" dirty="0">
                <a:solidFill>
                  <a:schemeClr val="accent6"/>
                </a:solidFill>
              </a:rPr>
              <a:t>FX spreads, correspondent and wire fees stack up, and high-risk or emerging-market merchants pay the most.</a:t>
            </a:r>
            <a:endParaRPr lang="en-US" sz="1600" dirty="0"/>
          </a:p>
        </p:txBody>
      </p:sp>
      <p:sp>
        <p:nvSpPr>
          <p:cNvPr id="13" name="problem card 3"/>
          <p:cNvSpPr/>
          <p:nvPr/>
        </p:nvSpPr>
        <p:spPr>
          <a:xfrm>
            <a:off x="8138160" y="1783080"/>
            <a:ext cx="3520440" cy="4160520"/>
          </a:xfrm>
          <a:prstGeom prst="roundRect">
            <a:avLst>
              <a:gd name="adj" fmla="val 3117"/>
            </a:avLst>
          </a:prstGeom>
          <a:solidFill>
            <a:schemeClr val="tx2"/>
          </a:solidFill>
          <a:ln w="12700">
            <a:solidFill>
              <a:srgbClr val="2A2A44"/>
            </a:solidFill>
            <a:prstDash val="solid"/>
          </a:ln>
        </p:spPr>
      </p:sp>
      <p:pic>
        <p:nvPicPr>
          <p:cNvPr id="14" name="icon FiLock" descr="preencoded.png">    </p:cNvPr>
          <p:cNvPicPr>
            <a:picLocks noChangeAspect="1"/>
          </p:cNvPicPr>
          <p:nvPr/>
        </p:nvPicPr>
        <p:blipFill>
          <a:blip r:embed="rId3"/>
          <a:stretch>
            <a:fillRect/>
          </a:stretch>
        </p:blipFill>
        <p:spPr>
          <a:xfrm>
            <a:off x="8458200" y="2103120"/>
            <a:ext cx="685800" cy="685800"/>
          </a:xfrm>
          <a:prstGeom prst="rect">
            <a:avLst/>
          </a:prstGeom>
        </p:spPr>
      </p:pic>
      <p:sp>
        <p:nvSpPr>
          <p:cNvPr id="15" name="Text 9"/>
          <p:cNvSpPr txBox="1"/>
          <p:nvPr/>
        </p:nvSpPr>
        <p:spPr>
          <a:xfrm>
            <a:off x="8458200" y="3017520"/>
            <a:ext cx="2880360" cy="457200"/>
          </a:xfrm>
          <a:prstGeom prst="rect">
            <a:avLst/>
          </a:prstGeom>
          <a:noFill/>
          <a:ln/>
        </p:spPr>
        <p:txBody>
          <a:bodyPr wrap="square" lIns="0" tIns="0" rIns="0" bIns="0" rtlCol="0" anchor="t"/>
          <a:lstStyle/>
          <a:p>
            <a:pPr indent="0" marL="0">
              <a:buNone/>
            </a:pPr>
            <a:r>
              <a:rPr lang="en-US" sz="2200" b="1" dirty="0">
                <a:solidFill>
                  <a:schemeClr val="bg1"/>
                </a:solidFill>
                <a:latin typeface="Arial" pitchFamily="34" charset="0"/>
                <a:ea typeface="Arial" pitchFamily="34" charset="-122"/>
                <a:cs typeface="Arial" pitchFamily="34" charset="-120"/>
              </a:rPr>
              <a:t>Rented infrastructure</a:t>
            </a:r>
            <a:endParaRPr lang="en-US" sz="2200" dirty="0"/>
          </a:p>
        </p:txBody>
      </p:sp>
      <p:sp>
        <p:nvSpPr>
          <p:cNvPr id="16" name="Text 10"/>
          <p:cNvSpPr txBox="1"/>
          <p:nvPr/>
        </p:nvSpPr>
        <p:spPr>
          <a:xfrm>
            <a:off x="8458200" y="3566160"/>
            <a:ext cx="2880360" cy="2103120"/>
          </a:xfrm>
          <a:prstGeom prst="rect">
            <a:avLst/>
          </a:prstGeom>
          <a:noFill/>
          <a:ln/>
        </p:spPr>
        <p:txBody>
          <a:bodyPr wrap="square" lIns="0" tIns="0" rIns="0" bIns="0" rtlCol="0" anchor="t"/>
          <a:lstStyle/>
          <a:p>
            <a:pPr indent="0" marL="0">
              <a:buNone/>
            </a:pPr>
            <a:r>
              <a:rPr lang="en-US" sz="1600" dirty="0">
                <a:solidFill>
                  <a:schemeClr val="accent6"/>
                </a:solidFill>
              </a:rPr>
              <a:t>Hosted gateways own your data, pricing and uptime. Crypto processors skip cards and UPI entirely.</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64240" cy="685800"/>
          </a:xfrm>
          <a:prstGeom prst="rect">
            <a:avLst/>
          </a:prstGeom>
          <a:noFill/>
          <a:ln/>
        </p:spPr>
        <p:txBody>
          <a:bodyPr wrap="square" lIns="0" tIns="0" rIns="0" bIns="0" rtlCol="0" anchor="ctr"/>
          <a:lstStyle/>
          <a:p>
            <a:pPr algn="l" indent="0" marL="0">
              <a:buNone/>
            </a:pPr>
            <a:r>
              <a:rPr lang="en-US" sz="3600" b="1" dirty="0">
                <a:solidFill>
                  <a:schemeClr val="bg1"/>
                </a:solidFill>
              </a:rPr>
              <a:t>KPay: one gateway, settled on Solana</a:t>
            </a:r>
            <a:endParaRPr lang="en-US" sz="3600" dirty="0"/>
          </a:p>
        </p:txBody>
      </p:sp>
      <p:sp>
        <p:nvSpPr>
          <p:cNvPr id="3" name="Text 0"/>
          <p:cNvSpPr/>
          <p:nvPr>
            <p:ph idx="101" type="body" hasCustomPrompt="1"/>
          </p:nvPr>
        </p:nvSpPr>
        <p:spPr>
          <a:xfrm>
            <a:off x="548640" y="1024128"/>
            <a:ext cx="11064240" cy="384048"/>
          </a:xfrm>
          <a:prstGeom prst="rect">
            <a:avLst/>
          </a:prstGeom>
          <a:noFill/>
          <a:ln/>
        </p:spPr>
        <p:txBody>
          <a:bodyPr wrap="square" lIns="0" tIns="0" rIns="0" bIns="0" rtlCol="0" anchor="t"/>
          <a:lstStyle/>
          <a:p>
            <a:pPr indent="0" marL="0">
              <a:buNone/>
            </a:pPr>
            <a:r>
              <a:rPr lang="en-US" sz="1600" dirty="0">
                <a:solidFill>
                  <a:schemeClr val="accent6"/>
                </a:solidFill>
              </a:rPr>
              <a:t>Accept every local method, account for every cent, settle in USDT within seconds</a:t>
            </a:r>
            <a:endParaRPr lang="en-US" sz="1600" dirty="0"/>
          </a:p>
        </p:txBody>
      </p:sp>
      <p:sp>
        <p:nvSpPr>
          <p:cNvPr id="5" name="solution statement"/>
          <p:cNvSpPr/>
          <p:nvPr/>
        </p:nvSpPr>
        <p:spPr>
          <a:xfrm>
            <a:off x="548640" y="1783080"/>
            <a:ext cx="4206240" cy="4160520"/>
          </a:xfrm>
          <a:prstGeom prst="roundRect">
            <a:avLst>
              <a:gd name="adj" fmla="val 2637"/>
            </a:avLst>
          </a:prstGeom>
          <a:solidFill>
            <a:srgbClr val="1A1230"/>
          </a:solidFill>
          <a:ln w="12700">
            <a:solidFill>
              <a:srgbClr val="4B2F8A"/>
            </a:solidFill>
            <a:prstDash val="solid"/>
          </a:ln>
        </p:spPr>
      </p:sp>
      <p:sp>
        <p:nvSpPr>
          <p:cNvPr id="6" name="Text 3"/>
          <p:cNvSpPr txBox="1"/>
          <p:nvPr/>
        </p:nvSpPr>
        <p:spPr>
          <a:xfrm>
            <a:off x="868680" y="2103120"/>
            <a:ext cx="3657600" cy="1828800"/>
          </a:xfrm>
          <a:prstGeom prst="rect">
            <a:avLst/>
          </a:prstGeom>
          <a:noFill/>
          <a:ln/>
        </p:spPr>
        <p:txBody>
          <a:bodyPr wrap="square" lIns="0" tIns="0" rIns="0" bIns="0" rtlCol="0" anchor="t"/>
          <a:lstStyle/>
          <a:p>
            <a:pPr indent="0" marL="0">
              <a:buNone/>
            </a:pPr>
            <a:r>
              <a:rPr lang="en-US" sz="3000" b="1" dirty="0">
                <a:solidFill>
                  <a:schemeClr val="bg1"/>
                </a:solidFill>
                <a:latin typeface="Arial" pitchFamily="34" charset="0"/>
                <a:ea typeface="Arial" pitchFamily="34" charset="-122"/>
                <a:cs typeface="Arial" pitchFamily="34" charset="-120"/>
              </a:rPr>
              <a:t>Fiat &amp; crypto in.</a:t>
            </a:r>
            <a:endParaRPr lang="en-US" sz="3000" dirty="0"/>
          </a:p>
          <a:p>
            <a:pPr indent="0" marL="0">
              <a:buNone/>
            </a:pPr>
            <a:r>
              <a:rPr lang="en-US" sz="3000" b="1" dirty="0">
                <a:solidFill>
                  <a:schemeClr val="accent2"/>
                </a:solidFill>
                <a:latin typeface="Arial" pitchFamily="34" charset="0"/>
                <a:ea typeface="Arial" pitchFamily="34" charset="-122"/>
                <a:cs typeface="Arial" pitchFamily="34" charset="-120"/>
              </a:rPr>
              <a:t>USDT out.</a:t>
            </a:r>
            <a:endParaRPr lang="en-US" sz="3000" dirty="0"/>
          </a:p>
          <a:p>
            <a:pPr indent="0" marL="0">
              <a:buNone/>
            </a:pPr>
            <a:r>
              <a:rPr lang="en-US" sz="3000" b="1" dirty="0">
                <a:solidFill>
                  <a:schemeClr val="accent3"/>
                </a:solidFill>
                <a:latin typeface="Arial" pitchFamily="34" charset="0"/>
                <a:ea typeface="Arial" pitchFamily="34" charset="-122"/>
                <a:cs typeface="Arial" pitchFamily="34" charset="-120"/>
              </a:rPr>
              <a:t>On your servers.</a:t>
            </a:r>
            <a:endParaRPr lang="en-US" sz="3000" dirty="0"/>
          </a:p>
        </p:txBody>
      </p:sp>
      <p:sp>
        <p:nvSpPr>
          <p:cNvPr id="7" name="Text 4"/>
          <p:cNvSpPr txBox="1"/>
          <p:nvPr/>
        </p:nvSpPr>
        <p:spPr>
          <a:xfrm>
            <a:off x="868680" y="4023360"/>
            <a:ext cx="3611880" cy="1737360"/>
          </a:xfrm>
          <a:prstGeom prst="rect">
            <a:avLst/>
          </a:prstGeom>
          <a:noFill/>
          <a:ln/>
        </p:spPr>
        <p:txBody>
          <a:bodyPr wrap="square" lIns="0" tIns="0" rIns="0" bIns="0" rtlCol="0" anchor="t"/>
          <a:lstStyle/>
          <a:p>
            <a:pPr indent="0" marL="0">
              <a:buNone/>
            </a:pPr>
            <a:r>
              <a:rPr lang="en-US" sz="1500" dirty="0">
                <a:solidFill>
                  <a:schemeClr val="bg2"/>
                </a:solidFill>
              </a:rPr>
              <a:t>Every payment method a merchant needs, converted at a locked oracle quote and paid out as USDT to the merchant’s own Solana wallet — no bank cut-off, no weekends.</a:t>
            </a:r>
            <a:endParaRPr lang="en-US" sz="1500" dirty="0"/>
          </a:p>
        </p:txBody>
      </p:sp>
      <p:pic>
        <p:nvPicPr>
          <p:cNvPr id="8" name="icon FiCreditCard" descr="preencoded.png">    </p:cNvPr>
          <p:cNvPicPr>
            <a:picLocks noChangeAspect="1"/>
          </p:cNvPicPr>
          <p:nvPr/>
        </p:nvPicPr>
        <p:blipFill>
          <a:blip r:embed="rId1"/>
          <a:stretch>
            <a:fillRect/>
          </a:stretch>
        </p:blipFill>
        <p:spPr>
          <a:xfrm>
            <a:off x="5166360" y="1783080"/>
            <a:ext cx="457200" cy="457200"/>
          </a:xfrm>
          <a:prstGeom prst="rect">
            <a:avLst/>
          </a:prstGeom>
        </p:spPr>
      </p:pic>
      <p:sp>
        <p:nvSpPr>
          <p:cNvPr id="9" name="row Accept"/>
          <p:cNvSpPr txBox="1"/>
          <p:nvPr/>
        </p:nvSpPr>
        <p:spPr>
          <a:xfrm>
            <a:off x="5806440" y="1746504"/>
            <a:ext cx="5806440" cy="777240"/>
          </a:xfrm>
          <a:prstGeom prst="rect">
            <a:avLst/>
          </a:prstGeom>
          <a:noFill/>
          <a:ln/>
        </p:spPr>
        <p:txBody>
          <a:bodyPr wrap="square" lIns="0" tIns="0" rIns="0" bIns="0" rtlCol="0" anchor="t"/>
          <a:lstStyle/>
          <a:p>
            <a:pPr indent="0" marL="0">
              <a:buNone/>
            </a:pPr>
            <a:r>
              <a:rPr lang="en-US" sz="1600" b="1" dirty="0">
                <a:solidFill>
                  <a:schemeClr val="bg1"/>
                </a:solidFill>
              </a:rPr>
              <a:t>Accept</a:t>
            </a:r>
            <a:endParaRPr lang="en-US" sz="1500" dirty="0"/>
          </a:p>
          <a:p>
            <a:pPr indent="0" marL="0">
              <a:buNone/>
            </a:pPr>
            <a:r>
              <a:rPr lang="en-US" sz="1400" dirty="0">
                <a:solidFill>
                  <a:schemeClr val="accent6"/>
                </a:solidFill>
              </a:rPr>
              <a:t>Cards, UPI, Solana Pay, and USDT on Tron, Ethereum, Polygon, BNB Chain</a:t>
            </a:r>
            <a:endParaRPr lang="en-US" sz="1500" dirty="0"/>
          </a:p>
        </p:txBody>
      </p:sp>
      <p:pic>
        <p:nvPicPr>
          <p:cNvPr id="10" name="icon FiShuffle" descr="preencoded.png">    </p:cNvPr>
          <p:cNvPicPr>
            <a:picLocks noChangeAspect="1"/>
          </p:cNvPicPr>
          <p:nvPr/>
        </p:nvPicPr>
        <p:blipFill>
          <a:blip r:embed="rId2"/>
          <a:stretch>
            <a:fillRect/>
          </a:stretch>
        </p:blipFill>
        <p:spPr>
          <a:xfrm>
            <a:off x="5166360" y="2651760"/>
            <a:ext cx="457200" cy="457200"/>
          </a:xfrm>
          <a:prstGeom prst="rect">
            <a:avLst/>
          </a:prstGeom>
        </p:spPr>
      </p:pic>
      <p:sp>
        <p:nvSpPr>
          <p:cNvPr id="11" name="row Merge"/>
          <p:cNvSpPr txBox="1"/>
          <p:nvPr/>
        </p:nvSpPr>
        <p:spPr>
          <a:xfrm>
            <a:off x="5806440" y="2615184"/>
            <a:ext cx="5806440" cy="777240"/>
          </a:xfrm>
          <a:prstGeom prst="rect">
            <a:avLst/>
          </a:prstGeom>
          <a:noFill/>
          <a:ln/>
        </p:spPr>
        <p:txBody>
          <a:bodyPr wrap="square" lIns="0" tIns="0" rIns="0" bIns="0" rtlCol="0" anchor="t"/>
          <a:lstStyle/>
          <a:p>
            <a:pPr indent="0" marL="0">
              <a:buNone/>
            </a:pPr>
            <a:r>
              <a:rPr lang="en-US" sz="1600" b="1" dirty="0">
                <a:solidFill>
                  <a:schemeClr val="bg1"/>
                </a:solidFill>
              </a:rPr>
              <a:t>Merge</a:t>
            </a:r>
            <a:endParaRPr lang="en-US" sz="1500" dirty="0"/>
          </a:p>
          <a:p>
            <a:pPr indent="0" marL="0">
              <a:buNone/>
            </a:pPr>
            <a:r>
              <a:rPr lang="en-US" sz="1400" dirty="0">
                <a:solidFill>
                  <a:schemeClr val="accent6"/>
                </a:solidFill>
              </a:rPr>
              <a:t>Other-chain USDT is swept and bridged straight into the Solana treasury</a:t>
            </a:r>
            <a:endParaRPr lang="en-US" sz="1500" dirty="0"/>
          </a:p>
        </p:txBody>
      </p:sp>
      <p:pic>
        <p:nvPicPr>
          <p:cNvPr id="12" name="icon FiBookOpen" descr="preencoded.png">    </p:cNvPr>
          <p:cNvPicPr>
            <a:picLocks noChangeAspect="1"/>
          </p:cNvPicPr>
          <p:nvPr/>
        </p:nvPicPr>
        <p:blipFill>
          <a:blip r:embed="rId3"/>
          <a:stretch>
            <a:fillRect/>
          </a:stretch>
        </p:blipFill>
        <p:spPr>
          <a:xfrm>
            <a:off x="5166360" y="3520440"/>
            <a:ext cx="457200" cy="457200"/>
          </a:xfrm>
          <a:prstGeom prst="rect">
            <a:avLst/>
          </a:prstGeom>
        </p:spPr>
      </p:pic>
      <p:sp>
        <p:nvSpPr>
          <p:cNvPr id="13" name="row Account"/>
          <p:cNvSpPr txBox="1"/>
          <p:nvPr/>
        </p:nvSpPr>
        <p:spPr>
          <a:xfrm>
            <a:off x="5806440" y="3483864"/>
            <a:ext cx="5806440" cy="777240"/>
          </a:xfrm>
          <a:prstGeom prst="rect">
            <a:avLst/>
          </a:prstGeom>
          <a:noFill/>
          <a:ln/>
        </p:spPr>
        <p:txBody>
          <a:bodyPr wrap="square" lIns="0" tIns="0" rIns="0" bIns="0" rtlCol="0" anchor="t"/>
          <a:lstStyle/>
          <a:p>
            <a:pPr indent="0" marL="0">
              <a:buNone/>
            </a:pPr>
            <a:r>
              <a:rPr lang="en-US" sz="1600" b="1" dirty="0">
                <a:solidFill>
                  <a:schemeClr val="bg1"/>
                </a:solidFill>
              </a:rPr>
              <a:t>Account</a:t>
            </a:r>
            <a:endParaRPr lang="en-US" sz="1500" dirty="0"/>
          </a:p>
          <a:p>
            <a:pPr indent="0" marL="0">
              <a:buNone/>
            </a:pPr>
            <a:r>
              <a:rPr lang="en-US" sz="1400" dirty="0">
                <a:solidFill>
                  <a:schemeClr val="accent6"/>
                </a:solidFill>
              </a:rPr>
              <a:t>Append-only double-entry ledger, MDR + tax per rule, rolling reserve, FX buffer earned on conversion</a:t>
            </a:r>
            <a:endParaRPr lang="en-US" sz="1500" dirty="0"/>
          </a:p>
        </p:txBody>
      </p:sp>
      <p:pic>
        <p:nvPicPr>
          <p:cNvPr id="14" name="icon FiSend" descr="preencoded.png">    </p:cNvPr>
          <p:cNvPicPr>
            <a:picLocks noChangeAspect="1"/>
          </p:cNvPicPr>
          <p:nvPr/>
        </p:nvPicPr>
        <p:blipFill>
          <a:blip r:embed="rId4"/>
          <a:stretch>
            <a:fillRect/>
          </a:stretch>
        </p:blipFill>
        <p:spPr>
          <a:xfrm>
            <a:off x="5166360" y="4389120"/>
            <a:ext cx="457200" cy="457200"/>
          </a:xfrm>
          <a:prstGeom prst="rect">
            <a:avLst/>
          </a:prstGeom>
        </p:spPr>
      </p:pic>
      <p:sp>
        <p:nvSpPr>
          <p:cNvPr id="15" name="row Settle"/>
          <p:cNvSpPr txBox="1"/>
          <p:nvPr/>
        </p:nvSpPr>
        <p:spPr>
          <a:xfrm>
            <a:off x="5806440" y="4352544"/>
            <a:ext cx="5806440" cy="777240"/>
          </a:xfrm>
          <a:prstGeom prst="rect">
            <a:avLst/>
          </a:prstGeom>
          <a:noFill/>
          <a:ln/>
        </p:spPr>
        <p:txBody>
          <a:bodyPr wrap="square" lIns="0" tIns="0" rIns="0" bIns="0" rtlCol="0" anchor="t"/>
          <a:lstStyle/>
          <a:p>
            <a:pPr indent="0" marL="0">
              <a:buNone/>
            </a:pPr>
            <a:r>
              <a:rPr lang="en-US" sz="1600" b="1" dirty="0">
                <a:solidFill>
                  <a:schemeClr val="bg1"/>
                </a:solidFill>
              </a:rPr>
              <a:t>Settle</a:t>
            </a:r>
            <a:endParaRPr lang="en-US" sz="1500" dirty="0"/>
          </a:p>
          <a:p>
            <a:pPr indent="0" marL="0">
              <a:buNone/>
            </a:pPr>
            <a:r>
              <a:rPr lang="en-US" sz="1400" dirty="0">
                <a:solidFill>
                  <a:schemeClr val="accent6"/>
                </a:solidFill>
              </a:rPr>
              <a:t>USDT auto-settles to the merchant Solana wallet; approval only above threshold</a:t>
            </a:r>
            <a:endParaRPr lang="en-US" sz="1500" dirty="0"/>
          </a:p>
        </p:txBody>
      </p:sp>
      <p:pic>
        <p:nvPicPr>
          <p:cNvPr id="16" name="icon FiServer" descr="preencoded.png">    </p:cNvPr>
          <p:cNvPicPr>
            <a:picLocks noChangeAspect="1"/>
          </p:cNvPicPr>
          <p:nvPr/>
        </p:nvPicPr>
        <p:blipFill>
          <a:blip r:embed="rId5"/>
          <a:stretch>
            <a:fillRect/>
          </a:stretch>
        </p:blipFill>
        <p:spPr>
          <a:xfrm>
            <a:off x="5166360" y="5257800"/>
            <a:ext cx="457200" cy="457200"/>
          </a:xfrm>
          <a:prstGeom prst="rect">
            <a:avLst/>
          </a:prstGeom>
        </p:spPr>
      </p:pic>
      <p:sp>
        <p:nvSpPr>
          <p:cNvPr id="17" name="row Own it"/>
          <p:cNvSpPr txBox="1"/>
          <p:nvPr/>
        </p:nvSpPr>
        <p:spPr>
          <a:xfrm>
            <a:off x="5806440" y="5221224"/>
            <a:ext cx="5806440" cy="777240"/>
          </a:xfrm>
          <a:prstGeom prst="rect">
            <a:avLst/>
          </a:prstGeom>
          <a:noFill/>
          <a:ln/>
        </p:spPr>
        <p:txBody>
          <a:bodyPr wrap="square" lIns="0" tIns="0" rIns="0" bIns="0" rtlCol="0" anchor="t"/>
          <a:lstStyle/>
          <a:p>
            <a:pPr indent="0" marL="0">
              <a:buNone/>
            </a:pPr>
            <a:r>
              <a:rPr lang="en-US" sz="1600" b="1" dirty="0">
                <a:solidFill>
                  <a:schemeClr val="bg1"/>
                </a:solidFill>
              </a:rPr>
              <a:t>Own it</a:t>
            </a:r>
            <a:endParaRPr lang="en-US" sz="1500" dirty="0"/>
          </a:p>
          <a:p>
            <a:pPr indent="0" marL="0">
              <a:buNone/>
            </a:pPr>
            <a:r>
              <a:rPr lang="en-US" sz="1400" dirty="0">
                <a:solidFill>
                  <a:schemeClr val="accent6"/>
                </a:solidFill>
              </a:rPr>
              <a:t>Self-hosted in your VPC with your keys. Commercial licence, closed source</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64240" cy="685800"/>
          </a:xfrm>
          <a:prstGeom prst="rect">
            <a:avLst/>
          </a:prstGeom>
          <a:noFill/>
          <a:ln/>
        </p:spPr>
        <p:txBody>
          <a:bodyPr wrap="square" lIns="0" tIns="0" rIns="0" bIns="0" rtlCol="0" anchor="ctr"/>
          <a:lstStyle/>
          <a:p>
            <a:pPr algn="l" indent="0" marL="0">
              <a:buNone/>
            </a:pPr>
            <a:r>
              <a:rPr lang="en-US" sz="3600" b="1" dirty="0">
                <a:solidFill>
                  <a:schemeClr val="bg1"/>
                </a:solidFill>
              </a:rPr>
              <a:t>How KPay works, end to end</a:t>
            </a:r>
            <a:endParaRPr lang="en-US" sz="3600" dirty="0"/>
          </a:p>
        </p:txBody>
      </p:sp>
      <p:sp>
        <p:nvSpPr>
          <p:cNvPr id="3" name="Text 0"/>
          <p:cNvSpPr/>
          <p:nvPr>
            <p:ph idx="101" type="body" hasCustomPrompt="1"/>
          </p:nvPr>
        </p:nvSpPr>
        <p:spPr>
          <a:xfrm>
            <a:off x="548640" y="1024128"/>
            <a:ext cx="11064240" cy="384048"/>
          </a:xfrm>
          <a:prstGeom prst="rect">
            <a:avLst/>
          </a:prstGeom>
          <a:noFill/>
          <a:ln/>
        </p:spPr>
        <p:txBody>
          <a:bodyPr wrap="square" lIns="0" tIns="0" rIns="0" bIns="0" rtlCol="0" anchor="t"/>
          <a:lstStyle/>
          <a:p>
            <a:pPr indent="0" marL="0">
              <a:buNone/>
            </a:pPr>
            <a:r>
              <a:rPr lang="en-US" sz="1600" dirty="0">
                <a:solidFill>
                  <a:schemeClr val="accent6"/>
                </a:solidFill>
              </a:rPr>
              <a:t>From any payer to a finalized USDT settlement in the merchant wallet</a:t>
            </a:r>
            <a:endParaRPr lang="en-US" sz="1600" dirty="0"/>
          </a:p>
        </p:txBody>
      </p:sp>
      <p:sp>
        <p:nvSpPr>
          <p:cNvPr id="5" name="Payers column"/>
          <p:cNvSpPr/>
          <p:nvPr/>
        </p:nvSpPr>
        <p:spPr>
          <a:xfrm>
            <a:off x="548640" y="1783080"/>
            <a:ext cx="2103120" cy="3794760"/>
          </a:xfrm>
          <a:prstGeom prst="roundRect">
            <a:avLst>
              <a:gd name="adj" fmla="val 5217"/>
            </a:avLst>
          </a:prstGeom>
          <a:solidFill>
            <a:schemeClr val="tx2"/>
          </a:solidFill>
          <a:ln w="12700">
            <a:solidFill>
              <a:srgbClr val="2A2A44"/>
            </a:solidFill>
            <a:prstDash val="solid"/>
          </a:ln>
        </p:spPr>
      </p:sp>
      <p:pic>
        <p:nvPicPr>
          <p:cNvPr id="6" name="icon FiUsers" descr="preencoded.png">    </p:cNvPr>
          <p:cNvPicPr>
            <a:picLocks noChangeAspect="1"/>
          </p:cNvPicPr>
          <p:nvPr/>
        </p:nvPicPr>
        <p:blipFill>
          <a:blip r:embed="rId1"/>
          <a:stretch>
            <a:fillRect/>
          </a:stretch>
        </p:blipFill>
        <p:spPr>
          <a:xfrm>
            <a:off x="731520" y="1938528"/>
            <a:ext cx="457200" cy="457200"/>
          </a:xfrm>
          <a:prstGeom prst="rect">
            <a:avLst/>
          </a:prstGeom>
        </p:spPr>
      </p:pic>
      <p:sp>
        <p:nvSpPr>
          <p:cNvPr id="7" name="Text 3"/>
          <p:cNvSpPr txBox="1"/>
          <p:nvPr/>
        </p:nvSpPr>
        <p:spPr>
          <a:xfrm>
            <a:off x="1234440" y="1993392"/>
            <a:ext cx="1371600" cy="365760"/>
          </a:xfrm>
          <a:prstGeom prst="rect">
            <a:avLst/>
          </a:prstGeom>
          <a:noFill/>
          <a:ln/>
        </p:spPr>
        <p:txBody>
          <a:bodyPr wrap="square" lIns="0" tIns="0" rIns="0" bIns="0" rtlCol="0" anchor="t"/>
          <a:lstStyle/>
          <a:p>
            <a:pPr indent="0" marL="0">
              <a:buNone/>
            </a:pPr>
            <a:r>
              <a:rPr lang="en-US" sz="1500" b="1" dirty="0">
                <a:solidFill>
                  <a:schemeClr val="bg1"/>
                </a:solidFill>
              </a:rPr>
              <a:t>Payers</a:t>
            </a:r>
            <a:endParaRPr lang="en-US" sz="1500" dirty="0"/>
          </a:p>
        </p:txBody>
      </p:sp>
      <p:sp>
        <p:nvSpPr>
          <p:cNvPr id="8" name="Payers item 0"/>
          <p:cNvSpPr/>
          <p:nvPr/>
        </p:nvSpPr>
        <p:spPr>
          <a:xfrm>
            <a:off x="731520" y="2606040"/>
            <a:ext cx="1737360" cy="548640"/>
          </a:xfrm>
          <a:prstGeom prst="roundRect">
            <a:avLst>
              <a:gd name="adj" fmla="val 13333"/>
            </a:avLst>
          </a:prstGeom>
          <a:solidFill>
            <a:srgbClr val="22223A"/>
          </a:solidFill>
          <a:ln w="12700">
            <a:solidFill>
              <a:srgbClr val="33334D"/>
            </a:solidFill>
            <a:prstDash val="solid"/>
          </a:ln>
        </p:spPr>
      </p:sp>
      <p:sp>
        <p:nvSpPr>
          <p:cNvPr id="9" name="Text 5"/>
          <p:cNvSpPr txBox="1"/>
          <p:nvPr/>
        </p:nvSpPr>
        <p:spPr>
          <a:xfrm>
            <a:off x="731520" y="2606040"/>
            <a:ext cx="1737360" cy="548640"/>
          </a:xfrm>
          <a:prstGeom prst="rect">
            <a:avLst/>
          </a:prstGeom>
          <a:noFill/>
          <a:ln/>
        </p:spPr>
        <p:txBody>
          <a:bodyPr wrap="square" lIns="0" tIns="0" rIns="0" bIns="0" rtlCol="0" anchor="ctr"/>
          <a:lstStyle/>
          <a:p>
            <a:pPr algn="ctr" indent="0" marL="0">
              <a:buNone/>
            </a:pPr>
            <a:r>
              <a:rPr lang="en-US" sz="1400" dirty="0">
                <a:solidFill>
                  <a:schemeClr val="bg1"/>
                </a:solidFill>
              </a:rPr>
              <a:t>Solana Pay</a:t>
            </a:r>
            <a:endParaRPr lang="en-US" sz="1400" dirty="0"/>
          </a:p>
        </p:txBody>
      </p:sp>
      <p:sp>
        <p:nvSpPr>
          <p:cNvPr id="10" name="Payers item 1"/>
          <p:cNvSpPr/>
          <p:nvPr/>
        </p:nvSpPr>
        <p:spPr>
          <a:xfrm>
            <a:off x="731520" y="3319272"/>
            <a:ext cx="1737360" cy="548640"/>
          </a:xfrm>
          <a:prstGeom prst="roundRect">
            <a:avLst>
              <a:gd name="adj" fmla="val 13333"/>
            </a:avLst>
          </a:prstGeom>
          <a:solidFill>
            <a:srgbClr val="22223A"/>
          </a:solidFill>
          <a:ln w="12700">
            <a:solidFill>
              <a:srgbClr val="33334D"/>
            </a:solidFill>
            <a:prstDash val="solid"/>
          </a:ln>
        </p:spPr>
      </p:sp>
      <p:sp>
        <p:nvSpPr>
          <p:cNvPr id="11" name="Text 7"/>
          <p:cNvSpPr txBox="1"/>
          <p:nvPr/>
        </p:nvSpPr>
        <p:spPr>
          <a:xfrm>
            <a:off x="731520" y="3319272"/>
            <a:ext cx="1737360" cy="548640"/>
          </a:xfrm>
          <a:prstGeom prst="rect">
            <a:avLst/>
          </a:prstGeom>
          <a:noFill/>
          <a:ln/>
        </p:spPr>
        <p:txBody>
          <a:bodyPr wrap="square" lIns="0" tIns="0" rIns="0" bIns="0" rtlCol="0" anchor="ctr"/>
          <a:lstStyle/>
          <a:p>
            <a:pPr algn="ctr" indent="0" marL="0">
              <a:buNone/>
            </a:pPr>
            <a:r>
              <a:rPr lang="en-US" sz="1400" dirty="0">
                <a:solidFill>
                  <a:schemeClr val="bg1"/>
                </a:solidFill>
              </a:rPr>
              <a:t>Tron · Ethereum</a:t>
            </a:r>
            <a:endParaRPr lang="en-US" sz="1400" dirty="0"/>
          </a:p>
        </p:txBody>
      </p:sp>
      <p:sp>
        <p:nvSpPr>
          <p:cNvPr id="12" name="Payers item 2"/>
          <p:cNvSpPr/>
          <p:nvPr/>
        </p:nvSpPr>
        <p:spPr>
          <a:xfrm>
            <a:off x="731520" y="4032504"/>
            <a:ext cx="1737360" cy="548640"/>
          </a:xfrm>
          <a:prstGeom prst="roundRect">
            <a:avLst>
              <a:gd name="adj" fmla="val 13333"/>
            </a:avLst>
          </a:prstGeom>
          <a:solidFill>
            <a:srgbClr val="22223A"/>
          </a:solidFill>
          <a:ln w="12700">
            <a:solidFill>
              <a:srgbClr val="33334D"/>
            </a:solidFill>
            <a:prstDash val="solid"/>
          </a:ln>
        </p:spPr>
      </p:sp>
      <p:sp>
        <p:nvSpPr>
          <p:cNvPr id="13" name="Text 9"/>
          <p:cNvSpPr txBox="1"/>
          <p:nvPr/>
        </p:nvSpPr>
        <p:spPr>
          <a:xfrm>
            <a:off x="731520" y="4032504"/>
            <a:ext cx="1737360" cy="548640"/>
          </a:xfrm>
          <a:prstGeom prst="rect">
            <a:avLst/>
          </a:prstGeom>
          <a:noFill/>
          <a:ln/>
        </p:spPr>
        <p:txBody>
          <a:bodyPr wrap="square" lIns="0" tIns="0" rIns="0" bIns="0" rtlCol="0" anchor="ctr"/>
          <a:lstStyle/>
          <a:p>
            <a:pPr algn="ctr" indent="0" marL="0">
              <a:buNone/>
            </a:pPr>
            <a:r>
              <a:rPr lang="en-US" sz="1400" dirty="0">
                <a:solidFill>
                  <a:schemeClr val="bg1"/>
                </a:solidFill>
              </a:rPr>
              <a:t>Polygon · BSC</a:t>
            </a:r>
            <a:endParaRPr lang="en-US" sz="1400" dirty="0"/>
          </a:p>
        </p:txBody>
      </p:sp>
      <p:sp>
        <p:nvSpPr>
          <p:cNvPr id="14" name="Payers item 3"/>
          <p:cNvSpPr/>
          <p:nvPr/>
        </p:nvSpPr>
        <p:spPr>
          <a:xfrm>
            <a:off x="731520" y="4745736"/>
            <a:ext cx="1737360" cy="548640"/>
          </a:xfrm>
          <a:prstGeom prst="roundRect">
            <a:avLst>
              <a:gd name="adj" fmla="val 13333"/>
            </a:avLst>
          </a:prstGeom>
          <a:solidFill>
            <a:srgbClr val="22223A"/>
          </a:solidFill>
          <a:ln w="12700">
            <a:solidFill>
              <a:srgbClr val="33334D"/>
            </a:solidFill>
            <a:prstDash val="solid"/>
          </a:ln>
        </p:spPr>
      </p:sp>
      <p:sp>
        <p:nvSpPr>
          <p:cNvPr id="15" name="Text 11"/>
          <p:cNvSpPr txBox="1"/>
          <p:nvPr/>
        </p:nvSpPr>
        <p:spPr>
          <a:xfrm>
            <a:off x="731520" y="4745736"/>
            <a:ext cx="1737360" cy="548640"/>
          </a:xfrm>
          <a:prstGeom prst="rect">
            <a:avLst/>
          </a:prstGeom>
          <a:noFill/>
          <a:ln/>
        </p:spPr>
        <p:txBody>
          <a:bodyPr wrap="square" lIns="0" tIns="0" rIns="0" bIns="0" rtlCol="0" anchor="ctr"/>
          <a:lstStyle/>
          <a:p>
            <a:pPr algn="ctr" indent="0" marL="0">
              <a:buNone/>
            </a:pPr>
            <a:r>
              <a:rPr lang="en-US" sz="1400" dirty="0">
                <a:solidFill>
                  <a:schemeClr val="bg1"/>
                </a:solidFill>
              </a:rPr>
              <a:t>Card · UPI</a:t>
            </a:r>
            <a:endParaRPr lang="en-US" sz="1400" dirty="0"/>
          </a:p>
        </p:txBody>
      </p:sp>
      <p:sp>
        <p:nvSpPr>
          <p:cNvPr id="16" name="Solana rail column"/>
          <p:cNvSpPr/>
          <p:nvPr/>
        </p:nvSpPr>
        <p:spPr>
          <a:xfrm>
            <a:off x="7315200" y="1783080"/>
            <a:ext cx="2057400" cy="3794760"/>
          </a:xfrm>
          <a:prstGeom prst="roundRect">
            <a:avLst>
              <a:gd name="adj" fmla="val 5333"/>
            </a:avLst>
          </a:prstGeom>
          <a:solidFill>
            <a:schemeClr val="tx2"/>
          </a:solidFill>
          <a:ln w="12700">
            <a:solidFill>
              <a:srgbClr val="2A2A44"/>
            </a:solidFill>
            <a:prstDash val="solid"/>
          </a:ln>
        </p:spPr>
      </p:sp>
      <p:pic>
        <p:nvPicPr>
          <p:cNvPr id="17" name="icon FiZap" descr="preencoded.png">    </p:cNvPr>
          <p:cNvPicPr>
            <a:picLocks noChangeAspect="1"/>
          </p:cNvPicPr>
          <p:nvPr/>
        </p:nvPicPr>
        <p:blipFill>
          <a:blip r:embed="rId2"/>
          <a:stretch>
            <a:fillRect/>
          </a:stretch>
        </p:blipFill>
        <p:spPr>
          <a:xfrm>
            <a:off x="7498080" y="1938528"/>
            <a:ext cx="457200" cy="457200"/>
          </a:xfrm>
          <a:prstGeom prst="rect">
            <a:avLst/>
          </a:prstGeom>
        </p:spPr>
      </p:pic>
      <p:sp>
        <p:nvSpPr>
          <p:cNvPr id="18" name="Text 13"/>
          <p:cNvSpPr txBox="1"/>
          <p:nvPr/>
        </p:nvSpPr>
        <p:spPr>
          <a:xfrm>
            <a:off x="8001000" y="1993392"/>
            <a:ext cx="1325880" cy="365760"/>
          </a:xfrm>
          <a:prstGeom prst="rect">
            <a:avLst/>
          </a:prstGeom>
          <a:noFill/>
          <a:ln/>
        </p:spPr>
        <p:txBody>
          <a:bodyPr wrap="square" lIns="0" tIns="0" rIns="0" bIns="0" rtlCol="0" anchor="t"/>
          <a:lstStyle/>
          <a:p>
            <a:pPr indent="0" marL="0">
              <a:buNone/>
            </a:pPr>
            <a:r>
              <a:rPr lang="en-US" sz="1500" b="1" dirty="0">
                <a:solidFill>
                  <a:schemeClr val="bg1"/>
                </a:solidFill>
              </a:rPr>
              <a:t>Solana rail</a:t>
            </a:r>
            <a:endParaRPr lang="en-US" sz="1500" dirty="0"/>
          </a:p>
        </p:txBody>
      </p:sp>
      <p:sp>
        <p:nvSpPr>
          <p:cNvPr id="19" name="Solana rail item 0"/>
          <p:cNvSpPr/>
          <p:nvPr/>
        </p:nvSpPr>
        <p:spPr>
          <a:xfrm>
            <a:off x="7498080" y="2606040"/>
            <a:ext cx="1691640" cy="548640"/>
          </a:xfrm>
          <a:prstGeom prst="roundRect">
            <a:avLst>
              <a:gd name="adj" fmla="val 13333"/>
            </a:avLst>
          </a:prstGeom>
          <a:solidFill>
            <a:srgbClr val="22223A"/>
          </a:solidFill>
          <a:ln w="12700">
            <a:solidFill>
              <a:srgbClr val="33334D"/>
            </a:solidFill>
            <a:prstDash val="solid"/>
          </a:ln>
        </p:spPr>
      </p:sp>
      <p:sp>
        <p:nvSpPr>
          <p:cNvPr id="20" name="Text 15"/>
          <p:cNvSpPr txBox="1"/>
          <p:nvPr/>
        </p:nvSpPr>
        <p:spPr>
          <a:xfrm>
            <a:off x="7498080" y="2606040"/>
            <a:ext cx="1691640" cy="548640"/>
          </a:xfrm>
          <a:prstGeom prst="rect">
            <a:avLst/>
          </a:prstGeom>
          <a:noFill/>
          <a:ln/>
        </p:spPr>
        <p:txBody>
          <a:bodyPr wrap="square" lIns="0" tIns="0" rIns="0" bIns="0" rtlCol="0" anchor="ctr"/>
          <a:lstStyle/>
          <a:p>
            <a:pPr algn="ctr" indent="0" marL="0">
              <a:buNone/>
            </a:pPr>
            <a:r>
              <a:rPr lang="en-US" sz="1400" dirty="0">
                <a:solidFill>
                  <a:schemeClr val="bg1"/>
                </a:solidFill>
              </a:rPr>
              <a:t>USDT treasury</a:t>
            </a:r>
            <a:endParaRPr lang="en-US" sz="1400" dirty="0"/>
          </a:p>
        </p:txBody>
      </p:sp>
      <p:sp>
        <p:nvSpPr>
          <p:cNvPr id="21" name="Solana rail item 1"/>
          <p:cNvSpPr/>
          <p:nvPr/>
        </p:nvSpPr>
        <p:spPr>
          <a:xfrm>
            <a:off x="7498080" y="3319272"/>
            <a:ext cx="1691640" cy="548640"/>
          </a:xfrm>
          <a:prstGeom prst="roundRect">
            <a:avLst>
              <a:gd name="adj" fmla="val 13333"/>
            </a:avLst>
          </a:prstGeom>
          <a:solidFill>
            <a:srgbClr val="22223A"/>
          </a:solidFill>
          <a:ln w="12700">
            <a:solidFill>
              <a:srgbClr val="33334D"/>
            </a:solidFill>
            <a:prstDash val="solid"/>
          </a:ln>
        </p:spPr>
      </p:sp>
      <p:sp>
        <p:nvSpPr>
          <p:cNvPr id="22" name="Text 17"/>
          <p:cNvSpPr txBox="1"/>
          <p:nvPr/>
        </p:nvSpPr>
        <p:spPr>
          <a:xfrm>
            <a:off x="7498080" y="3319272"/>
            <a:ext cx="1691640" cy="548640"/>
          </a:xfrm>
          <a:prstGeom prst="rect">
            <a:avLst/>
          </a:prstGeom>
          <a:noFill/>
          <a:ln/>
        </p:spPr>
        <p:txBody>
          <a:bodyPr wrap="square" lIns="0" tIns="0" rIns="0" bIns="0" rtlCol="0" anchor="ctr"/>
          <a:lstStyle/>
          <a:p>
            <a:pPr algn="ctr" indent="0" marL="0">
              <a:buNone/>
            </a:pPr>
            <a:r>
              <a:rPr lang="en-US" sz="1400" dirty="0">
                <a:solidFill>
                  <a:schemeClr val="bg1"/>
                </a:solidFill>
              </a:rPr>
              <a:t>Auto-settle</a:t>
            </a:r>
            <a:endParaRPr lang="en-US" sz="1400" dirty="0"/>
          </a:p>
        </p:txBody>
      </p:sp>
      <p:sp>
        <p:nvSpPr>
          <p:cNvPr id="23" name="Solana rail item 2"/>
          <p:cNvSpPr/>
          <p:nvPr/>
        </p:nvSpPr>
        <p:spPr>
          <a:xfrm>
            <a:off x="7498080" y="4032504"/>
            <a:ext cx="1691640" cy="548640"/>
          </a:xfrm>
          <a:prstGeom prst="roundRect">
            <a:avLst>
              <a:gd name="adj" fmla="val 13333"/>
            </a:avLst>
          </a:prstGeom>
          <a:solidFill>
            <a:srgbClr val="22223A"/>
          </a:solidFill>
          <a:ln w="12700">
            <a:solidFill>
              <a:srgbClr val="33334D"/>
            </a:solidFill>
            <a:prstDash val="solid"/>
          </a:ln>
        </p:spPr>
      </p:sp>
      <p:sp>
        <p:nvSpPr>
          <p:cNvPr id="24" name="Text 19"/>
          <p:cNvSpPr txBox="1"/>
          <p:nvPr/>
        </p:nvSpPr>
        <p:spPr>
          <a:xfrm>
            <a:off x="7498080" y="4032504"/>
            <a:ext cx="1691640" cy="548640"/>
          </a:xfrm>
          <a:prstGeom prst="rect">
            <a:avLst/>
          </a:prstGeom>
          <a:noFill/>
          <a:ln/>
        </p:spPr>
        <p:txBody>
          <a:bodyPr wrap="square" lIns="0" tIns="0" rIns="0" bIns="0" rtlCol="0" anchor="ctr"/>
          <a:lstStyle/>
          <a:p>
            <a:pPr algn="ctr" indent="0" marL="0">
              <a:buNone/>
            </a:pPr>
            <a:r>
              <a:rPr lang="en-US" sz="1400" dirty="0">
                <a:solidFill>
                  <a:schemeClr val="bg1"/>
                </a:solidFill>
              </a:rPr>
              <a:t>Finalized</a:t>
            </a:r>
            <a:endParaRPr lang="en-US" sz="1400" dirty="0"/>
          </a:p>
        </p:txBody>
      </p:sp>
      <p:sp>
        <p:nvSpPr>
          <p:cNvPr id="25" name="Merchant column"/>
          <p:cNvSpPr/>
          <p:nvPr/>
        </p:nvSpPr>
        <p:spPr>
          <a:xfrm>
            <a:off x="9738360" y="1783080"/>
            <a:ext cx="1874520" cy="3794760"/>
          </a:xfrm>
          <a:prstGeom prst="roundRect">
            <a:avLst>
              <a:gd name="adj" fmla="val 5854"/>
            </a:avLst>
          </a:prstGeom>
          <a:solidFill>
            <a:schemeClr val="tx2"/>
          </a:solidFill>
          <a:ln w="12700">
            <a:solidFill>
              <a:srgbClr val="2A2A44"/>
            </a:solidFill>
            <a:prstDash val="solid"/>
          </a:ln>
        </p:spPr>
      </p:sp>
      <p:pic>
        <p:nvPicPr>
          <p:cNvPr id="26" name="icon FiBriefcase" descr="preencoded.png">    </p:cNvPr>
          <p:cNvPicPr>
            <a:picLocks noChangeAspect="1"/>
          </p:cNvPicPr>
          <p:nvPr/>
        </p:nvPicPr>
        <p:blipFill>
          <a:blip r:embed="rId3"/>
          <a:stretch>
            <a:fillRect/>
          </a:stretch>
        </p:blipFill>
        <p:spPr>
          <a:xfrm>
            <a:off x="9921240" y="1938528"/>
            <a:ext cx="457200" cy="457200"/>
          </a:xfrm>
          <a:prstGeom prst="rect">
            <a:avLst/>
          </a:prstGeom>
        </p:spPr>
      </p:pic>
      <p:sp>
        <p:nvSpPr>
          <p:cNvPr id="27" name="Text 21"/>
          <p:cNvSpPr txBox="1"/>
          <p:nvPr/>
        </p:nvSpPr>
        <p:spPr>
          <a:xfrm>
            <a:off x="10424160" y="1993392"/>
            <a:ext cx="1143000" cy="365760"/>
          </a:xfrm>
          <a:prstGeom prst="rect">
            <a:avLst/>
          </a:prstGeom>
          <a:noFill/>
          <a:ln/>
        </p:spPr>
        <p:txBody>
          <a:bodyPr wrap="square" lIns="0" tIns="0" rIns="0" bIns="0" rtlCol="0" anchor="t"/>
          <a:lstStyle/>
          <a:p>
            <a:pPr indent="0" marL="0">
              <a:buNone/>
            </a:pPr>
            <a:r>
              <a:rPr lang="en-US" sz="1500" b="1" dirty="0">
                <a:solidFill>
                  <a:schemeClr val="bg1"/>
                </a:solidFill>
              </a:rPr>
              <a:t>Merchant</a:t>
            </a:r>
            <a:endParaRPr lang="en-US" sz="1500" dirty="0"/>
          </a:p>
        </p:txBody>
      </p:sp>
      <p:sp>
        <p:nvSpPr>
          <p:cNvPr id="28" name="Merchant item 0"/>
          <p:cNvSpPr/>
          <p:nvPr/>
        </p:nvSpPr>
        <p:spPr>
          <a:xfrm>
            <a:off x="9921240" y="2606040"/>
            <a:ext cx="1508760" cy="548640"/>
          </a:xfrm>
          <a:prstGeom prst="roundRect">
            <a:avLst>
              <a:gd name="adj" fmla="val 13333"/>
            </a:avLst>
          </a:prstGeom>
          <a:solidFill>
            <a:srgbClr val="22223A"/>
          </a:solidFill>
          <a:ln w="12700">
            <a:solidFill>
              <a:srgbClr val="33334D"/>
            </a:solidFill>
            <a:prstDash val="solid"/>
          </a:ln>
        </p:spPr>
      </p:sp>
      <p:sp>
        <p:nvSpPr>
          <p:cNvPr id="29" name="Text 23"/>
          <p:cNvSpPr txBox="1"/>
          <p:nvPr/>
        </p:nvSpPr>
        <p:spPr>
          <a:xfrm>
            <a:off x="9921240" y="2606040"/>
            <a:ext cx="1508760" cy="548640"/>
          </a:xfrm>
          <a:prstGeom prst="rect">
            <a:avLst/>
          </a:prstGeom>
          <a:noFill/>
          <a:ln/>
        </p:spPr>
        <p:txBody>
          <a:bodyPr wrap="square" lIns="0" tIns="0" rIns="0" bIns="0" rtlCol="0" anchor="ctr"/>
          <a:lstStyle/>
          <a:p>
            <a:pPr algn="ctr" indent="0" marL="0">
              <a:buNone/>
            </a:pPr>
            <a:r>
              <a:rPr lang="en-US" sz="1400" dirty="0">
                <a:solidFill>
                  <a:schemeClr val="bg1"/>
                </a:solidFill>
              </a:rPr>
              <a:t>Own wallet</a:t>
            </a:r>
            <a:endParaRPr lang="en-US" sz="1400" dirty="0"/>
          </a:p>
        </p:txBody>
      </p:sp>
      <p:sp>
        <p:nvSpPr>
          <p:cNvPr id="30" name="Merchant item 1"/>
          <p:cNvSpPr/>
          <p:nvPr/>
        </p:nvSpPr>
        <p:spPr>
          <a:xfrm>
            <a:off x="9921240" y="3319272"/>
            <a:ext cx="1508760" cy="548640"/>
          </a:xfrm>
          <a:prstGeom prst="roundRect">
            <a:avLst>
              <a:gd name="adj" fmla="val 13333"/>
            </a:avLst>
          </a:prstGeom>
          <a:solidFill>
            <a:srgbClr val="22223A"/>
          </a:solidFill>
          <a:ln w="12700">
            <a:solidFill>
              <a:srgbClr val="33334D"/>
            </a:solidFill>
            <a:prstDash val="solid"/>
          </a:ln>
        </p:spPr>
      </p:sp>
      <p:sp>
        <p:nvSpPr>
          <p:cNvPr id="31" name="Text 25"/>
          <p:cNvSpPr txBox="1"/>
          <p:nvPr/>
        </p:nvSpPr>
        <p:spPr>
          <a:xfrm>
            <a:off x="9921240" y="3319272"/>
            <a:ext cx="1508760" cy="548640"/>
          </a:xfrm>
          <a:prstGeom prst="rect">
            <a:avLst/>
          </a:prstGeom>
          <a:noFill/>
          <a:ln/>
        </p:spPr>
        <p:txBody>
          <a:bodyPr wrap="square" lIns="0" tIns="0" rIns="0" bIns="0" rtlCol="0" anchor="ctr"/>
          <a:lstStyle/>
          <a:p>
            <a:pPr algn="ctr" indent="0" marL="0">
              <a:buNone/>
            </a:pPr>
            <a:r>
              <a:rPr lang="en-US" sz="1400" dirty="0">
                <a:solidFill>
                  <a:schemeClr val="bg1"/>
                </a:solidFill>
              </a:rPr>
              <a:t>Treasury</a:t>
            </a:r>
            <a:endParaRPr lang="en-US" sz="1400" dirty="0"/>
          </a:p>
        </p:txBody>
      </p:sp>
      <p:sp>
        <p:nvSpPr>
          <p:cNvPr id="32" name="Merchant item 2"/>
          <p:cNvSpPr/>
          <p:nvPr/>
        </p:nvSpPr>
        <p:spPr>
          <a:xfrm>
            <a:off x="9921240" y="4032504"/>
            <a:ext cx="1508760" cy="548640"/>
          </a:xfrm>
          <a:prstGeom prst="roundRect">
            <a:avLst>
              <a:gd name="adj" fmla="val 13333"/>
            </a:avLst>
          </a:prstGeom>
          <a:solidFill>
            <a:srgbClr val="22223A"/>
          </a:solidFill>
          <a:ln w="12700">
            <a:solidFill>
              <a:srgbClr val="33334D"/>
            </a:solidFill>
            <a:prstDash val="solid"/>
          </a:ln>
        </p:spPr>
      </p:sp>
      <p:sp>
        <p:nvSpPr>
          <p:cNvPr id="33" name="Text 27"/>
          <p:cNvSpPr txBox="1"/>
          <p:nvPr/>
        </p:nvSpPr>
        <p:spPr>
          <a:xfrm>
            <a:off x="9921240" y="4032504"/>
            <a:ext cx="1508760" cy="548640"/>
          </a:xfrm>
          <a:prstGeom prst="rect">
            <a:avLst/>
          </a:prstGeom>
          <a:noFill/>
          <a:ln/>
        </p:spPr>
        <p:txBody>
          <a:bodyPr wrap="square" lIns="0" tIns="0" rIns="0" bIns="0" rtlCol="0" anchor="ctr"/>
          <a:lstStyle/>
          <a:p>
            <a:pPr algn="ctr" indent="0" marL="0">
              <a:buNone/>
            </a:pPr>
            <a:r>
              <a:rPr lang="en-US" sz="1400" dirty="0">
                <a:solidFill>
                  <a:schemeClr val="bg1"/>
                </a:solidFill>
              </a:rPr>
              <a:t>Off-ramp</a:t>
            </a:r>
            <a:endParaRPr lang="en-US" sz="1400" dirty="0"/>
          </a:p>
        </p:txBody>
      </p:sp>
      <p:sp>
        <p:nvSpPr>
          <p:cNvPr id="34" name="KPay core"/>
          <p:cNvSpPr/>
          <p:nvPr/>
        </p:nvSpPr>
        <p:spPr>
          <a:xfrm>
            <a:off x="3017520" y="1783080"/>
            <a:ext cx="3931920" cy="3794760"/>
          </a:xfrm>
          <a:prstGeom prst="roundRect">
            <a:avLst>
              <a:gd name="adj" fmla="val 2892"/>
            </a:avLst>
          </a:prstGeom>
          <a:solidFill>
            <a:srgbClr val="1A1230"/>
          </a:solidFill>
          <a:ln w="19050">
            <a:solidFill>
              <a:srgbClr val="9945FF"/>
            </a:solidFill>
            <a:prstDash val="solid"/>
          </a:ln>
        </p:spPr>
      </p:sp>
      <p:pic>
        <p:nvPicPr>
          <p:cNvPr id="35" name="icon FiCpu" descr="preencoded.png">    </p:cNvPr>
          <p:cNvPicPr>
            <a:picLocks noChangeAspect="1"/>
          </p:cNvPicPr>
          <p:nvPr/>
        </p:nvPicPr>
        <p:blipFill>
          <a:blip r:embed="rId4"/>
          <a:stretch>
            <a:fillRect/>
          </a:stretch>
        </p:blipFill>
        <p:spPr>
          <a:xfrm>
            <a:off x="3200400" y="1938528"/>
            <a:ext cx="457200" cy="457200"/>
          </a:xfrm>
          <a:prstGeom prst="rect">
            <a:avLst/>
          </a:prstGeom>
        </p:spPr>
      </p:pic>
      <p:sp>
        <p:nvSpPr>
          <p:cNvPr id="36" name="Text 29"/>
          <p:cNvSpPr txBox="1"/>
          <p:nvPr/>
        </p:nvSpPr>
        <p:spPr>
          <a:xfrm>
            <a:off x="3749040" y="1993392"/>
            <a:ext cx="3017520" cy="365760"/>
          </a:xfrm>
          <a:prstGeom prst="rect">
            <a:avLst/>
          </a:prstGeom>
          <a:noFill/>
          <a:ln/>
        </p:spPr>
        <p:txBody>
          <a:bodyPr wrap="square" lIns="0" tIns="0" rIns="0" bIns="0" rtlCol="0" anchor="t"/>
          <a:lstStyle/>
          <a:p>
            <a:pPr indent="0" marL="0">
              <a:buNone/>
            </a:pPr>
            <a:r>
              <a:rPr lang="en-US" sz="1600" b="1" dirty="0">
                <a:solidFill>
                  <a:schemeClr val="bg1"/>
                </a:solidFill>
              </a:rPr>
              <a:t>KPay core</a:t>
            </a:r>
            <a:endParaRPr lang="en-US" sz="1600" dirty="0"/>
          </a:p>
        </p:txBody>
      </p:sp>
      <p:sp>
        <p:nvSpPr>
          <p:cNvPr id="37" name="core module 0"/>
          <p:cNvSpPr/>
          <p:nvPr/>
        </p:nvSpPr>
        <p:spPr>
          <a:xfrm>
            <a:off x="3200400" y="2606040"/>
            <a:ext cx="1737360" cy="731520"/>
          </a:xfrm>
          <a:prstGeom prst="roundRect">
            <a:avLst>
              <a:gd name="adj" fmla="val 10000"/>
            </a:avLst>
          </a:prstGeom>
          <a:solidFill>
            <a:srgbClr val="2A1D4D"/>
          </a:solidFill>
          <a:ln w="12700">
            <a:solidFill>
              <a:srgbClr val="5A3A9E"/>
            </a:solidFill>
            <a:prstDash val="solid"/>
          </a:ln>
        </p:spPr>
      </p:sp>
      <p:sp>
        <p:nvSpPr>
          <p:cNvPr id="38" name="Text 31"/>
          <p:cNvSpPr txBox="1"/>
          <p:nvPr/>
        </p:nvSpPr>
        <p:spPr>
          <a:xfrm>
            <a:off x="3200400" y="2606040"/>
            <a:ext cx="1737360" cy="731520"/>
          </a:xfrm>
          <a:prstGeom prst="rect">
            <a:avLst/>
          </a:prstGeom>
          <a:noFill/>
          <a:ln/>
        </p:spPr>
        <p:txBody>
          <a:bodyPr wrap="square" lIns="0" tIns="0" rIns="0" bIns="0" rtlCol="0" anchor="ctr"/>
          <a:lstStyle/>
          <a:p>
            <a:pPr algn="ctr" indent="0" marL="0">
              <a:buNone/>
            </a:pPr>
            <a:r>
              <a:rPr lang="en-US" sz="1400" b="1" dirty="0">
                <a:solidFill>
                  <a:schemeClr val="bg1"/>
                </a:solidFill>
              </a:rPr>
              <a:t>Routing + failover</a:t>
            </a:r>
            <a:endParaRPr lang="en-US" sz="1400" dirty="0"/>
          </a:p>
        </p:txBody>
      </p:sp>
      <p:sp>
        <p:nvSpPr>
          <p:cNvPr id="39" name="core module 1"/>
          <p:cNvSpPr/>
          <p:nvPr/>
        </p:nvSpPr>
        <p:spPr>
          <a:xfrm>
            <a:off x="5029200" y="2606040"/>
            <a:ext cx="1737360" cy="731520"/>
          </a:xfrm>
          <a:prstGeom prst="roundRect">
            <a:avLst>
              <a:gd name="adj" fmla="val 10000"/>
            </a:avLst>
          </a:prstGeom>
          <a:solidFill>
            <a:srgbClr val="2A1D4D"/>
          </a:solidFill>
          <a:ln w="12700">
            <a:solidFill>
              <a:srgbClr val="5A3A9E"/>
            </a:solidFill>
            <a:prstDash val="solid"/>
          </a:ln>
        </p:spPr>
      </p:sp>
      <p:sp>
        <p:nvSpPr>
          <p:cNvPr id="40" name="Text 33"/>
          <p:cNvSpPr txBox="1"/>
          <p:nvPr/>
        </p:nvSpPr>
        <p:spPr>
          <a:xfrm>
            <a:off x="5029200" y="2606040"/>
            <a:ext cx="1737360" cy="731520"/>
          </a:xfrm>
          <a:prstGeom prst="rect">
            <a:avLst/>
          </a:prstGeom>
          <a:noFill/>
          <a:ln/>
        </p:spPr>
        <p:txBody>
          <a:bodyPr wrap="square" lIns="0" tIns="0" rIns="0" bIns="0" rtlCol="0" anchor="ctr"/>
          <a:lstStyle/>
          <a:p>
            <a:pPr algn="ctr" indent="0" marL="0">
              <a:buNone/>
            </a:pPr>
            <a:r>
              <a:rPr lang="en-US" sz="1400" b="1" dirty="0">
                <a:solidFill>
                  <a:schemeClr val="bg1"/>
                </a:solidFill>
              </a:rPr>
              <a:t>Sweep + bridge</a:t>
            </a:r>
            <a:endParaRPr lang="en-US" sz="1400" dirty="0"/>
          </a:p>
        </p:txBody>
      </p:sp>
      <p:sp>
        <p:nvSpPr>
          <p:cNvPr id="41" name="core module 2"/>
          <p:cNvSpPr/>
          <p:nvPr/>
        </p:nvSpPr>
        <p:spPr>
          <a:xfrm>
            <a:off x="3200400" y="3520440"/>
            <a:ext cx="1737360" cy="731520"/>
          </a:xfrm>
          <a:prstGeom prst="roundRect">
            <a:avLst>
              <a:gd name="adj" fmla="val 10000"/>
            </a:avLst>
          </a:prstGeom>
          <a:solidFill>
            <a:srgbClr val="2A1D4D"/>
          </a:solidFill>
          <a:ln w="12700">
            <a:solidFill>
              <a:srgbClr val="5A3A9E"/>
            </a:solidFill>
            <a:prstDash val="solid"/>
          </a:ln>
        </p:spPr>
      </p:sp>
      <p:sp>
        <p:nvSpPr>
          <p:cNvPr id="42" name="Text 35"/>
          <p:cNvSpPr txBox="1"/>
          <p:nvPr/>
        </p:nvSpPr>
        <p:spPr>
          <a:xfrm>
            <a:off x="3200400" y="3520440"/>
            <a:ext cx="1737360" cy="731520"/>
          </a:xfrm>
          <a:prstGeom prst="rect">
            <a:avLst/>
          </a:prstGeom>
          <a:noFill/>
          <a:ln/>
        </p:spPr>
        <p:txBody>
          <a:bodyPr wrap="square" lIns="0" tIns="0" rIns="0" bIns="0" rtlCol="0" anchor="ctr"/>
          <a:lstStyle/>
          <a:p>
            <a:pPr algn="ctr" indent="0" marL="0">
              <a:buNone/>
            </a:pPr>
            <a:r>
              <a:rPr lang="en-US" sz="1400" b="1" dirty="0">
                <a:solidFill>
                  <a:schemeClr val="bg1"/>
                </a:solidFill>
              </a:rPr>
              <a:t>Double-entry ledger</a:t>
            </a:r>
            <a:endParaRPr lang="en-US" sz="1400" dirty="0"/>
          </a:p>
        </p:txBody>
      </p:sp>
      <p:sp>
        <p:nvSpPr>
          <p:cNvPr id="43" name="core module 3"/>
          <p:cNvSpPr/>
          <p:nvPr/>
        </p:nvSpPr>
        <p:spPr>
          <a:xfrm>
            <a:off x="5029200" y="3520440"/>
            <a:ext cx="1737360" cy="731520"/>
          </a:xfrm>
          <a:prstGeom prst="roundRect">
            <a:avLst>
              <a:gd name="adj" fmla="val 10000"/>
            </a:avLst>
          </a:prstGeom>
          <a:solidFill>
            <a:srgbClr val="2A1D4D"/>
          </a:solidFill>
          <a:ln w="12700">
            <a:solidFill>
              <a:srgbClr val="5A3A9E"/>
            </a:solidFill>
            <a:prstDash val="solid"/>
          </a:ln>
        </p:spPr>
      </p:sp>
      <p:sp>
        <p:nvSpPr>
          <p:cNvPr id="44" name="Text 37"/>
          <p:cNvSpPr txBox="1"/>
          <p:nvPr/>
        </p:nvSpPr>
        <p:spPr>
          <a:xfrm>
            <a:off x="5029200" y="3520440"/>
            <a:ext cx="1737360" cy="731520"/>
          </a:xfrm>
          <a:prstGeom prst="rect">
            <a:avLst/>
          </a:prstGeom>
          <a:noFill/>
          <a:ln/>
        </p:spPr>
        <p:txBody>
          <a:bodyPr wrap="square" lIns="0" tIns="0" rIns="0" bIns="0" rtlCol="0" anchor="ctr"/>
          <a:lstStyle/>
          <a:p>
            <a:pPr algn="ctr" indent="0" marL="0">
              <a:buNone/>
            </a:pPr>
            <a:r>
              <a:rPr lang="en-US" sz="1400" b="1" dirty="0">
                <a:solidFill>
                  <a:schemeClr val="bg1"/>
                </a:solidFill>
              </a:rPr>
              <a:t>Risk + rollout</a:t>
            </a:r>
            <a:endParaRPr lang="en-US" sz="1400" dirty="0"/>
          </a:p>
        </p:txBody>
      </p:sp>
      <p:sp>
        <p:nvSpPr>
          <p:cNvPr id="45" name="core module 4"/>
          <p:cNvSpPr/>
          <p:nvPr/>
        </p:nvSpPr>
        <p:spPr>
          <a:xfrm>
            <a:off x="3200400" y="4434840"/>
            <a:ext cx="1737360" cy="731520"/>
          </a:xfrm>
          <a:prstGeom prst="roundRect">
            <a:avLst>
              <a:gd name="adj" fmla="val 10000"/>
            </a:avLst>
          </a:prstGeom>
          <a:solidFill>
            <a:srgbClr val="2A1D4D"/>
          </a:solidFill>
          <a:ln w="12700">
            <a:solidFill>
              <a:srgbClr val="5A3A9E"/>
            </a:solidFill>
            <a:prstDash val="solid"/>
          </a:ln>
        </p:spPr>
      </p:sp>
      <p:sp>
        <p:nvSpPr>
          <p:cNvPr id="46" name="Text 39"/>
          <p:cNvSpPr txBox="1"/>
          <p:nvPr/>
        </p:nvSpPr>
        <p:spPr>
          <a:xfrm>
            <a:off x="3200400" y="4434840"/>
            <a:ext cx="1737360" cy="731520"/>
          </a:xfrm>
          <a:prstGeom prst="rect">
            <a:avLst/>
          </a:prstGeom>
          <a:noFill/>
          <a:ln/>
        </p:spPr>
        <p:txBody>
          <a:bodyPr wrap="square" lIns="0" tIns="0" rIns="0" bIns="0" rtlCol="0" anchor="ctr"/>
          <a:lstStyle/>
          <a:p>
            <a:pPr algn="ctr" indent="0" marL="0">
              <a:buNone/>
            </a:pPr>
            <a:r>
              <a:rPr lang="en-US" sz="1400" b="1" dirty="0">
                <a:solidFill>
                  <a:schemeClr val="bg1"/>
                </a:solidFill>
              </a:rPr>
              <a:t>Hosted checkout</a:t>
            </a:r>
            <a:endParaRPr lang="en-US" sz="1400" dirty="0"/>
          </a:p>
        </p:txBody>
      </p:sp>
      <p:sp>
        <p:nvSpPr>
          <p:cNvPr id="47" name="core module 5"/>
          <p:cNvSpPr/>
          <p:nvPr/>
        </p:nvSpPr>
        <p:spPr>
          <a:xfrm>
            <a:off x="5029200" y="4434840"/>
            <a:ext cx="1737360" cy="731520"/>
          </a:xfrm>
          <a:prstGeom prst="roundRect">
            <a:avLst>
              <a:gd name="adj" fmla="val 10000"/>
            </a:avLst>
          </a:prstGeom>
          <a:solidFill>
            <a:srgbClr val="2A1D4D"/>
          </a:solidFill>
          <a:ln w="12700">
            <a:solidFill>
              <a:srgbClr val="5A3A9E"/>
            </a:solidFill>
            <a:prstDash val="solid"/>
          </a:ln>
        </p:spPr>
      </p:sp>
      <p:sp>
        <p:nvSpPr>
          <p:cNvPr id="48" name="Text 41"/>
          <p:cNvSpPr txBox="1"/>
          <p:nvPr/>
        </p:nvSpPr>
        <p:spPr>
          <a:xfrm>
            <a:off x="5029200" y="4434840"/>
            <a:ext cx="1737360" cy="731520"/>
          </a:xfrm>
          <a:prstGeom prst="rect">
            <a:avLst/>
          </a:prstGeom>
          <a:noFill/>
          <a:ln/>
        </p:spPr>
        <p:txBody>
          <a:bodyPr wrap="square" lIns="0" tIns="0" rIns="0" bIns="0" rtlCol="0" anchor="ctr"/>
          <a:lstStyle/>
          <a:p>
            <a:pPr algn="ctr" indent="0" marL="0">
              <a:buNone/>
            </a:pPr>
            <a:r>
              <a:rPr lang="en-US" sz="1400" b="1" dirty="0">
                <a:solidFill>
                  <a:schemeClr val="bg1"/>
                </a:solidFill>
              </a:rPr>
              <a:t>API + webhooks</a:t>
            </a:r>
            <a:endParaRPr lang="en-US" sz="1400" dirty="0"/>
          </a:p>
        </p:txBody>
      </p:sp>
      <p:sp>
        <p:nvSpPr>
          <p:cNvPr id="49" name="flow arrow"/>
          <p:cNvSpPr/>
          <p:nvPr/>
        </p:nvSpPr>
        <p:spPr>
          <a:xfrm>
            <a:off x="2670048" y="3657600"/>
            <a:ext cx="329184" cy="0"/>
          </a:xfrm>
          <a:prstGeom prst="line">
            <a:avLst/>
          </a:prstGeom>
          <a:noFill/>
          <a:ln w="31750">
            <a:solidFill>
              <a:schemeClr val="accent2"/>
            </a:solidFill>
            <a:prstDash val="solid"/>
            <a:tailEnd type="triangle"/>
          </a:ln>
        </p:spPr>
      </p:sp>
      <p:sp>
        <p:nvSpPr>
          <p:cNvPr id="50" name="flow arrow"/>
          <p:cNvSpPr/>
          <p:nvPr/>
        </p:nvSpPr>
        <p:spPr>
          <a:xfrm>
            <a:off x="6967728" y="3657600"/>
            <a:ext cx="329184" cy="0"/>
          </a:xfrm>
          <a:prstGeom prst="line">
            <a:avLst/>
          </a:prstGeom>
          <a:noFill/>
          <a:ln w="31750">
            <a:solidFill>
              <a:schemeClr val="accent2"/>
            </a:solidFill>
            <a:prstDash val="solid"/>
            <a:tailEnd type="triangle"/>
          </a:ln>
        </p:spPr>
      </p:sp>
      <p:sp>
        <p:nvSpPr>
          <p:cNvPr id="51" name="flow arrow"/>
          <p:cNvSpPr/>
          <p:nvPr/>
        </p:nvSpPr>
        <p:spPr>
          <a:xfrm>
            <a:off x="9390888" y="3657600"/>
            <a:ext cx="329184" cy="0"/>
          </a:xfrm>
          <a:prstGeom prst="line">
            <a:avLst/>
          </a:prstGeom>
          <a:noFill/>
          <a:ln w="31750">
            <a:solidFill>
              <a:schemeClr val="accent2"/>
            </a:solidFill>
            <a:prstDash val="solid"/>
            <a:tailEnd type="triangle"/>
          </a:ln>
        </p:spPr>
      </p:sp>
      <p:sp>
        <p:nvSpPr>
          <p:cNvPr id="52" name="self-hosted band"/>
          <p:cNvSpPr/>
          <p:nvPr/>
        </p:nvSpPr>
        <p:spPr>
          <a:xfrm>
            <a:off x="548640" y="5760720"/>
            <a:ext cx="11064240" cy="457200"/>
          </a:xfrm>
          <a:prstGeom prst="roundRect">
            <a:avLst>
              <a:gd name="adj" fmla="val 20000"/>
            </a:avLst>
          </a:prstGeom>
          <a:solidFill>
            <a:schemeClr val="accent2">
              <a:alpha val="12000"/>
            </a:schemeClr>
          </a:solidFill>
          <a:ln w="12700">
            <a:solidFill>
              <a:schemeClr val="accent2"/>
            </a:solidFill>
            <a:prstDash val="solid"/>
          </a:ln>
        </p:spPr>
      </p:sp>
      <p:sp>
        <p:nvSpPr>
          <p:cNvPr id="53" name="Text 46"/>
          <p:cNvSpPr txBox="1"/>
          <p:nvPr/>
        </p:nvSpPr>
        <p:spPr>
          <a:xfrm>
            <a:off x="548640" y="5760720"/>
            <a:ext cx="11064240" cy="457200"/>
          </a:xfrm>
          <a:prstGeom prst="rect">
            <a:avLst/>
          </a:prstGeom>
          <a:noFill/>
          <a:ln/>
        </p:spPr>
        <p:txBody>
          <a:bodyPr wrap="square" lIns="0" tIns="0" rIns="0" bIns="0" rtlCol="0" anchor="ctr"/>
          <a:lstStyle/>
          <a:p>
            <a:pPr algn="ctr" indent="0" marL="0">
              <a:buNone/>
            </a:pPr>
            <a:r>
              <a:rPr lang="en-US" sz="1400" b="1" dirty="0">
                <a:solidFill>
                  <a:schemeClr val="accent2"/>
                </a:solidFill>
              </a:rPr>
              <a:t>Everything above runs in your VPC  ·  your keys (MPC / HSM)  ·  your data  ·  one licence</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64240" cy="685800"/>
          </a:xfrm>
          <a:prstGeom prst="rect">
            <a:avLst/>
          </a:prstGeom>
          <a:noFill/>
          <a:ln/>
        </p:spPr>
        <p:txBody>
          <a:bodyPr wrap="square" lIns="0" tIns="0" rIns="0" bIns="0" rtlCol="0" anchor="ctr"/>
          <a:lstStyle/>
          <a:p>
            <a:pPr algn="l" indent="0" marL="0">
              <a:buNone/>
            </a:pPr>
            <a:r>
              <a:rPr lang="en-US" sz="3600" b="1" dirty="0">
                <a:solidFill>
                  <a:schemeClr val="bg1"/>
                </a:solidFill>
              </a:rPr>
              <a:t>One install, four levels of use</a:t>
            </a:r>
            <a:endParaRPr lang="en-US" sz="3600" dirty="0"/>
          </a:p>
        </p:txBody>
      </p:sp>
      <p:sp>
        <p:nvSpPr>
          <p:cNvPr id="3" name="Text 0"/>
          <p:cNvSpPr/>
          <p:nvPr>
            <p:ph idx="101" type="body" hasCustomPrompt="1"/>
          </p:nvPr>
        </p:nvSpPr>
        <p:spPr>
          <a:xfrm>
            <a:off x="548640" y="1024128"/>
            <a:ext cx="11064240" cy="384048"/>
          </a:xfrm>
          <a:prstGeom prst="rect">
            <a:avLst/>
          </a:prstGeom>
          <a:noFill/>
          <a:ln/>
        </p:spPr>
        <p:txBody>
          <a:bodyPr wrap="square" lIns="0" tIns="0" rIns="0" bIns="0" rtlCol="0" anchor="t"/>
          <a:lstStyle/>
          <a:p>
            <a:pPr indent="0" marL="0">
              <a:buNone/>
            </a:pPr>
            <a:r>
              <a:rPr lang="en-US" sz="1600" dirty="0">
                <a:solidFill>
                  <a:schemeClr val="accent6"/>
                </a:solidFill>
              </a:rPr>
              <a:t>The same gateway scales from one brand to a regulated bank</a:t>
            </a:r>
            <a:endParaRPr lang="en-US" sz="1600" dirty="0"/>
          </a:p>
        </p:txBody>
      </p:sp>
      <p:sp>
        <p:nvSpPr>
          <p:cNvPr id="5" name="level 1"/>
          <p:cNvSpPr/>
          <p:nvPr/>
        </p:nvSpPr>
        <p:spPr>
          <a:xfrm>
            <a:off x="548640" y="3703320"/>
            <a:ext cx="2651760" cy="2377440"/>
          </a:xfrm>
          <a:prstGeom prst="roundRect">
            <a:avLst>
              <a:gd name="adj" fmla="val 4615"/>
            </a:avLst>
          </a:prstGeom>
          <a:solidFill>
            <a:srgbClr val="171728"/>
          </a:solidFill>
          <a:ln w="12700">
            <a:solidFill>
              <a:srgbClr val="2A2A44"/>
            </a:solidFill>
            <a:prstDash val="solid"/>
          </a:ln>
        </p:spPr>
      </p:sp>
      <p:pic>
        <p:nvPicPr>
          <p:cNvPr id="6" name="icon FiShoppingBag" descr="preencoded.png">    </p:cNvPr>
          <p:cNvPicPr>
            <a:picLocks noChangeAspect="1"/>
          </p:cNvPicPr>
          <p:nvPr/>
        </p:nvPicPr>
        <p:blipFill>
          <a:blip r:embed="rId1"/>
          <a:stretch>
            <a:fillRect/>
          </a:stretch>
        </p:blipFill>
        <p:spPr>
          <a:xfrm>
            <a:off x="777240" y="3931920"/>
            <a:ext cx="502920" cy="502920"/>
          </a:xfrm>
          <a:prstGeom prst="rect">
            <a:avLst/>
          </a:prstGeom>
        </p:spPr>
      </p:pic>
      <p:sp>
        <p:nvSpPr>
          <p:cNvPr id="7" name="Text 3"/>
          <p:cNvSpPr txBox="1"/>
          <p:nvPr/>
        </p:nvSpPr>
        <p:spPr>
          <a:xfrm>
            <a:off x="777240" y="4572000"/>
            <a:ext cx="2240280" cy="365760"/>
          </a:xfrm>
          <a:prstGeom prst="rect">
            <a:avLst/>
          </a:prstGeom>
          <a:noFill/>
          <a:ln/>
        </p:spPr>
        <p:txBody>
          <a:bodyPr wrap="square" lIns="0" tIns="0" rIns="0" bIns="0" rtlCol="0" anchor="t"/>
          <a:lstStyle/>
          <a:p>
            <a:pPr indent="0" marL="0">
              <a:buNone/>
            </a:pPr>
            <a:r>
              <a:rPr lang="en-US" sz="1800" b="1" dirty="0">
                <a:solidFill>
                  <a:schemeClr val="bg1"/>
                </a:solidFill>
              </a:rPr>
              <a:t>L1 · Merchant</a:t>
            </a:r>
            <a:endParaRPr lang="en-US" sz="1800" dirty="0"/>
          </a:p>
        </p:txBody>
      </p:sp>
      <p:sp>
        <p:nvSpPr>
          <p:cNvPr id="8" name="Text 4"/>
          <p:cNvSpPr txBox="1"/>
          <p:nvPr/>
        </p:nvSpPr>
        <p:spPr>
          <a:xfrm>
            <a:off x="777240" y="4983480"/>
            <a:ext cx="2240280" cy="548640"/>
          </a:xfrm>
          <a:prstGeom prst="rect">
            <a:avLst/>
          </a:prstGeom>
          <a:noFill/>
          <a:ln/>
        </p:spPr>
        <p:txBody>
          <a:bodyPr wrap="square" lIns="0" tIns="0" rIns="0" bIns="0" rtlCol="0" anchor="t"/>
          <a:lstStyle/>
          <a:p>
            <a:pPr indent="0" marL="0">
              <a:buNone/>
            </a:pPr>
            <a:r>
              <a:rPr lang="en-US" sz="1400" dirty="0">
                <a:solidFill>
                  <a:schemeClr val="bg2"/>
                </a:solidFill>
              </a:rPr>
              <a:t>One brand, own checkout</a:t>
            </a:r>
            <a:endParaRPr lang="en-US" sz="1400" dirty="0"/>
          </a:p>
        </p:txBody>
      </p:sp>
      <p:sp>
        <p:nvSpPr>
          <p:cNvPr id="9" name="Text 5"/>
          <p:cNvSpPr txBox="1"/>
          <p:nvPr/>
        </p:nvSpPr>
        <p:spPr>
          <a:xfrm>
            <a:off x="777240" y="5577840"/>
            <a:ext cx="2240280" cy="320040"/>
          </a:xfrm>
          <a:prstGeom prst="rect">
            <a:avLst/>
          </a:prstGeom>
          <a:noFill/>
          <a:ln/>
        </p:spPr>
        <p:txBody>
          <a:bodyPr wrap="square" lIns="0" tIns="0" rIns="0" bIns="0" rtlCol="0" anchor="t"/>
          <a:lstStyle/>
          <a:p>
            <a:pPr indent="0" marL="0">
              <a:buNone/>
            </a:pPr>
            <a:r>
              <a:rPr lang="en-US" sz="1400" b="1" dirty="0">
                <a:solidFill>
                  <a:schemeClr val="accent2"/>
                </a:solidFill>
              </a:rPr>
              <a:t>Links + API</a:t>
            </a:r>
            <a:endParaRPr lang="en-US" sz="1400" dirty="0"/>
          </a:p>
        </p:txBody>
      </p:sp>
      <p:sp>
        <p:nvSpPr>
          <p:cNvPr id="10" name="level 2"/>
          <p:cNvSpPr/>
          <p:nvPr/>
        </p:nvSpPr>
        <p:spPr>
          <a:xfrm>
            <a:off x="3383280" y="3108960"/>
            <a:ext cx="2651760" cy="2971800"/>
          </a:xfrm>
          <a:prstGeom prst="roundRect">
            <a:avLst>
              <a:gd name="adj" fmla="val 4138"/>
            </a:avLst>
          </a:prstGeom>
          <a:solidFill>
            <a:srgbClr val="171728"/>
          </a:solidFill>
          <a:ln w="12700">
            <a:solidFill>
              <a:srgbClr val="2A2A44"/>
            </a:solidFill>
            <a:prstDash val="solid"/>
          </a:ln>
        </p:spPr>
      </p:sp>
      <p:pic>
        <p:nvPicPr>
          <p:cNvPr id="11" name="icon FiGrid" descr="preencoded.png">    </p:cNvPr>
          <p:cNvPicPr>
            <a:picLocks noChangeAspect="1"/>
          </p:cNvPicPr>
          <p:nvPr/>
        </p:nvPicPr>
        <p:blipFill>
          <a:blip r:embed="rId2"/>
          <a:stretch>
            <a:fillRect/>
          </a:stretch>
        </p:blipFill>
        <p:spPr>
          <a:xfrm>
            <a:off x="3611880" y="3337560"/>
            <a:ext cx="502920" cy="502920"/>
          </a:xfrm>
          <a:prstGeom prst="rect">
            <a:avLst/>
          </a:prstGeom>
        </p:spPr>
      </p:pic>
      <p:sp>
        <p:nvSpPr>
          <p:cNvPr id="12" name="Text 7"/>
          <p:cNvSpPr txBox="1"/>
          <p:nvPr/>
        </p:nvSpPr>
        <p:spPr>
          <a:xfrm>
            <a:off x="3611880" y="3977640"/>
            <a:ext cx="2240280" cy="365760"/>
          </a:xfrm>
          <a:prstGeom prst="rect">
            <a:avLst/>
          </a:prstGeom>
          <a:noFill/>
          <a:ln/>
        </p:spPr>
        <p:txBody>
          <a:bodyPr wrap="square" lIns="0" tIns="0" rIns="0" bIns="0" rtlCol="0" anchor="t"/>
          <a:lstStyle/>
          <a:p>
            <a:pPr indent="0" marL="0">
              <a:buNone/>
            </a:pPr>
            <a:r>
              <a:rPr lang="en-US" sz="1800" b="1" dirty="0">
                <a:solidFill>
                  <a:schemeClr val="bg1"/>
                </a:solidFill>
              </a:rPr>
              <a:t>L2 · Platform</a:t>
            </a:r>
            <a:endParaRPr lang="en-US" sz="1800" dirty="0"/>
          </a:p>
        </p:txBody>
      </p:sp>
      <p:sp>
        <p:nvSpPr>
          <p:cNvPr id="13" name="Text 8"/>
          <p:cNvSpPr txBox="1"/>
          <p:nvPr/>
        </p:nvSpPr>
        <p:spPr>
          <a:xfrm>
            <a:off x="3611880" y="4389120"/>
            <a:ext cx="2240280" cy="548640"/>
          </a:xfrm>
          <a:prstGeom prst="rect">
            <a:avLst/>
          </a:prstGeom>
          <a:noFill/>
          <a:ln/>
        </p:spPr>
        <p:txBody>
          <a:bodyPr wrap="square" lIns="0" tIns="0" rIns="0" bIns="0" rtlCol="0" anchor="t"/>
          <a:lstStyle/>
          <a:p>
            <a:pPr indent="0" marL="0">
              <a:buNone/>
            </a:pPr>
            <a:r>
              <a:rPr lang="en-US" sz="1400" dirty="0">
                <a:solidFill>
                  <a:schemeClr val="bg2"/>
                </a:solidFill>
              </a:rPr>
              <a:t>Marketplace onboards sellers</a:t>
            </a:r>
            <a:endParaRPr lang="en-US" sz="1400" dirty="0"/>
          </a:p>
        </p:txBody>
      </p:sp>
      <p:sp>
        <p:nvSpPr>
          <p:cNvPr id="14" name="Text 9"/>
          <p:cNvSpPr txBox="1"/>
          <p:nvPr/>
        </p:nvSpPr>
        <p:spPr>
          <a:xfrm>
            <a:off x="3611880" y="5577840"/>
            <a:ext cx="2240280" cy="320040"/>
          </a:xfrm>
          <a:prstGeom prst="rect">
            <a:avLst/>
          </a:prstGeom>
          <a:noFill/>
          <a:ln/>
        </p:spPr>
        <p:txBody>
          <a:bodyPr wrap="square" lIns="0" tIns="0" rIns="0" bIns="0" rtlCol="0" anchor="t"/>
          <a:lstStyle/>
          <a:p>
            <a:pPr indent="0" marL="0">
              <a:buNone/>
            </a:pPr>
            <a:r>
              <a:rPr lang="en-US" sz="1400" b="1" dirty="0">
                <a:solidFill>
                  <a:schemeClr val="accent2"/>
                </a:solidFill>
              </a:rPr>
              <a:t>Onboarding + approval</a:t>
            </a:r>
            <a:endParaRPr lang="en-US" sz="1400" dirty="0"/>
          </a:p>
        </p:txBody>
      </p:sp>
      <p:sp>
        <p:nvSpPr>
          <p:cNvPr id="15" name="level 3"/>
          <p:cNvSpPr/>
          <p:nvPr/>
        </p:nvSpPr>
        <p:spPr>
          <a:xfrm>
            <a:off x="6217920" y="2514600"/>
            <a:ext cx="2651760" cy="3566160"/>
          </a:xfrm>
          <a:prstGeom prst="roundRect">
            <a:avLst>
              <a:gd name="adj" fmla="val 4138"/>
            </a:avLst>
          </a:prstGeom>
          <a:solidFill>
            <a:srgbClr val="171728"/>
          </a:solidFill>
          <a:ln w="12700">
            <a:solidFill>
              <a:srgbClr val="2A2A44"/>
            </a:solidFill>
            <a:prstDash val="solid"/>
          </a:ln>
        </p:spPr>
      </p:sp>
      <p:pic>
        <p:nvPicPr>
          <p:cNvPr id="16" name="icon FiLayers" descr="preencoded.png">    </p:cNvPr>
          <p:cNvPicPr>
            <a:picLocks noChangeAspect="1"/>
          </p:cNvPicPr>
          <p:nvPr/>
        </p:nvPicPr>
        <p:blipFill>
          <a:blip r:embed="rId3"/>
          <a:stretch>
            <a:fillRect/>
          </a:stretch>
        </p:blipFill>
        <p:spPr>
          <a:xfrm>
            <a:off x="6446520" y="2743200"/>
            <a:ext cx="502920" cy="502920"/>
          </a:xfrm>
          <a:prstGeom prst="rect">
            <a:avLst/>
          </a:prstGeom>
        </p:spPr>
      </p:pic>
      <p:sp>
        <p:nvSpPr>
          <p:cNvPr id="17" name="Text 11"/>
          <p:cNvSpPr txBox="1"/>
          <p:nvPr/>
        </p:nvSpPr>
        <p:spPr>
          <a:xfrm>
            <a:off x="6446520" y="3383280"/>
            <a:ext cx="2240280" cy="365760"/>
          </a:xfrm>
          <a:prstGeom prst="rect">
            <a:avLst/>
          </a:prstGeom>
          <a:noFill/>
          <a:ln/>
        </p:spPr>
        <p:txBody>
          <a:bodyPr wrap="square" lIns="0" tIns="0" rIns="0" bIns="0" rtlCol="0" anchor="t"/>
          <a:lstStyle/>
          <a:p>
            <a:pPr indent="0" marL="0">
              <a:buNone/>
            </a:pPr>
            <a:r>
              <a:rPr lang="en-US" sz="1800" b="1" dirty="0">
                <a:solidFill>
                  <a:schemeClr val="bg1"/>
                </a:solidFill>
              </a:rPr>
              <a:t>L3 · PSP</a:t>
            </a:r>
            <a:endParaRPr lang="en-US" sz="1800" dirty="0"/>
          </a:p>
        </p:txBody>
      </p:sp>
      <p:sp>
        <p:nvSpPr>
          <p:cNvPr id="18" name="Text 12"/>
          <p:cNvSpPr txBox="1"/>
          <p:nvPr/>
        </p:nvSpPr>
        <p:spPr>
          <a:xfrm>
            <a:off x="6446520" y="3794760"/>
            <a:ext cx="2240280" cy="548640"/>
          </a:xfrm>
          <a:prstGeom prst="rect">
            <a:avLst/>
          </a:prstGeom>
          <a:noFill/>
          <a:ln/>
        </p:spPr>
        <p:txBody>
          <a:bodyPr wrap="square" lIns="0" tIns="0" rIns="0" bIns="0" rtlCol="0" anchor="t"/>
          <a:lstStyle/>
          <a:p>
            <a:pPr indent="0" marL="0">
              <a:buNone/>
            </a:pPr>
            <a:r>
              <a:rPr lang="en-US" sz="1400" dirty="0">
                <a:solidFill>
                  <a:schemeClr val="bg2"/>
                </a:solidFill>
              </a:rPr>
              <a:t>White-label for its merchants</a:t>
            </a:r>
            <a:endParaRPr lang="en-US" sz="1400" dirty="0"/>
          </a:p>
        </p:txBody>
      </p:sp>
      <p:sp>
        <p:nvSpPr>
          <p:cNvPr id="19" name="Text 13"/>
          <p:cNvSpPr txBox="1"/>
          <p:nvPr/>
        </p:nvSpPr>
        <p:spPr>
          <a:xfrm>
            <a:off x="6446520" y="5577840"/>
            <a:ext cx="2240280" cy="320040"/>
          </a:xfrm>
          <a:prstGeom prst="rect">
            <a:avLst/>
          </a:prstGeom>
          <a:noFill/>
          <a:ln/>
        </p:spPr>
        <p:txBody>
          <a:bodyPr wrap="square" lIns="0" tIns="0" rIns="0" bIns="0" rtlCol="0" anchor="t"/>
          <a:lstStyle/>
          <a:p>
            <a:pPr indent="0" marL="0">
              <a:buNone/>
            </a:pPr>
            <a:r>
              <a:rPr lang="en-US" sz="1400" b="1" dirty="0">
                <a:solidFill>
                  <a:schemeClr val="accent2"/>
                </a:solidFill>
              </a:rPr>
              <a:t>Reseller + routing</a:t>
            </a:r>
            <a:endParaRPr lang="en-US" sz="1400" dirty="0"/>
          </a:p>
        </p:txBody>
      </p:sp>
      <p:sp>
        <p:nvSpPr>
          <p:cNvPr id="20" name="level 4"/>
          <p:cNvSpPr/>
          <p:nvPr/>
        </p:nvSpPr>
        <p:spPr>
          <a:xfrm>
            <a:off x="9052560" y="1920240"/>
            <a:ext cx="2651760" cy="4160520"/>
          </a:xfrm>
          <a:prstGeom prst="roundRect">
            <a:avLst>
              <a:gd name="adj" fmla="val 4138"/>
            </a:avLst>
          </a:prstGeom>
          <a:solidFill>
            <a:srgbClr val="1A1230"/>
          </a:solidFill>
          <a:ln w="12700">
            <a:solidFill>
              <a:srgbClr val="9945FF"/>
            </a:solidFill>
            <a:prstDash val="solid"/>
          </a:ln>
        </p:spPr>
      </p:sp>
      <p:pic>
        <p:nvPicPr>
          <p:cNvPr id="21" name="icon FiShield" descr="preencoded.png">    </p:cNvPr>
          <p:cNvPicPr>
            <a:picLocks noChangeAspect="1"/>
          </p:cNvPicPr>
          <p:nvPr/>
        </p:nvPicPr>
        <p:blipFill>
          <a:blip r:embed="rId4"/>
          <a:stretch>
            <a:fillRect/>
          </a:stretch>
        </p:blipFill>
        <p:spPr>
          <a:xfrm>
            <a:off x="9281160" y="2148840"/>
            <a:ext cx="502920" cy="502920"/>
          </a:xfrm>
          <a:prstGeom prst="rect">
            <a:avLst/>
          </a:prstGeom>
        </p:spPr>
      </p:pic>
      <p:sp>
        <p:nvSpPr>
          <p:cNvPr id="22" name="Text 15"/>
          <p:cNvSpPr txBox="1"/>
          <p:nvPr/>
        </p:nvSpPr>
        <p:spPr>
          <a:xfrm>
            <a:off x="9281160" y="2788920"/>
            <a:ext cx="2240280" cy="365760"/>
          </a:xfrm>
          <a:prstGeom prst="rect">
            <a:avLst/>
          </a:prstGeom>
          <a:noFill/>
          <a:ln/>
        </p:spPr>
        <p:txBody>
          <a:bodyPr wrap="square" lIns="0" tIns="0" rIns="0" bIns="0" rtlCol="0" anchor="t"/>
          <a:lstStyle/>
          <a:p>
            <a:pPr indent="0" marL="0">
              <a:buNone/>
            </a:pPr>
            <a:r>
              <a:rPr lang="en-US" sz="1800" b="1" dirty="0">
                <a:solidFill>
                  <a:schemeClr val="bg1"/>
                </a:solidFill>
              </a:rPr>
              <a:t>L4 · Bank</a:t>
            </a:r>
            <a:endParaRPr lang="en-US" sz="1800" dirty="0"/>
          </a:p>
        </p:txBody>
      </p:sp>
      <p:sp>
        <p:nvSpPr>
          <p:cNvPr id="23" name="Text 16"/>
          <p:cNvSpPr txBox="1"/>
          <p:nvPr/>
        </p:nvSpPr>
        <p:spPr>
          <a:xfrm>
            <a:off x="9281160" y="3200400"/>
            <a:ext cx="2240280" cy="548640"/>
          </a:xfrm>
          <a:prstGeom prst="rect">
            <a:avLst/>
          </a:prstGeom>
          <a:noFill/>
          <a:ln/>
        </p:spPr>
        <p:txBody>
          <a:bodyPr wrap="square" lIns="0" tIns="0" rIns="0" bIns="0" rtlCol="0" anchor="t"/>
          <a:lstStyle/>
          <a:p>
            <a:pPr indent="0" marL="0">
              <a:buNone/>
            </a:pPr>
            <a:r>
              <a:rPr lang="en-US" sz="1400" dirty="0">
                <a:solidFill>
                  <a:schemeClr val="bg2"/>
                </a:solidFill>
              </a:rPr>
              <a:t>Regulated, multi-region</a:t>
            </a:r>
            <a:endParaRPr lang="en-US" sz="1400" dirty="0"/>
          </a:p>
        </p:txBody>
      </p:sp>
      <p:sp>
        <p:nvSpPr>
          <p:cNvPr id="24" name="Text 17"/>
          <p:cNvSpPr txBox="1"/>
          <p:nvPr/>
        </p:nvSpPr>
        <p:spPr>
          <a:xfrm>
            <a:off x="9281160" y="5577840"/>
            <a:ext cx="2240280" cy="320040"/>
          </a:xfrm>
          <a:prstGeom prst="rect">
            <a:avLst/>
          </a:prstGeom>
          <a:noFill/>
          <a:ln/>
        </p:spPr>
        <p:txBody>
          <a:bodyPr wrap="square" lIns="0" tIns="0" rIns="0" bIns="0" rtlCol="0" anchor="t"/>
          <a:lstStyle/>
          <a:p>
            <a:pPr indent="0" marL="0">
              <a:buNone/>
            </a:pPr>
            <a:r>
              <a:rPr lang="en-US" sz="1400" b="1" dirty="0">
                <a:solidFill>
                  <a:schemeClr val="accent2"/>
                </a:solidFill>
              </a:rPr>
              <a:t>HSM keys + residency</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64240" cy="685800"/>
          </a:xfrm>
          <a:prstGeom prst="rect">
            <a:avLst/>
          </a:prstGeom>
          <a:noFill/>
          <a:ln/>
        </p:spPr>
        <p:txBody>
          <a:bodyPr wrap="square" lIns="0" tIns="0" rIns="0" bIns="0" rtlCol="0" anchor="ctr"/>
          <a:lstStyle/>
          <a:p>
            <a:pPr algn="l" indent="0" marL="0">
              <a:buNone/>
            </a:pPr>
            <a:r>
              <a:rPr lang="en-US" sz="3600" b="1" dirty="0">
                <a:solidFill>
                  <a:schemeClr val="bg1"/>
                </a:solidFill>
              </a:rPr>
              <a:t>Why Solana is the settlement layer</a:t>
            </a:r>
            <a:endParaRPr lang="en-US" sz="3600" dirty="0"/>
          </a:p>
        </p:txBody>
      </p:sp>
      <p:sp>
        <p:nvSpPr>
          <p:cNvPr id="3" name="Text 0"/>
          <p:cNvSpPr/>
          <p:nvPr>
            <p:ph idx="101" type="body" hasCustomPrompt="1"/>
          </p:nvPr>
        </p:nvSpPr>
        <p:spPr>
          <a:xfrm>
            <a:off x="548640" y="1024128"/>
            <a:ext cx="11064240" cy="384048"/>
          </a:xfrm>
          <a:prstGeom prst="rect">
            <a:avLst/>
          </a:prstGeom>
          <a:noFill/>
          <a:ln/>
        </p:spPr>
        <p:txBody>
          <a:bodyPr wrap="square" lIns="0" tIns="0" rIns="0" bIns="0" rtlCol="0" anchor="t"/>
          <a:lstStyle/>
          <a:p>
            <a:pPr indent="0" marL="0">
              <a:buNone/>
            </a:pPr>
            <a:r>
              <a:rPr lang="en-US" sz="1600" dirty="0">
                <a:solidFill>
                  <a:schemeClr val="accent6"/>
                </a:solidFill>
              </a:rPr>
              <a:t>Stablecoin payments have already moved here</a:t>
            </a:r>
            <a:endParaRPr lang="en-US" sz="1600" dirty="0"/>
          </a:p>
        </p:txBody>
      </p:sp>
      <p:graphicFrame>
        <p:nvGraphicFramePr>
          <p:cNvPr id="5" name="stablecoin share chart" descr=""/>
          <p:cNvGraphicFramePr/>
          <p:nvPr/>
        </p:nvGraphicFramePr>
        <p:xfrm>
          <a:off x="548640" y="1737360"/>
          <a:ext cx="5760720" cy="4206240"/>
        </p:xfrm>
        <a:graphic xmlns:a="http://schemas.openxmlformats.org/drawingml/2006/main">
          <a:graphicData uri="http://schemas.openxmlformats.org/drawingml/2006/chart">
            <c:chart xmlns:c="http://schemas.openxmlformats.org/drawingml/2006/chart" r:id="rId1"/>
          </a:graphicData>
        </a:graphic>
      </p:graphicFrame>
      <p:sp>
        <p:nvSpPr>
          <p:cNvPr id="6" name="stat $650B"/>
          <p:cNvSpPr/>
          <p:nvPr/>
        </p:nvSpPr>
        <p:spPr>
          <a:xfrm>
            <a:off x="6675120" y="1737360"/>
            <a:ext cx="2377440" cy="1965960"/>
          </a:xfrm>
          <a:prstGeom prst="roundRect">
            <a:avLst>
              <a:gd name="adj" fmla="val 5581"/>
            </a:avLst>
          </a:prstGeom>
          <a:solidFill>
            <a:schemeClr val="tx2"/>
          </a:solidFill>
          <a:ln w="12700">
            <a:solidFill>
              <a:srgbClr val="2A2A44"/>
            </a:solidFill>
            <a:prstDash val="solid"/>
          </a:ln>
        </p:spPr>
      </p:sp>
      <p:sp>
        <p:nvSpPr>
          <p:cNvPr id="7" name="Text 3"/>
          <p:cNvSpPr txBox="1"/>
          <p:nvPr/>
        </p:nvSpPr>
        <p:spPr>
          <a:xfrm>
            <a:off x="6903720" y="1965960"/>
            <a:ext cx="2011680" cy="731520"/>
          </a:xfrm>
          <a:prstGeom prst="rect">
            <a:avLst/>
          </a:prstGeom>
          <a:noFill/>
          <a:ln/>
        </p:spPr>
        <p:txBody>
          <a:bodyPr wrap="square" lIns="0" tIns="0" rIns="0" bIns="0" rtlCol="0" anchor="t"/>
          <a:lstStyle/>
          <a:p>
            <a:pPr indent="0" marL="0">
              <a:buNone/>
            </a:pPr>
            <a:r>
              <a:rPr lang="en-US" sz="3200" b="1" dirty="0">
                <a:solidFill>
                  <a:schemeClr val="accent2"/>
                </a:solidFill>
                <a:latin typeface="Arial" pitchFamily="34" charset="0"/>
                <a:ea typeface="Arial" pitchFamily="34" charset="-122"/>
                <a:cs typeface="Arial" pitchFamily="34" charset="-120"/>
              </a:rPr>
              <a:t>$650B</a:t>
            </a:r>
            <a:endParaRPr lang="en-US" sz="3200" dirty="0"/>
          </a:p>
        </p:txBody>
      </p:sp>
      <p:sp>
        <p:nvSpPr>
          <p:cNvPr id="8" name="Text 4"/>
          <p:cNvSpPr txBox="1"/>
          <p:nvPr/>
        </p:nvSpPr>
        <p:spPr>
          <a:xfrm>
            <a:off x="6903720" y="2743200"/>
            <a:ext cx="2011680" cy="822960"/>
          </a:xfrm>
          <a:prstGeom prst="rect">
            <a:avLst/>
          </a:prstGeom>
          <a:noFill/>
          <a:ln/>
        </p:spPr>
        <p:txBody>
          <a:bodyPr wrap="square" lIns="0" tIns="0" rIns="0" bIns="0" rtlCol="0" anchor="t"/>
          <a:lstStyle/>
          <a:p>
            <a:pPr indent="0" marL="0">
              <a:buNone/>
            </a:pPr>
            <a:r>
              <a:rPr lang="en-US" sz="1400" dirty="0">
                <a:solidFill>
                  <a:schemeClr val="accent6"/>
                </a:solidFill>
              </a:rPr>
              <a:t>stablecoin transfers on Solana in Feb 2026</a:t>
            </a:r>
            <a:endParaRPr lang="en-US" sz="1400" dirty="0"/>
          </a:p>
        </p:txBody>
      </p:sp>
      <p:sp>
        <p:nvSpPr>
          <p:cNvPr id="9" name="stat 400 ms"/>
          <p:cNvSpPr/>
          <p:nvPr/>
        </p:nvSpPr>
        <p:spPr>
          <a:xfrm>
            <a:off x="9189720" y="1737360"/>
            <a:ext cx="2377440" cy="1965960"/>
          </a:xfrm>
          <a:prstGeom prst="roundRect">
            <a:avLst>
              <a:gd name="adj" fmla="val 5581"/>
            </a:avLst>
          </a:prstGeom>
          <a:solidFill>
            <a:schemeClr val="tx2"/>
          </a:solidFill>
          <a:ln w="12700">
            <a:solidFill>
              <a:srgbClr val="2A2A44"/>
            </a:solidFill>
            <a:prstDash val="solid"/>
          </a:ln>
        </p:spPr>
      </p:sp>
      <p:sp>
        <p:nvSpPr>
          <p:cNvPr id="10" name="Text 6"/>
          <p:cNvSpPr txBox="1"/>
          <p:nvPr/>
        </p:nvSpPr>
        <p:spPr>
          <a:xfrm>
            <a:off x="9418320" y="1965960"/>
            <a:ext cx="2011680" cy="731520"/>
          </a:xfrm>
          <a:prstGeom prst="rect">
            <a:avLst/>
          </a:prstGeom>
          <a:noFill/>
          <a:ln/>
        </p:spPr>
        <p:txBody>
          <a:bodyPr wrap="square" lIns="0" tIns="0" rIns="0" bIns="0" rtlCol="0" anchor="t"/>
          <a:lstStyle/>
          <a:p>
            <a:pPr indent="0" marL="0">
              <a:buNone/>
            </a:pPr>
            <a:r>
              <a:rPr lang="en-US" sz="3200" b="1" dirty="0">
                <a:solidFill>
                  <a:schemeClr val="bg1"/>
                </a:solidFill>
                <a:latin typeface="Arial" pitchFamily="34" charset="0"/>
                <a:ea typeface="Arial" pitchFamily="34" charset="-122"/>
                <a:cs typeface="Arial" pitchFamily="34" charset="-120"/>
              </a:rPr>
              <a:t>400 ms</a:t>
            </a:r>
            <a:endParaRPr lang="en-US" sz="3200" dirty="0"/>
          </a:p>
        </p:txBody>
      </p:sp>
      <p:sp>
        <p:nvSpPr>
          <p:cNvPr id="11" name="Text 7"/>
          <p:cNvSpPr txBox="1"/>
          <p:nvPr/>
        </p:nvSpPr>
        <p:spPr>
          <a:xfrm>
            <a:off x="9418320" y="2743200"/>
            <a:ext cx="2011680" cy="822960"/>
          </a:xfrm>
          <a:prstGeom prst="rect">
            <a:avLst/>
          </a:prstGeom>
          <a:noFill/>
          <a:ln/>
        </p:spPr>
        <p:txBody>
          <a:bodyPr wrap="square" lIns="0" tIns="0" rIns="0" bIns="0" rtlCol="0" anchor="t"/>
          <a:lstStyle/>
          <a:p>
            <a:pPr indent="0" marL="0">
              <a:buNone/>
            </a:pPr>
            <a:r>
              <a:rPr lang="en-US" sz="1400" dirty="0">
                <a:solidFill>
                  <a:schemeClr val="accent6"/>
                </a:solidFill>
              </a:rPr>
              <a:t>slot time; Alpenglow targets ~150 ms finality</a:t>
            </a:r>
            <a:endParaRPr lang="en-US" sz="1400" dirty="0"/>
          </a:p>
        </p:txBody>
      </p:sp>
      <p:sp>
        <p:nvSpPr>
          <p:cNvPr id="12" name="stat ≈$0.001"/>
          <p:cNvSpPr/>
          <p:nvPr/>
        </p:nvSpPr>
        <p:spPr>
          <a:xfrm>
            <a:off x="6675120" y="3886200"/>
            <a:ext cx="2377440" cy="1965960"/>
          </a:xfrm>
          <a:prstGeom prst="roundRect">
            <a:avLst>
              <a:gd name="adj" fmla="val 5581"/>
            </a:avLst>
          </a:prstGeom>
          <a:solidFill>
            <a:schemeClr val="tx2"/>
          </a:solidFill>
          <a:ln w="12700">
            <a:solidFill>
              <a:srgbClr val="2A2A44"/>
            </a:solidFill>
            <a:prstDash val="solid"/>
          </a:ln>
        </p:spPr>
      </p:sp>
      <p:sp>
        <p:nvSpPr>
          <p:cNvPr id="13" name="Text 9"/>
          <p:cNvSpPr txBox="1"/>
          <p:nvPr/>
        </p:nvSpPr>
        <p:spPr>
          <a:xfrm>
            <a:off x="6903720" y="4114800"/>
            <a:ext cx="2011680" cy="731520"/>
          </a:xfrm>
          <a:prstGeom prst="rect">
            <a:avLst/>
          </a:prstGeom>
          <a:noFill/>
          <a:ln/>
        </p:spPr>
        <p:txBody>
          <a:bodyPr wrap="square" lIns="0" tIns="0" rIns="0" bIns="0" rtlCol="0" anchor="t"/>
          <a:lstStyle/>
          <a:p>
            <a:pPr indent="0" marL="0">
              <a:buNone/>
            </a:pPr>
            <a:r>
              <a:rPr lang="en-US" sz="3200" b="1" dirty="0">
                <a:solidFill>
                  <a:schemeClr val="bg1"/>
                </a:solidFill>
                <a:latin typeface="Arial" pitchFamily="34" charset="0"/>
                <a:ea typeface="Arial" pitchFamily="34" charset="-122"/>
                <a:cs typeface="Arial" pitchFamily="34" charset="-120"/>
              </a:rPr>
              <a:t>≈$0.001</a:t>
            </a:r>
            <a:endParaRPr lang="en-US" sz="3200" dirty="0"/>
          </a:p>
        </p:txBody>
      </p:sp>
      <p:sp>
        <p:nvSpPr>
          <p:cNvPr id="14" name="Text 10"/>
          <p:cNvSpPr txBox="1"/>
          <p:nvPr/>
        </p:nvSpPr>
        <p:spPr>
          <a:xfrm>
            <a:off x="6903720" y="4892040"/>
            <a:ext cx="2011680" cy="822960"/>
          </a:xfrm>
          <a:prstGeom prst="rect">
            <a:avLst/>
          </a:prstGeom>
          <a:noFill/>
          <a:ln/>
        </p:spPr>
        <p:txBody>
          <a:bodyPr wrap="square" lIns="0" tIns="0" rIns="0" bIns="0" rtlCol="0" anchor="t"/>
          <a:lstStyle/>
          <a:p>
            <a:pPr indent="0" marL="0">
              <a:buNone/>
            </a:pPr>
            <a:r>
              <a:rPr lang="en-US" sz="1400" dirty="0">
                <a:solidFill>
                  <a:schemeClr val="accent6"/>
                </a:solidFill>
              </a:rPr>
              <a:t>base network fee per settlement transfer</a:t>
            </a:r>
            <a:endParaRPr lang="en-US" sz="1400" dirty="0"/>
          </a:p>
        </p:txBody>
      </p:sp>
      <p:sp>
        <p:nvSpPr>
          <p:cNvPr id="15" name="stat Visa"/>
          <p:cNvSpPr/>
          <p:nvPr/>
        </p:nvSpPr>
        <p:spPr>
          <a:xfrm>
            <a:off x="9189720" y="3886200"/>
            <a:ext cx="2377440" cy="1965960"/>
          </a:xfrm>
          <a:prstGeom prst="roundRect">
            <a:avLst>
              <a:gd name="adj" fmla="val 5581"/>
            </a:avLst>
          </a:prstGeom>
          <a:solidFill>
            <a:schemeClr val="tx2"/>
          </a:solidFill>
          <a:ln w="12700">
            <a:solidFill>
              <a:srgbClr val="2A2A44"/>
            </a:solidFill>
            <a:prstDash val="solid"/>
          </a:ln>
        </p:spPr>
      </p:sp>
      <p:sp>
        <p:nvSpPr>
          <p:cNvPr id="16" name="Text 12"/>
          <p:cNvSpPr txBox="1"/>
          <p:nvPr/>
        </p:nvSpPr>
        <p:spPr>
          <a:xfrm>
            <a:off x="9418320" y="4114800"/>
            <a:ext cx="2011680" cy="731520"/>
          </a:xfrm>
          <a:prstGeom prst="rect">
            <a:avLst/>
          </a:prstGeom>
          <a:noFill/>
          <a:ln/>
        </p:spPr>
        <p:txBody>
          <a:bodyPr wrap="square" lIns="0" tIns="0" rIns="0" bIns="0" rtlCol="0" anchor="t"/>
          <a:lstStyle/>
          <a:p>
            <a:pPr indent="0" marL="0">
              <a:buNone/>
            </a:pPr>
            <a:r>
              <a:rPr lang="en-US" sz="3200" b="1" dirty="0">
                <a:solidFill>
                  <a:schemeClr val="bg1"/>
                </a:solidFill>
                <a:latin typeface="Arial" pitchFamily="34" charset="0"/>
                <a:ea typeface="Arial" pitchFamily="34" charset="-122"/>
                <a:cs typeface="Arial" pitchFamily="34" charset="-120"/>
              </a:rPr>
              <a:t>Visa</a:t>
            </a:r>
            <a:endParaRPr lang="en-US" sz="3200" dirty="0"/>
          </a:p>
        </p:txBody>
      </p:sp>
      <p:sp>
        <p:nvSpPr>
          <p:cNvPr id="17" name="Text 13"/>
          <p:cNvSpPr txBox="1"/>
          <p:nvPr/>
        </p:nvSpPr>
        <p:spPr>
          <a:xfrm>
            <a:off x="9418320" y="4892040"/>
            <a:ext cx="2011680" cy="822960"/>
          </a:xfrm>
          <a:prstGeom prst="rect">
            <a:avLst/>
          </a:prstGeom>
          <a:noFill/>
          <a:ln/>
        </p:spPr>
        <p:txBody>
          <a:bodyPr wrap="square" lIns="0" tIns="0" rIns="0" bIns="0" rtlCol="0" anchor="t"/>
          <a:lstStyle/>
          <a:p>
            <a:pPr indent="0" marL="0">
              <a:buNone/>
            </a:pPr>
            <a:r>
              <a:rPr lang="en-US" sz="1400" dirty="0">
                <a:solidFill>
                  <a:schemeClr val="accent6"/>
                </a:solidFill>
              </a:rPr>
              <a:t>settles USDC with US banks on Solana</a:t>
            </a:r>
            <a:endParaRPr lang="en-US" sz="1400" dirty="0"/>
          </a:p>
        </p:txBody>
      </p:sp>
      <p:sp>
        <p:nvSpPr>
          <p:cNvPr id="18" name="Text 14"/>
          <p:cNvSpPr txBox="1"/>
          <p:nvPr/>
        </p:nvSpPr>
        <p:spPr>
          <a:xfrm>
            <a:off x="548640" y="6035040"/>
            <a:ext cx="8229600" cy="274320"/>
          </a:xfrm>
          <a:prstGeom prst="rect">
            <a:avLst/>
          </a:prstGeom>
          <a:noFill/>
          <a:ln/>
        </p:spPr>
        <p:txBody>
          <a:bodyPr wrap="square" lIns="0" tIns="0" rIns="0" bIns="0" rtlCol="0" anchor="t"/>
          <a:lstStyle/>
          <a:p>
            <a:pPr indent="0" marL="0">
              <a:buNone/>
            </a:pPr>
            <a:r>
              <a:rPr lang="en-US" sz="1000" dirty="0">
                <a:solidFill>
                  <a:schemeClr val="accent6"/>
                </a:solidFill>
              </a:rPr>
              <a:t>Sources: Blockeden.xyz (Artemis data), Mar–Apr 2026; Visa, Dec 2025. Figures rounded.</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64240" cy="685800"/>
          </a:xfrm>
          <a:prstGeom prst="rect">
            <a:avLst/>
          </a:prstGeom>
          <a:noFill/>
          <a:ln/>
        </p:spPr>
        <p:txBody>
          <a:bodyPr wrap="square" lIns="0" tIns="0" rIns="0" bIns="0" rtlCol="0" anchor="ctr"/>
          <a:lstStyle/>
          <a:p>
            <a:pPr algn="l" indent="0" marL="0">
              <a:buNone/>
            </a:pPr>
            <a:r>
              <a:rPr lang="en-US" sz="3600" b="1" dirty="0">
                <a:solidFill>
                  <a:schemeClr val="bg1"/>
                </a:solidFill>
              </a:rPr>
              <a:t>What only KPay does</a:t>
            </a:r>
            <a:endParaRPr lang="en-US" sz="3600" dirty="0"/>
          </a:p>
        </p:txBody>
      </p:sp>
      <p:sp>
        <p:nvSpPr>
          <p:cNvPr id="3" name="Text 0"/>
          <p:cNvSpPr/>
          <p:nvPr>
            <p:ph idx="101" type="body" hasCustomPrompt="1"/>
          </p:nvPr>
        </p:nvSpPr>
        <p:spPr>
          <a:xfrm>
            <a:off x="548640" y="1024128"/>
            <a:ext cx="11064240" cy="384048"/>
          </a:xfrm>
          <a:prstGeom prst="rect">
            <a:avLst/>
          </a:prstGeom>
          <a:noFill/>
          <a:ln/>
        </p:spPr>
        <p:txBody>
          <a:bodyPr wrap="square" lIns="0" tIns="0" rIns="0" bIns="0" rtlCol="0" anchor="t"/>
          <a:lstStyle/>
          <a:p>
            <a:pPr indent="0" marL="0">
              <a:buNone/>
            </a:pPr>
            <a:r>
              <a:rPr lang="en-US" sz="1600" dirty="0">
                <a:solidFill>
                  <a:schemeClr val="accent6"/>
                </a:solidFill>
              </a:rPr>
              <a:t>The only self-hosted gateway that takes fiat and crypto in and settles on Solana</a:t>
            </a:r>
            <a:endParaRPr lang="en-US" sz="1600" dirty="0"/>
          </a:p>
        </p:txBody>
      </p:sp>
      <p:graphicFrame>
        <p:nvGraphicFramePr>
          <p:cNvPr id="8" name="comparison table"/>
          <p:cNvGraphicFramePr>
            <a:graphicFrameLocks noGrp="1"/>
          </p:cNvGraphicFramePr>
          <p:nvPr>
            <p:extLst>
              <p:ext uri="{D42A27DB-BD31-4B8C-83A1-F6EECF244321}">
                <p14:modId xmlns:p14="http://schemas.microsoft.com/office/powerpoint/2010/main" val="1579011935"/>
              </p:ext>
            </p:extLst>
          </p:nvPr>
        </p:nvGraphicFramePr>
        <p:xfrm>
          <a:off x="548640" y="1737360"/>
          <a:ext cx="11064240" cy="914400"/>
        </p:xfrm>
        <a:graphic>
          <a:graphicData uri="http://schemas.openxmlformats.org/drawingml/2006/table">
            <a:tbl>
              <a:tblPr/>
              <a:tblGrid>
                <a:gridCol w="5120640"/>
                <a:gridCol w="1965960"/>
                <a:gridCol w="1965960"/>
                <a:gridCol w="2011680"/>
              </a:tblGrid>
              <a:tr h="548640">
                <a:tc>
                  <a:txBody>
                    <a:bodyPr/>
                    <a:lstStyle/>
                    <a:p>
                      <a:pPr indent="0" marL="0">
                        <a:buNone/>
                      </a:pPr>
                      <a:r>
                        <a:rPr lang="en-US" sz="1400" b="1" dirty="0">
                          <a:solidFill>
                            <a:schemeClr val="bg1"/>
                          </a:solidFill>
                          <a:latin typeface="Calibri" pitchFamily="34" charset="0"/>
                          <a:ea typeface="Calibri" pitchFamily="34" charset="-122"/>
                          <a:cs typeface="Calibri" pitchFamily="34" charset="-120"/>
                        </a:rPr>
                        <a:t>Capability</a:t>
                      </a:r>
                      <a:endParaRPr lang="en-US" sz="1400" dirty="0">
                        <a:latin typeface="Calibri" charset="0"/>
                        <a:ea typeface="Calibri" charset="0"/>
                        <a:cs typeface="Calibri" charset="0"/>
                      </a:endParaRPr>
                    </a:p>
                  </a:txBody>
                  <a:tcPr marL="91440" marR="91440" marT="45720" marB="45720" anchor="ctr">
                    <a:lnL w="25400" cap="flat" cmpd="sng" algn="ctr">
                      <a:solidFill>
                        <a:srgbClr val="0B0B14"/>
                      </a:solidFill>
                      <a:prstDash val="solid"/>
                      <a:round/>
                      <a:headEnd type="none" w="med" len="med"/>
                      <a:tailEnd type="none" w="med" len="med"/>
                    </a:lnL>
                    <a:lnR w="25400" cap="flat" cmpd="sng" algn="ctr">
                      <a:solidFill>
                        <a:srgbClr val="0B0B14"/>
                      </a:solidFill>
                      <a:prstDash val="solid"/>
                      <a:round/>
                      <a:headEnd type="none" w="med" len="med"/>
                      <a:tailEnd type="none" w="med" len="med"/>
                    </a:lnR>
                    <a:lnT w="25400" cap="flat" cmpd="sng" algn="ctr">
                      <a:solidFill>
                        <a:srgbClr val="0B0B14"/>
                      </a:solidFill>
                      <a:prstDash val="solid"/>
                      <a:round/>
                      <a:headEnd type="none" w="med" len="med"/>
                      <a:tailEnd type="none" w="med" len="med"/>
                    </a:lnT>
                    <a:lnB w="25400" cap="flat" cmpd="sng" algn="ctr">
                      <a:solidFill>
                        <a:srgbClr val="0B0B14"/>
                      </a:solidFill>
                      <a:prstDash val="solid"/>
                      <a:round/>
                      <a:headEnd type="none" w="med" len="med"/>
                      <a:tailEnd type="none" w="med" len="med"/>
                    </a:lnB>
                    <a:solidFill>
                      <a:srgbClr val="22223A"/>
                    </a:solidFill>
                  </a:tcPr>
                </a:tc>
                <a:tc>
                  <a:txBody>
                    <a:bodyPr/>
                    <a:lstStyle/>
                    <a:p>
                      <a:pPr algn="ctr" indent="0" marL="0">
                        <a:buNone/>
                      </a:pPr>
                      <a:r>
                        <a:rPr lang="en-US" sz="1400" b="1" dirty="0">
                          <a:solidFill>
                            <a:schemeClr val="bg1"/>
                          </a:solidFill>
                          <a:latin typeface="Calibri" pitchFamily="34" charset="0"/>
                          <a:ea typeface="Calibri" pitchFamily="34" charset="-122"/>
                          <a:cs typeface="Calibri" pitchFamily="34" charset="-120"/>
                        </a:rPr>
                        <a:t>Hosted card gateways</a:t>
                      </a:r>
                      <a:endParaRPr lang="en-US" sz="1400" dirty="0">
                        <a:latin typeface="Calibri" charset="0"/>
                        <a:ea typeface="Calibri" charset="0"/>
                        <a:cs typeface="Calibri" charset="0"/>
                      </a:endParaRPr>
                    </a:p>
                  </a:txBody>
                  <a:tcPr marL="91440" marR="91440" marT="45720" marB="45720" anchor="ctr">
                    <a:lnL w="25400" cap="flat" cmpd="sng" algn="ctr">
                      <a:solidFill>
                        <a:srgbClr val="0B0B14"/>
                      </a:solidFill>
                      <a:prstDash val="solid"/>
                      <a:round/>
                      <a:headEnd type="none" w="med" len="med"/>
                      <a:tailEnd type="none" w="med" len="med"/>
                    </a:lnL>
                    <a:lnR w="25400" cap="flat" cmpd="sng" algn="ctr">
                      <a:solidFill>
                        <a:srgbClr val="0B0B14"/>
                      </a:solidFill>
                      <a:prstDash val="solid"/>
                      <a:round/>
                      <a:headEnd type="none" w="med" len="med"/>
                      <a:tailEnd type="none" w="med" len="med"/>
                    </a:lnR>
                    <a:lnT w="25400" cap="flat" cmpd="sng" algn="ctr">
                      <a:solidFill>
                        <a:srgbClr val="0B0B14"/>
                      </a:solidFill>
                      <a:prstDash val="solid"/>
                      <a:round/>
                      <a:headEnd type="none" w="med" len="med"/>
                      <a:tailEnd type="none" w="med" len="med"/>
                    </a:lnT>
                    <a:lnB w="25400" cap="flat" cmpd="sng" algn="ctr">
                      <a:solidFill>
                        <a:srgbClr val="0B0B14"/>
                      </a:solidFill>
                      <a:prstDash val="solid"/>
                      <a:round/>
                      <a:headEnd type="none" w="med" len="med"/>
                      <a:tailEnd type="none" w="med" len="med"/>
                    </a:lnB>
                    <a:solidFill>
                      <a:srgbClr val="22223A"/>
                    </a:solidFill>
                  </a:tcPr>
                </a:tc>
                <a:tc>
                  <a:txBody>
                    <a:bodyPr/>
                    <a:lstStyle/>
                    <a:p>
                      <a:pPr algn="ctr" indent="0" marL="0">
                        <a:buNone/>
                      </a:pPr>
                      <a:r>
                        <a:rPr lang="en-US" sz="1400" b="1" dirty="0">
                          <a:solidFill>
                            <a:schemeClr val="bg1"/>
                          </a:solidFill>
                          <a:latin typeface="Calibri" pitchFamily="34" charset="0"/>
                          <a:ea typeface="Calibri" pitchFamily="34" charset="-122"/>
                          <a:cs typeface="Calibri" pitchFamily="34" charset="-120"/>
                        </a:rPr>
                        <a:t>Crypto-only processors</a:t>
                      </a:r>
                      <a:endParaRPr lang="en-US" sz="1400" dirty="0">
                        <a:latin typeface="Calibri" charset="0"/>
                        <a:ea typeface="Calibri" charset="0"/>
                        <a:cs typeface="Calibri" charset="0"/>
                      </a:endParaRPr>
                    </a:p>
                  </a:txBody>
                  <a:tcPr marL="91440" marR="91440" marT="45720" marB="45720" anchor="ctr">
                    <a:lnL w="25400" cap="flat" cmpd="sng" algn="ctr">
                      <a:solidFill>
                        <a:srgbClr val="0B0B14"/>
                      </a:solidFill>
                      <a:prstDash val="solid"/>
                      <a:round/>
                      <a:headEnd type="none" w="med" len="med"/>
                      <a:tailEnd type="none" w="med" len="med"/>
                    </a:lnL>
                    <a:lnR w="25400" cap="flat" cmpd="sng" algn="ctr">
                      <a:solidFill>
                        <a:srgbClr val="0B0B14"/>
                      </a:solidFill>
                      <a:prstDash val="solid"/>
                      <a:round/>
                      <a:headEnd type="none" w="med" len="med"/>
                      <a:tailEnd type="none" w="med" len="med"/>
                    </a:lnR>
                    <a:lnT w="25400" cap="flat" cmpd="sng" algn="ctr">
                      <a:solidFill>
                        <a:srgbClr val="0B0B14"/>
                      </a:solidFill>
                      <a:prstDash val="solid"/>
                      <a:round/>
                      <a:headEnd type="none" w="med" len="med"/>
                      <a:tailEnd type="none" w="med" len="med"/>
                    </a:lnT>
                    <a:lnB w="25400" cap="flat" cmpd="sng" algn="ctr">
                      <a:solidFill>
                        <a:srgbClr val="0B0B14"/>
                      </a:solidFill>
                      <a:prstDash val="solid"/>
                      <a:round/>
                      <a:headEnd type="none" w="med" len="med"/>
                      <a:tailEnd type="none" w="med" len="med"/>
                    </a:lnB>
                    <a:solidFill>
                      <a:srgbClr val="22223A"/>
                    </a:solidFill>
                  </a:tcPr>
                </a:tc>
                <a:tc>
                  <a:txBody>
                    <a:bodyPr/>
                    <a:lstStyle/>
                    <a:p>
                      <a:pPr algn="ctr" indent="0" marL="0">
                        <a:buNone/>
                      </a:pPr>
                      <a:r>
                        <a:rPr lang="en-US" sz="1400" b="1" dirty="0">
                          <a:solidFill>
                            <a:srgbClr val="0B0B14"/>
                          </a:solidFill>
                          <a:latin typeface="Calibri" pitchFamily="34" charset="0"/>
                          <a:ea typeface="Calibri" pitchFamily="34" charset="-122"/>
                          <a:cs typeface="Calibri" pitchFamily="34" charset="-120"/>
                        </a:rPr>
                        <a:t>KPay</a:t>
                      </a:r>
                      <a:endParaRPr lang="en-US" sz="1400" dirty="0">
                        <a:latin typeface="Calibri" charset="0"/>
                        <a:ea typeface="Calibri" charset="0"/>
                        <a:cs typeface="Calibri" charset="0"/>
                      </a:endParaRPr>
                    </a:p>
                  </a:txBody>
                  <a:tcPr marL="91440" marR="91440" marT="45720" marB="45720" anchor="ctr">
                    <a:lnL w="25400" cap="flat" cmpd="sng" algn="ctr">
                      <a:solidFill>
                        <a:srgbClr val="0B0B14"/>
                      </a:solidFill>
                      <a:prstDash val="solid"/>
                      <a:round/>
                      <a:headEnd type="none" w="med" len="med"/>
                      <a:tailEnd type="none" w="med" len="med"/>
                    </a:lnL>
                    <a:lnR w="25400" cap="flat" cmpd="sng" algn="ctr">
                      <a:solidFill>
                        <a:srgbClr val="0B0B14"/>
                      </a:solidFill>
                      <a:prstDash val="solid"/>
                      <a:round/>
                      <a:headEnd type="none" w="med" len="med"/>
                      <a:tailEnd type="none" w="med" len="med"/>
                    </a:lnR>
                    <a:lnT w="25400" cap="flat" cmpd="sng" algn="ctr">
                      <a:solidFill>
                        <a:srgbClr val="0B0B14"/>
                      </a:solidFill>
                      <a:prstDash val="solid"/>
                      <a:round/>
                      <a:headEnd type="none" w="med" len="med"/>
                      <a:tailEnd type="none" w="med" len="med"/>
                    </a:lnT>
                    <a:lnB w="25400" cap="flat" cmpd="sng" algn="ctr">
                      <a:solidFill>
                        <a:srgbClr val="0B0B14"/>
                      </a:solidFill>
                      <a:prstDash val="solid"/>
                      <a:round/>
                      <a:headEnd type="none" w="med" len="med"/>
                      <a:tailEnd type="none" w="med" len="med"/>
                    </a:lnB>
                    <a:solidFill>
                      <a:srgbClr val="14F195"/>
                    </a:solidFill>
                  </a:tcPr>
                </a:tc>
              </a:tr>
              <a:tr h="548640">
                <a:tc>
                  <a:txBody>
                    <a:bodyPr/>
                    <a:lstStyle/>
                    <a:p>
                      <a:pPr indent="0" marL="0">
                        <a:buNone/>
                      </a:pPr>
                      <a:r>
                        <a:rPr lang="en-US" sz="1500" dirty="0">
                          <a:solidFill>
                            <a:schemeClr val="bg2"/>
                          </a:solidFill>
                          <a:latin typeface="Calibri" pitchFamily="34" charset="0"/>
                          <a:ea typeface="Calibri" pitchFamily="34" charset="-122"/>
                          <a:cs typeface="Calibri" pitchFamily="34" charset="-120"/>
                        </a:rPr>
                        <a:t>Self-hosted in your own VPC, your keys</a:t>
                      </a:r>
                      <a:endParaRPr lang="en-US" sz="1500" dirty="0">
                        <a:latin typeface="Calibri" charset="0"/>
                        <a:ea typeface="Calibri" charset="0"/>
                        <a:cs typeface="Calibri" charset="0"/>
                      </a:endParaRPr>
                    </a:p>
                  </a:txBody>
                  <a:tcPr marL="91440" marR="91440" marT="45720" marB="45720" anchor="ctr">
                    <a:lnL w="25400" cap="flat" cmpd="sng" algn="ctr">
                      <a:solidFill>
                        <a:srgbClr val="0B0B14"/>
                      </a:solidFill>
                      <a:prstDash val="solid"/>
                      <a:round/>
                      <a:headEnd type="none" w="med" len="med"/>
                      <a:tailEnd type="none" w="med" len="med"/>
                    </a:lnL>
                    <a:lnR w="25400" cap="flat" cmpd="sng" algn="ctr">
                      <a:solidFill>
                        <a:srgbClr val="0B0B14"/>
                      </a:solidFill>
                      <a:prstDash val="solid"/>
                      <a:round/>
                      <a:headEnd type="none" w="med" len="med"/>
                      <a:tailEnd type="none" w="med" len="med"/>
                    </a:lnR>
                    <a:lnT w="25400" cap="flat" cmpd="sng" algn="ctr">
                      <a:solidFill>
                        <a:srgbClr val="0B0B14"/>
                      </a:solidFill>
                      <a:prstDash val="solid"/>
                      <a:round/>
                      <a:headEnd type="none" w="med" len="med"/>
                      <a:tailEnd type="none" w="med" len="med"/>
                    </a:lnT>
                    <a:lnB w="25400" cap="flat" cmpd="sng" algn="ctr">
                      <a:solidFill>
                        <a:srgbClr val="0B0B14"/>
                      </a:solidFill>
                      <a:prstDash val="solid"/>
                      <a:round/>
                      <a:headEnd type="none" w="med" len="med"/>
                      <a:tailEnd type="none" w="med" len="med"/>
                    </a:lnB>
                    <a:solidFill>
                      <a:srgbClr val="171728"/>
                    </a:solidFill>
                  </a:tcPr>
                </a:tc>
                <a:tc>
                  <a:txBody>
                    <a:bodyPr/>
                    <a:lstStyle/>
                    <a:p>
                      <a:pPr algn="ctr" indent="0" marL="0">
                        <a:buNone/>
                      </a:pPr>
                      <a:r>
                        <a:rPr lang="en-US" sz="1800" dirty="0">
                          <a:solidFill>
                            <a:srgbClr val="55556F"/>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91440" marR="91440" marT="45720" marB="45720" anchor="ctr">
                    <a:lnL w="25400" cap="flat" cmpd="sng" algn="ctr">
                      <a:solidFill>
                        <a:srgbClr val="0B0B14"/>
                      </a:solidFill>
                      <a:prstDash val="solid"/>
                      <a:round/>
                      <a:headEnd type="none" w="med" len="med"/>
                      <a:tailEnd type="none" w="med" len="med"/>
                    </a:lnL>
                    <a:lnR w="25400" cap="flat" cmpd="sng" algn="ctr">
                      <a:solidFill>
                        <a:srgbClr val="0B0B14"/>
                      </a:solidFill>
                      <a:prstDash val="solid"/>
                      <a:round/>
                      <a:headEnd type="none" w="med" len="med"/>
                      <a:tailEnd type="none" w="med" len="med"/>
                    </a:lnR>
                    <a:lnT w="25400" cap="flat" cmpd="sng" algn="ctr">
                      <a:solidFill>
                        <a:srgbClr val="0B0B14"/>
                      </a:solidFill>
                      <a:prstDash val="solid"/>
                      <a:round/>
                      <a:headEnd type="none" w="med" len="med"/>
                      <a:tailEnd type="none" w="med" len="med"/>
                    </a:lnT>
                    <a:lnB w="25400" cap="flat" cmpd="sng" algn="ctr">
                      <a:solidFill>
                        <a:srgbClr val="0B0B14"/>
                      </a:solidFill>
                      <a:prstDash val="solid"/>
                      <a:round/>
                      <a:headEnd type="none" w="med" len="med"/>
                      <a:tailEnd type="none" w="med" len="med"/>
                    </a:lnB>
                    <a:solidFill>
                      <a:srgbClr val="171728"/>
                    </a:solidFill>
                  </a:tcPr>
                </a:tc>
                <a:tc>
                  <a:txBody>
                    <a:bodyPr/>
                    <a:lstStyle/>
                    <a:p>
                      <a:pPr algn="ctr" indent="0" marL="0">
                        <a:buNone/>
                      </a:pPr>
                      <a:r>
                        <a:rPr lang="en-US" sz="1800" dirty="0">
                          <a:solidFill>
                            <a:srgbClr val="55556F"/>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91440" marR="91440" marT="45720" marB="45720" anchor="ctr">
                    <a:lnL w="25400" cap="flat" cmpd="sng" algn="ctr">
                      <a:solidFill>
                        <a:srgbClr val="0B0B14"/>
                      </a:solidFill>
                      <a:prstDash val="solid"/>
                      <a:round/>
                      <a:headEnd type="none" w="med" len="med"/>
                      <a:tailEnd type="none" w="med" len="med"/>
                    </a:lnL>
                    <a:lnR w="25400" cap="flat" cmpd="sng" algn="ctr">
                      <a:solidFill>
                        <a:srgbClr val="0B0B14"/>
                      </a:solidFill>
                      <a:prstDash val="solid"/>
                      <a:round/>
                      <a:headEnd type="none" w="med" len="med"/>
                      <a:tailEnd type="none" w="med" len="med"/>
                    </a:lnR>
                    <a:lnT w="25400" cap="flat" cmpd="sng" algn="ctr">
                      <a:solidFill>
                        <a:srgbClr val="0B0B14"/>
                      </a:solidFill>
                      <a:prstDash val="solid"/>
                      <a:round/>
                      <a:headEnd type="none" w="med" len="med"/>
                      <a:tailEnd type="none" w="med" len="med"/>
                    </a:lnT>
                    <a:lnB w="25400" cap="flat" cmpd="sng" algn="ctr">
                      <a:solidFill>
                        <a:srgbClr val="0B0B14"/>
                      </a:solidFill>
                      <a:prstDash val="solid"/>
                      <a:round/>
                      <a:headEnd type="none" w="med" len="med"/>
                      <a:tailEnd type="none" w="med" len="med"/>
                    </a:lnB>
                    <a:solidFill>
                      <a:srgbClr val="171728"/>
                    </a:solidFill>
                  </a:tcPr>
                </a:tc>
                <a:tc>
                  <a:txBody>
                    <a:bodyPr/>
                    <a:lstStyle/>
                    <a:p>
                      <a:pPr algn="ctr" indent="0" marL="0">
                        <a:buNone/>
                      </a:pPr>
                      <a:r>
                        <a:rPr lang="en-US" sz="1800" dirty="0">
                          <a:solidFill>
                            <a:schemeClr val="accent2"/>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91440" marR="91440" marT="45720" marB="45720" anchor="ctr">
                    <a:lnL w="25400" cap="flat" cmpd="sng" algn="ctr">
                      <a:solidFill>
                        <a:srgbClr val="0B0B14"/>
                      </a:solidFill>
                      <a:prstDash val="solid"/>
                      <a:round/>
                      <a:headEnd type="none" w="med" len="med"/>
                      <a:tailEnd type="none" w="med" len="med"/>
                    </a:lnL>
                    <a:lnR w="25400" cap="flat" cmpd="sng" algn="ctr">
                      <a:solidFill>
                        <a:srgbClr val="0B0B14"/>
                      </a:solidFill>
                      <a:prstDash val="solid"/>
                      <a:round/>
                      <a:headEnd type="none" w="med" len="med"/>
                      <a:tailEnd type="none" w="med" len="med"/>
                    </a:lnR>
                    <a:lnT w="25400" cap="flat" cmpd="sng" algn="ctr">
                      <a:solidFill>
                        <a:srgbClr val="0B0B14"/>
                      </a:solidFill>
                      <a:prstDash val="solid"/>
                      <a:round/>
                      <a:headEnd type="none" w="med" len="med"/>
                      <a:tailEnd type="none" w="med" len="med"/>
                    </a:lnT>
                    <a:lnB w="25400" cap="flat" cmpd="sng" algn="ctr">
                      <a:solidFill>
                        <a:srgbClr val="0B0B14"/>
                      </a:solidFill>
                      <a:prstDash val="solid"/>
                      <a:round/>
                      <a:headEnd type="none" w="med" len="med"/>
                      <a:tailEnd type="none" w="med" len="med"/>
                    </a:lnB>
                    <a:solidFill>
                      <a:srgbClr val="16231F"/>
                    </a:solidFill>
                  </a:tcPr>
                </a:tc>
              </a:tr>
              <a:tr h="548640">
                <a:tc>
                  <a:txBody>
                    <a:bodyPr/>
                    <a:lstStyle/>
                    <a:p>
                      <a:pPr indent="0" marL="0">
                        <a:buNone/>
                      </a:pPr>
                      <a:r>
                        <a:rPr lang="en-US" sz="1500" dirty="0">
                          <a:solidFill>
                            <a:schemeClr val="bg2"/>
                          </a:solidFill>
                          <a:latin typeface="Calibri" pitchFamily="34" charset="0"/>
                          <a:ea typeface="Calibri" pitchFamily="34" charset="-122"/>
                          <a:cs typeface="Calibri" pitchFamily="34" charset="-120"/>
                        </a:rPr>
                        <a:t>Cards + UPI + stablecoins in one checkout</a:t>
                      </a:r>
                      <a:endParaRPr lang="en-US" sz="1500" dirty="0">
                        <a:latin typeface="Calibri" charset="0"/>
                        <a:ea typeface="Calibri" charset="0"/>
                        <a:cs typeface="Calibri" charset="0"/>
                      </a:endParaRPr>
                    </a:p>
                  </a:txBody>
                  <a:tcPr marL="91440" marR="91440" marT="45720" marB="45720" anchor="ctr">
                    <a:lnL w="25400" cap="flat" cmpd="sng" algn="ctr">
                      <a:solidFill>
                        <a:srgbClr val="0B0B14"/>
                      </a:solidFill>
                      <a:prstDash val="solid"/>
                      <a:round/>
                      <a:headEnd type="none" w="med" len="med"/>
                      <a:tailEnd type="none" w="med" len="med"/>
                    </a:lnL>
                    <a:lnR w="25400" cap="flat" cmpd="sng" algn="ctr">
                      <a:solidFill>
                        <a:srgbClr val="0B0B14"/>
                      </a:solidFill>
                      <a:prstDash val="solid"/>
                      <a:round/>
                      <a:headEnd type="none" w="med" len="med"/>
                      <a:tailEnd type="none" w="med" len="med"/>
                    </a:lnR>
                    <a:lnT w="25400" cap="flat" cmpd="sng" algn="ctr">
                      <a:solidFill>
                        <a:srgbClr val="0B0B14"/>
                      </a:solidFill>
                      <a:prstDash val="solid"/>
                      <a:round/>
                      <a:headEnd type="none" w="med" len="med"/>
                      <a:tailEnd type="none" w="med" len="med"/>
                    </a:lnT>
                    <a:lnB w="25400" cap="flat" cmpd="sng" algn="ctr">
                      <a:solidFill>
                        <a:srgbClr val="0B0B14"/>
                      </a:solidFill>
                      <a:prstDash val="solid"/>
                      <a:round/>
                      <a:headEnd type="none" w="med" len="med"/>
                      <a:tailEnd type="none" w="med" len="med"/>
                    </a:lnB>
                    <a:solidFill>
                      <a:srgbClr val="171728"/>
                    </a:solidFill>
                  </a:tcPr>
                </a:tc>
                <a:tc>
                  <a:txBody>
                    <a:bodyPr/>
                    <a:lstStyle/>
                    <a:p>
                      <a:pPr algn="ctr" indent="0" marL="0">
                        <a:buNone/>
                      </a:pPr>
                      <a:r>
                        <a:rPr lang="en-US" sz="1800" dirty="0">
                          <a:solidFill>
                            <a:schemeClr val="accent4"/>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91440" marR="91440" marT="45720" marB="45720" anchor="ctr">
                    <a:lnL w="25400" cap="flat" cmpd="sng" algn="ctr">
                      <a:solidFill>
                        <a:srgbClr val="0B0B14"/>
                      </a:solidFill>
                      <a:prstDash val="solid"/>
                      <a:round/>
                      <a:headEnd type="none" w="med" len="med"/>
                      <a:tailEnd type="none" w="med" len="med"/>
                    </a:lnL>
                    <a:lnR w="25400" cap="flat" cmpd="sng" algn="ctr">
                      <a:solidFill>
                        <a:srgbClr val="0B0B14"/>
                      </a:solidFill>
                      <a:prstDash val="solid"/>
                      <a:round/>
                      <a:headEnd type="none" w="med" len="med"/>
                      <a:tailEnd type="none" w="med" len="med"/>
                    </a:lnR>
                    <a:lnT w="25400" cap="flat" cmpd="sng" algn="ctr">
                      <a:solidFill>
                        <a:srgbClr val="0B0B14"/>
                      </a:solidFill>
                      <a:prstDash val="solid"/>
                      <a:round/>
                      <a:headEnd type="none" w="med" len="med"/>
                      <a:tailEnd type="none" w="med" len="med"/>
                    </a:lnT>
                    <a:lnB w="25400" cap="flat" cmpd="sng" algn="ctr">
                      <a:solidFill>
                        <a:srgbClr val="0B0B14"/>
                      </a:solidFill>
                      <a:prstDash val="solid"/>
                      <a:round/>
                      <a:headEnd type="none" w="med" len="med"/>
                      <a:tailEnd type="none" w="med" len="med"/>
                    </a:lnB>
                    <a:solidFill>
                      <a:srgbClr val="171728"/>
                    </a:solidFill>
                  </a:tcPr>
                </a:tc>
                <a:tc>
                  <a:txBody>
                    <a:bodyPr/>
                    <a:lstStyle/>
                    <a:p>
                      <a:pPr algn="ctr" indent="0" marL="0">
                        <a:buNone/>
                      </a:pPr>
                      <a:r>
                        <a:rPr lang="en-US" sz="1800" dirty="0">
                          <a:solidFill>
                            <a:schemeClr val="accent4"/>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91440" marR="91440" marT="45720" marB="45720" anchor="ctr">
                    <a:lnL w="25400" cap="flat" cmpd="sng" algn="ctr">
                      <a:solidFill>
                        <a:srgbClr val="0B0B14"/>
                      </a:solidFill>
                      <a:prstDash val="solid"/>
                      <a:round/>
                      <a:headEnd type="none" w="med" len="med"/>
                      <a:tailEnd type="none" w="med" len="med"/>
                    </a:lnL>
                    <a:lnR w="25400" cap="flat" cmpd="sng" algn="ctr">
                      <a:solidFill>
                        <a:srgbClr val="0B0B14"/>
                      </a:solidFill>
                      <a:prstDash val="solid"/>
                      <a:round/>
                      <a:headEnd type="none" w="med" len="med"/>
                      <a:tailEnd type="none" w="med" len="med"/>
                    </a:lnR>
                    <a:lnT w="25400" cap="flat" cmpd="sng" algn="ctr">
                      <a:solidFill>
                        <a:srgbClr val="0B0B14"/>
                      </a:solidFill>
                      <a:prstDash val="solid"/>
                      <a:round/>
                      <a:headEnd type="none" w="med" len="med"/>
                      <a:tailEnd type="none" w="med" len="med"/>
                    </a:lnT>
                    <a:lnB w="25400" cap="flat" cmpd="sng" algn="ctr">
                      <a:solidFill>
                        <a:srgbClr val="0B0B14"/>
                      </a:solidFill>
                      <a:prstDash val="solid"/>
                      <a:round/>
                      <a:headEnd type="none" w="med" len="med"/>
                      <a:tailEnd type="none" w="med" len="med"/>
                    </a:lnB>
                    <a:solidFill>
                      <a:srgbClr val="171728"/>
                    </a:solidFill>
                  </a:tcPr>
                </a:tc>
                <a:tc>
                  <a:txBody>
                    <a:bodyPr/>
                    <a:lstStyle/>
                    <a:p>
                      <a:pPr algn="ctr" indent="0" marL="0">
                        <a:buNone/>
                      </a:pPr>
                      <a:r>
                        <a:rPr lang="en-US" sz="1800" dirty="0">
                          <a:solidFill>
                            <a:schemeClr val="accent2"/>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91440" marR="91440" marT="45720" marB="45720" anchor="ctr">
                    <a:lnL w="25400" cap="flat" cmpd="sng" algn="ctr">
                      <a:solidFill>
                        <a:srgbClr val="0B0B14"/>
                      </a:solidFill>
                      <a:prstDash val="solid"/>
                      <a:round/>
                      <a:headEnd type="none" w="med" len="med"/>
                      <a:tailEnd type="none" w="med" len="med"/>
                    </a:lnL>
                    <a:lnR w="25400" cap="flat" cmpd="sng" algn="ctr">
                      <a:solidFill>
                        <a:srgbClr val="0B0B14"/>
                      </a:solidFill>
                      <a:prstDash val="solid"/>
                      <a:round/>
                      <a:headEnd type="none" w="med" len="med"/>
                      <a:tailEnd type="none" w="med" len="med"/>
                    </a:lnR>
                    <a:lnT w="25400" cap="flat" cmpd="sng" algn="ctr">
                      <a:solidFill>
                        <a:srgbClr val="0B0B14"/>
                      </a:solidFill>
                      <a:prstDash val="solid"/>
                      <a:round/>
                      <a:headEnd type="none" w="med" len="med"/>
                      <a:tailEnd type="none" w="med" len="med"/>
                    </a:lnT>
                    <a:lnB w="25400" cap="flat" cmpd="sng" algn="ctr">
                      <a:solidFill>
                        <a:srgbClr val="0B0B14"/>
                      </a:solidFill>
                      <a:prstDash val="solid"/>
                      <a:round/>
                      <a:headEnd type="none" w="med" len="med"/>
                      <a:tailEnd type="none" w="med" len="med"/>
                    </a:lnB>
                    <a:solidFill>
                      <a:srgbClr val="16231F"/>
                    </a:solidFill>
                  </a:tcPr>
                </a:tc>
              </a:tr>
              <a:tr h="548640">
                <a:tc>
                  <a:txBody>
                    <a:bodyPr/>
                    <a:lstStyle/>
                    <a:p>
                      <a:pPr indent="0" marL="0">
                        <a:buNone/>
                      </a:pPr>
                      <a:r>
                        <a:rPr lang="en-US" sz="1500" dirty="0">
                          <a:solidFill>
                            <a:schemeClr val="bg2"/>
                          </a:solidFill>
                          <a:latin typeface="Calibri" pitchFamily="34" charset="0"/>
                          <a:ea typeface="Calibri" pitchFamily="34" charset="-122"/>
                          <a:cs typeface="Calibri" pitchFamily="34" charset="-120"/>
                        </a:rPr>
                        <a:t>Any chain in, merged and auto-settled on Solana</a:t>
                      </a:r>
                      <a:endParaRPr lang="en-US" sz="1500" dirty="0">
                        <a:latin typeface="Calibri" charset="0"/>
                        <a:ea typeface="Calibri" charset="0"/>
                        <a:cs typeface="Calibri" charset="0"/>
                      </a:endParaRPr>
                    </a:p>
                  </a:txBody>
                  <a:tcPr marL="91440" marR="91440" marT="45720" marB="45720" anchor="ctr">
                    <a:lnL w="25400" cap="flat" cmpd="sng" algn="ctr">
                      <a:solidFill>
                        <a:srgbClr val="0B0B14"/>
                      </a:solidFill>
                      <a:prstDash val="solid"/>
                      <a:round/>
                      <a:headEnd type="none" w="med" len="med"/>
                      <a:tailEnd type="none" w="med" len="med"/>
                    </a:lnL>
                    <a:lnR w="25400" cap="flat" cmpd="sng" algn="ctr">
                      <a:solidFill>
                        <a:srgbClr val="0B0B14"/>
                      </a:solidFill>
                      <a:prstDash val="solid"/>
                      <a:round/>
                      <a:headEnd type="none" w="med" len="med"/>
                      <a:tailEnd type="none" w="med" len="med"/>
                    </a:lnR>
                    <a:lnT w="25400" cap="flat" cmpd="sng" algn="ctr">
                      <a:solidFill>
                        <a:srgbClr val="0B0B14"/>
                      </a:solidFill>
                      <a:prstDash val="solid"/>
                      <a:round/>
                      <a:headEnd type="none" w="med" len="med"/>
                      <a:tailEnd type="none" w="med" len="med"/>
                    </a:lnT>
                    <a:lnB w="25400" cap="flat" cmpd="sng" algn="ctr">
                      <a:solidFill>
                        <a:srgbClr val="0B0B14"/>
                      </a:solidFill>
                      <a:prstDash val="solid"/>
                      <a:round/>
                      <a:headEnd type="none" w="med" len="med"/>
                      <a:tailEnd type="none" w="med" len="med"/>
                    </a:lnB>
                    <a:solidFill>
                      <a:srgbClr val="171728"/>
                    </a:solidFill>
                  </a:tcPr>
                </a:tc>
                <a:tc>
                  <a:txBody>
                    <a:bodyPr/>
                    <a:lstStyle/>
                    <a:p>
                      <a:pPr algn="ctr" indent="0" marL="0">
                        <a:buNone/>
                      </a:pPr>
                      <a:r>
                        <a:rPr lang="en-US" sz="1800" dirty="0">
                          <a:solidFill>
                            <a:srgbClr val="55556F"/>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91440" marR="91440" marT="45720" marB="45720" anchor="ctr">
                    <a:lnL w="25400" cap="flat" cmpd="sng" algn="ctr">
                      <a:solidFill>
                        <a:srgbClr val="0B0B14"/>
                      </a:solidFill>
                      <a:prstDash val="solid"/>
                      <a:round/>
                      <a:headEnd type="none" w="med" len="med"/>
                      <a:tailEnd type="none" w="med" len="med"/>
                    </a:lnL>
                    <a:lnR w="25400" cap="flat" cmpd="sng" algn="ctr">
                      <a:solidFill>
                        <a:srgbClr val="0B0B14"/>
                      </a:solidFill>
                      <a:prstDash val="solid"/>
                      <a:round/>
                      <a:headEnd type="none" w="med" len="med"/>
                      <a:tailEnd type="none" w="med" len="med"/>
                    </a:lnR>
                    <a:lnT w="25400" cap="flat" cmpd="sng" algn="ctr">
                      <a:solidFill>
                        <a:srgbClr val="0B0B14"/>
                      </a:solidFill>
                      <a:prstDash val="solid"/>
                      <a:round/>
                      <a:headEnd type="none" w="med" len="med"/>
                      <a:tailEnd type="none" w="med" len="med"/>
                    </a:lnT>
                    <a:lnB w="25400" cap="flat" cmpd="sng" algn="ctr">
                      <a:solidFill>
                        <a:srgbClr val="0B0B14"/>
                      </a:solidFill>
                      <a:prstDash val="solid"/>
                      <a:round/>
                      <a:headEnd type="none" w="med" len="med"/>
                      <a:tailEnd type="none" w="med" len="med"/>
                    </a:lnB>
                    <a:solidFill>
                      <a:srgbClr val="171728"/>
                    </a:solidFill>
                  </a:tcPr>
                </a:tc>
                <a:tc>
                  <a:txBody>
                    <a:bodyPr/>
                    <a:lstStyle/>
                    <a:p>
                      <a:pPr algn="ctr" indent="0" marL="0">
                        <a:buNone/>
                      </a:pPr>
                      <a:r>
                        <a:rPr lang="en-US" sz="1800" dirty="0">
                          <a:solidFill>
                            <a:schemeClr val="accent4"/>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91440" marR="91440" marT="45720" marB="45720" anchor="ctr">
                    <a:lnL w="25400" cap="flat" cmpd="sng" algn="ctr">
                      <a:solidFill>
                        <a:srgbClr val="0B0B14"/>
                      </a:solidFill>
                      <a:prstDash val="solid"/>
                      <a:round/>
                      <a:headEnd type="none" w="med" len="med"/>
                      <a:tailEnd type="none" w="med" len="med"/>
                    </a:lnL>
                    <a:lnR w="25400" cap="flat" cmpd="sng" algn="ctr">
                      <a:solidFill>
                        <a:srgbClr val="0B0B14"/>
                      </a:solidFill>
                      <a:prstDash val="solid"/>
                      <a:round/>
                      <a:headEnd type="none" w="med" len="med"/>
                      <a:tailEnd type="none" w="med" len="med"/>
                    </a:lnR>
                    <a:lnT w="25400" cap="flat" cmpd="sng" algn="ctr">
                      <a:solidFill>
                        <a:srgbClr val="0B0B14"/>
                      </a:solidFill>
                      <a:prstDash val="solid"/>
                      <a:round/>
                      <a:headEnd type="none" w="med" len="med"/>
                      <a:tailEnd type="none" w="med" len="med"/>
                    </a:lnT>
                    <a:lnB w="25400" cap="flat" cmpd="sng" algn="ctr">
                      <a:solidFill>
                        <a:srgbClr val="0B0B14"/>
                      </a:solidFill>
                      <a:prstDash val="solid"/>
                      <a:round/>
                      <a:headEnd type="none" w="med" len="med"/>
                      <a:tailEnd type="none" w="med" len="med"/>
                    </a:lnB>
                    <a:solidFill>
                      <a:srgbClr val="171728"/>
                    </a:solidFill>
                  </a:tcPr>
                </a:tc>
                <a:tc>
                  <a:txBody>
                    <a:bodyPr/>
                    <a:lstStyle/>
                    <a:p>
                      <a:pPr algn="ctr" indent="0" marL="0">
                        <a:buNone/>
                      </a:pPr>
                      <a:r>
                        <a:rPr lang="en-US" sz="1800" dirty="0">
                          <a:solidFill>
                            <a:schemeClr val="accent2"/>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91440" marR="91440" marT="45720" marB="45720" anchor="ctr">
                    <a:lnL w="25400" cap="flat" cmpd="sng" algn="ctr">
                      <a:solidFill>
                        <a:srgbClr val="0B0B14"/>
                      </a:solidFill>
                      <a:prstDash val="solid"/>
                      <a:round/>
                      <a:headEnd type="none" w="med" len="med"/>
                      <a:tailEnd type="none" w="med" len="med"/>
                    </a:lnL>
                    <a:lnR w="25400" cap="flat" cmpd="sng" algn="ctr">
                      <a:solidFill>
                        <a:srgbClr val="0B0B14"/>
                      </a:solidFill>
                      <a:prstDash val="solid"/>
                      <a:round/>
                      <a:headEnd type="none" w="med" len="med"/>
                      <a:tailEnd type="none" w="med" len="med"/>
                    </a:lnR>
                    <a:lnT w="25400" cap="flat" cmpd="sng" algn="ctr">
                      <a:solidFill>
                        <a:srgbClr val="0B0B14"/>
                      </a:solidFill>
                      <a:prstDash val="solid"/>
                      <a:round/>
                      <a:headEnd type="none" w="med" len="med"/>
                      <a:tailEnd type="none" w="med" len="med"/>
                    </a:lnT>
                    <a:lnB w="25400" cap="flat" cmpd="sng" algn="ctr">
                      <a:solidFill>
                        <a:srgbClr val="0B0B14"/>
                      </a:solidFill>
                      <a:prstDash val="solid"/>
                      <a:round/>
                      <a:headEnd type="none" w="med" len="med"/>
                      <a:tailEnd type="none" w="med" len="med"/>
                    </a:lnB>
                    <a:solidFill>
                      <a:srgbClr val="16231F"/>
                    </a:solidFill>
                  </a:tcPr>
                </a:tc>
              </a:tr>
              <a:tr h="548640">
                <a:tc>
                  <a:txBody>
                    <a:bodyPr/>
                    <a:lstStyle/>
                    <a:p>
                      <a:pPr indent="0" marL="0">
                        <a:buNone/>
                      </a:pPr>
                      <a:r>
                        <a:rPr lang="en-US" sz="1500" dirty="0">
                          <a:solidFill>
                            <a:schemeClr val="bg2"/>
                          </a:solidFill>
                          <a:latin typeface="Calibri" pitchFamily="34" charset="0"/>
                          <a:ea typeface="Calibri" pitchFamily="34" charset="-122"/>
                          <a:cs typeface="Calibri" pitchFamily="34" charset="-120"/>
                        </a:rPr>
                        <a:t>Double-entry ledger + chain-verified finality</a:t>
                      </a:r>
                      <a:endParaRPr lang="en-US" sz="1500" dirty="0">
                        <a:latin typeface="Calibri" charset="0"/>
                        <a:ea typeface="Calibri" charset="0"/>
                        <a:cs typeface="Calibri" charset="0"/>
                      </a:endParaRPr>
                    </a:p>
                  </a:txBody>
                  <a:tcPr marL="91440" marR="91440" marT="45720" marB="45720" anchor="ctr">
                    <a:lnL w="25400" cap="flat" cmpd="sng" algn="ctr">
                      <a:solidFill>
                        <a:srgbClr val="0B0B14"/>
                      </a:solidFill>
                      <a:prstDash val="solid"/>
                      <a:round/>
                      <a:headEnd type="none" w="med" len="med"/>
                      <a:tailEnd type="none" w="med" len="med"/>
                    </a:lnL>
                    <a:lnR w="25400" cap="flat" cmpd="sng" algn="ctr">
                      <a:solidFill>
                        <a:srgbClr val="0B0B14"/>
                      </a:solidFill>
                      <a:prstDash val="solid"/>
                      <a:round/>
                      <a:headEnd type="none" w="med" len="med"/>
                      <a:tailEnd type="none" w="med" len="med"/>
                    </a:lnR>
                    <a:lnT w="25400" cap="flat" cmpd="sng" algn="ctr">
                      <a:solidFill>
                        <a:srgbClr val="0B0B14"/>
                      </a:solidFill>
                      <a:prstDash val="solid"/>
                      <a:round/>
                      <a:headEnd type="none" w="med" len="med"/>
                      <a:tailEnd type="none" w="med" len="med"/>
                    </a:lnT>
                    <a:lnB w="25400" cap="flat" cmpd="sng" algn="ctr">
                      <a:solidFill>
                        <a:srgbClr val="0B0B14"/>
                      </a:solidFill>
                      <a:prstDash val="solid"/>
                      <a:round/>
                      <a:headEnd type="none" w="med" len="med"/>
                      <a:tailEnd type="none" w="med" len="med"/>
                    </a:lnB>
                    <a:solidFill>
                      <a:srgbClr val="171728"/>
                    </a:solidFill>
                  </a:tcPr>
                </a:tc>
                <a:tc>
                  <a:txBody>
                    <a:bodyPr/>
                    <a:lstStyle/>
                    <a:p>
                      <a:pPr algn="ctr" indent="0" marL="0">
                        <a:buNone/>
                      </a:pPr>
                      <a:r>
                        <a:rPr lang="en-US" sz="1800" dirty="0">
                          <a:solidFill>
                            <a:schemeClr val="accent4"/>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91440" marR="91440" marT="45720" marB="45720" anchor="ctr">
                    <a:lnL w="25400" cap="flat" cmpd="sng" algn="ctr">
                      <a:solidFill>
                        <a:srgbClr val="0B0B14"/>
                      </a:solidFill>
                      <a:prstDash val="solid"/>
                      <a:round/>
                      <a:headEnd type="none" w="med" len="med"/>
                      <a:tailEnd type="none" w="med" len="med"/>
                    </a:lnL>
                    <a:lnR w="25400" cap="flat" cmpd="sng" algn="ctr">
                      <a:solidFill>
                        <a:srgbClr val="0B0B14"/>
                      </a:solidFill>
                      <a:prstDash val="solid"/>
                      <a:round/>
                      <a:headEnd type="none" w="med" len="med"/>
                      <a:tailEnd type="none" w="med" len="med"/>
                    </a:lnR>
                    <a:lnT w="25400" cap="flat" cmpd="sng" algn="ctr">
                      <a:solidFill>
                        <a:srgbClr val="0B0B14"/>
                      </a:solidFill>
                      <a:prstDash val="solid"/>
                      <a:round/>
                      <a:headEnd type="none" w="med" len="med"/>
                      <a:tailEnd type="none" w="med" len="med"/>
                    </a:lnT>
                    <a:lnB w="25400" cap="flat" cmpd="sng" algn="ctr">
                      <a:solidFill>
                        <a:srgbClr val="0B0B14"/>
                      </a:solidFill>
                      <a:prstDash val="solid"/>
                      <a:round/>
                      <a:headEnd type="none" w="med" len="med"/>
                      <a:tailEnd type="none" w="med" len="med"/>
                    </a:lnB>
                    <a:solidFill>
                      <a:srgbClr val="171728"/>
                    </a:solidFill>
                  </a:tcPr>
                </a:tc>
                <a:tc>
                  <a:txBody>
                    <a:bodyPr/>
                    <a:lstStyle/>
                    <a:p>
                      <a:pPr algn="ctr" indent="0" marL="0">
                        <a:buNone/>
                      </a:pPr>
                      <a:r>
                        <a:rPr lang="en-US" sz="1800" dirty="0">
                          <a:solidFill>
                            <a:srgbClr val="55556F"/>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91440" marR="91440" marT="45720" marB="45720" anchor="ctr">
                    <a:lnL w="25400" cap="flat" cmpd="sng" algn="ctr">
                      <a:solidFill>
                        <a:srgbClr val="0B0B14"/>
                      </a:solidFill>
                      <a:prstDash val="solid"/>
                      <a:round/>
                      <a:headEnd type="none" w="med" len="med"/>
                      <a:tailEnd type="none" w="med" len="med"/>
                    </a:lnL>
                    <a:lnR w="25400" cap="flat" cmpd="sng" algn="ctr">
                      <a:solidFill>
                        <a:srgbClr val="0B0B14"/>
                      </a:solidFill>
                      <a:prstDash val="solid"/>
                      <a:round/>
                      <a:headEnd type="none" w="med" len="med"/>
                      <a:tailEnd type="none" w="med" len="med"/>
                    </a:lnR>
                    <a:lnT w="25400" cap="flat" cmpd="sng" algn="ctr">
                      <a:solidFill>
                        <a:srgbClr val="0B0B14"/>
                      </a:solidFill>
                      <a:prstDash val="solid"/>
                      <a:round/>
                      <a:headEnd type="none" w="med" len="med"/>
                      <a:tailEnd type="none" w="med" len="med"/>
                    </a:lnT>
                    <a:lnB w="25400" cap="flat" cmpd="sng" algn="ctr">
                      <a:solidFill>
                        <a:srgbClr val="0B0B14"/>
                      </a:solidFill>
                      <a:prstDash val="solid"/>
                      <a:round/>
                      <a:headEnd type="none" w="med" len="med"/>
                      <a:tailEnd type="none" w="med" len="med"/>
                    </a:lnB>
                    <a:solidFill>
                      <a:srgbClr val="171728"/>
                    </a:solidFill>
                  </a:tcPr>
                </a:tc>
                <a:tc>
                  <a:txBody>
                    <a:bodyPr/>
                    <a:lstStyle/>
                    <a:p>
                      <a:pPr algn="ctr" indent="0" marL="0">
                        <a:buNone/>
                      </a:pPr>
                      <a:r>
                        <a:rPr lang="en-US" sz="1800" dirty="0">
                          <a:solidFill>
                            <a:schemeClr val="accent2"/>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91440" marR="91440" marT="45720" marB="45720" anchor="ctr">
                    <a:lnL w="25400" cap="flat" cmpd="sng" algn="ctr">
                      <a:solidFill>
                        <a:srgbClr val="0B0B14"/>
                      </a:solidFill>
                      <a:prstDash val="solid"/>
                      <a:round/>
                      <a:headEnd type="none" w="med" len="med"/>
                      <a:tailEnd type="none" w="med" len="med"/>
                    </a:lnL>
                    <a:lnR w="25400" cap="flat" cmpd="sng" algn="ctr">
                      <a:solidFill>
                        <a:srgbClr val="0B0B14"/>
                      </a:solidFill>
                      <a:prstDash val="solid"/>
                      <a:round/>
                      <a:headEnd type="none" w="med" len="med"/>
                      <a:tailEnd type="none" w="med" len="med"/>
                    </a:lnR>
                    <a:lnT w="25400" cap="flat" cmpd="sng" algn="ctr">
                      <a:solidFill>
                        <a:srgbClr val="0B0B14"/>
                      </a:solidFill>
                      <a:prstDash val="solid"/>
                      <a:round/>
                      <a:headEnd type="none" w="med" len="med"/>
                      <a:tailEnd type="none" w="med" len="med"/>
                    </a:lnT>
                    <a:lnB w="25400" cap="flat" cmpd="sng" algn="ctr">
                      <a:solidFill>
                        <a:srgbClr val="0B0B14"/>
                      </a:solidFill>
                      <a:prstDash val="solid"/>
                      <a:round/>
                      <a:headEnd type="none" w="med" len="med"/>
                      <a:tailEnd type="none" w="med" len="med"/>
                    </a:lnB>
                    <a:solidFill>
                      <a:srgbClr val="16231F"/>
                    </a:solidFill>
                  </a:tcPr>
                </a:tc>
              </a:tr>
              <a:tr h="548640">
                <a:tc>
                  <a:txBody>
                    <a:bodyPr/>
                    <a:lstStyle/>
                    <a:p>
                      <a:pPr indent="0" marL="0">
                        <a:buNone/>
                      </a:pPr>
                      <a:r>
                        <a:rPr lang="en-US" sz="1500" dirty="0">
                          <a:solidFill>
                            <a:schemeClr val="bg2"/>
                          </a:solidFill>
                          <a:latin typeface="Calibri" pitchFamily="34" charset="0"/>
                          <a:ea typeface="Calibri" pitchFamily="34" charset="-122"/>
                          <a:cs typeface="Calibri" pitchFamily="34" charset="-120"/>
                        </a:rPr>
                        <a:t>Multi-processor routing with failover</a:t>
                      </a:r>
                      <a:endParaRPr lang="en-US" sz="1500" dirty="0">
                        <a:latin typeface="Calibri" charset="0"/>
                        <a:ea typeface="Calibri" charset="0"/>
                        <a:cs typeface="Calibri" charset="0"/>
                      </a:endParaRPr>
                    </a:p>
                  </a:txBody>
                  <a:tcPr marL="91440" marR="91440" marT="45720" marB="45720" anchor="ctr">
                    <a:lnL w="25400" cap="flat" cmpd="sng" algn="ctr">
                      <a:solidFill>
                        <a:srgbClr val="0B0B14"/>
                      </a:solidFill>
                      <a:prstDash val="solid"/>
                      <a:round/>
                      <a:headEnd type="none" w="med" len="med"/>
                      <a:tailEnd type="none" w="med" len="med"/>
                    </a:lnL>
                    <a:lnR w="25400" cap="flat" cmpd="sng" algn="ctr">
                      <a:solidFill>
                        <a:srgbClr val="0B0B14"/>
                      </a:solidFill>
                      <a:prstDash val="solid"/>
                      <a:round/>
                      <a:headEnd type="none" w="med" len="med"/>
                      <a:tailEnd type="none" w="med" len="med"/>
                    </a:lnR>
                    <a:lnT w="25400" cap="flat" cmpd="sng" algn="ctr">
                      <a:solidFill>
                        <a:srgbClr val="0B0B14"/>
                      </a:solidFill>
                      <a:prstDash val="solid"/>
                      <a:round/>
                      <a:headEnd type="none" w="med" len="med"/>
                      <a:tailEnd type="none" w="med" len="med"/>
                    </a:lnT>
                    <a:lnB w="25400" cap="flat" cmpd="sng" algn="ctr">
                      <a:solidFill>
                        <a:srgbClr val="0B0B14"/>
                      </a:solidFill>
                      <a:prstDash val="solid"/>
                      <a:round/>
                      <a:headEnd type="none" w="med" len="med"/>
                      <a:tailEnd type="none" w="med" len="med"/>
                    </a:lnB>
                    <a:solidFill>
                      <a:srgbClr val="171728"/>
                    </a:solidFill>
                  </a:tcPr>
                </a:tc>
                <a:tc>
                  <a:txBody>
                    <a:bodyPr/>
                    <a:lstStyle/>
                    <a:p>
                      <a:pPr algn="ctr" indent="0" marL="0">
                        <a:buNone/>
                      </a:pPr>
                      <a:r>
                        <a:rPr lang="en-US" sz="1800" dirty="0">
                          <a:solidFill>
                            <a:schemeClr val="accent4"/>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91440" marR="91440" marT="45720" marB="45720" anchor="ctr">
                    <a:lnL w="25400" cap="flat" cmpd="sng" algn="ctr">
                      <a:solidFill>
                        <a:srgbClr val="0B0B14"/>
                      </a:solidFill>
                      <a:prstDash val="solid"/>
                      <a:round/>
                      <a:headEnd type="none" w="med" len="med"/>
                      <a:tailEnd type="none" w="med" len="med"/>
                    </a:lnL>
                    <a:lnR w="25400" cap="flat" cmpd="sng" algn="ctr">
                      <a:solidFill>
                        <a:srgbClr val="0B0B14"/>
                      </a:solidFill>
                      <a:prstDash val="solid"/>
                      <a:round/>
                      <a:headEnd type="none" w="med" len="med"/>
                      <a:tailEnd type="none" w="med" len="med"/>
                    </a:lnR>
                    <a:lnT w="25400" cap="flat" cmpd="sng" algn="ctr">
                      <a:solidFill>
                        <a:srgbClr val="0B0B14"/>
                      </a:solidFill>
                      <a:prstDash val="solid"/>
                      <a:round/>
                      <a:headEnd type="none" w="med" len="med"/>
                      <a:tailEnd type="none" w="med" len="med"/>
                    </a:lnT>
                    <a:lnB w="25400" cap="flat" cmpd="sng" algn="ctr">
                      <a:solidFill>
                        <a:srgbClr val="0B0B14"/>
                      </a:solidFill>
                      <a:prstDash val="solid"/>
                      <a:round/>
                      <a:headEnd type="none" w="med" len="med"/>
                      <a:tailEnd type="none" w="med" len="med"/>
                    </a:lnB>
                    <a:solidFill>
                      <a:srgbClr val="171728"/>
                    </a:solidFill>
                  </a:tcPr>
                </a:tc>
                <a:tc>
                  <a:txBody>
                    <a:bodyPr/>
                    <a:lstStyle/>
                    <a:p>
                      <a:pPr algn="ctr" indent="0" marL="0">
                        <a:buNone/>
                      </a:pPr>
                      <a:r>
                        <a:rPr lang="en-US" sz="1800" dirty="0">
                          <a:solidFill>
                            <a:srgbClr val="55556F"/>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91440" marR="91440" marT="45720" marB="45720" anchor="ctr">
                    <a:lnL w="25400" cap="flat" cmpd="sng" algn="ctr">
                      <a:solidFill>
                        <a:srgbClr val="0B0B14"/>
                      </a:solidFill>
                      <a:prstDash val="solid"/>
                      <a:round/>
                      <a:headEnd type="none" w="med" len="med"/>
                      <a:tailEnd type="none" w="med" len="med"/>
                    </a:lnL>
                    <a:lnR w="25400" cap="flat" cmpd="sng" algn="ctr">
                      <a:solidFill>
                        <a:srgbClr val="0B0B14"/>
                      </a:solidFill>
                      <a:prstDash val="solid"/>
                      <a:round/>
                      <a:headEnd type="none" w="med" len="med"/>
                      <a:tailEnd type="none" w="med" len="med"/>
                    </a:lnR>
                    <a:lnT w="25400" cap="flat" cmpd="sng" algn="ctr">
                      <a:solidFill>
                        <a:srgbClr val="0B0B14"/>
                      </a:solidFill>
                      <a:prstDash val="solid"/>
                      <a:round/>
                      <a:headEnd type="none" w="med" len="med"/>
                      <a:tailEnd type="none" w="med" len="med"/>
                    </a:lnT>
                    <a:lnB w="25400" cap="flat" cmpd="sng" algn="ctr">
                      <a:solidFill>
                        <a:srgbClr val="0B0B14"/>
                      </a:solidFill>
                      <a:prstDash val="solid"/>
                      <a:round/>
                      <a:headEnd type="none" w="med" len="med"/>
                      <a:tailEnd type="none" w="med" len="med"/>
                    </a:lnB>
                    <a:solidFill>
                      <a:srgbClr val="171728"/>
                    </a:solidFill>
                  </a:tcPr>
                </a:tc>
                <a:tc>
                  <a:txBody>
                    <a:bodyPr/>
                    <a:lstStyle/>
                    <a:p>
                      <a:pPr algn="ctr" indent="0" marL="0">
                        <a:buNone/>
                      </a:pPr>
                      <a:r>
                        <a:rPr lang="en-US" sz="1800" dirty="0">
                          <a:solidFill>
                            <a:schemeClr val="accent2"/>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91440" marR="91440" marT="45720" marB="45720" anchor="ctr">
                    <a:lnL w="25400" cap="flat" cmpd="sng" algn="ctr">
                      <a:solidFill>
                        <a:srgbClr val="0B0B14"/>
                      </a:solidFill>
                      <a:prstDash val="solid"/>
                      <a:round/>
                      <a:headEnd type="none" w="med" len="med"/>
                      <a:tailEnd type="none" w="med" len="med"/>
                    </a:lnL>
                    <a:lnR w="25400" cap="flat" cmpd="sng" algn="ctr">
                      <a:solidFill>
                        <a:srgbClr val="0B0B14"/>
                      </a:solidFill>
                      <a:prstDash val="solid"/>
                      <a:round/>
                      <a:headEnd type="none" w="med" len="med"/>
                      <a:tailEnd type="none" w="med" len="med"/>
                    </a:lnR>
                    <a:lnT w="25400" cap="flat" cmpd="sng" algn="ctr">
                      <a:solidFill>
                        <a:srgbClr val="0B0B14"/>
                      </a:solidFill>
                      <a:prstDash val="solid"/>
                      <a:round/>
                      <a:headEnd type="none" w="med" len="med"/>
                      <a:tailEnd type="none" w="med" len="med"/>
                    </a:lnT>
                    <a:lnB w="25400" cap="flat" cmpd="sng" algn="ctr">
                      <a:solidFill>
                        <a:srgbClr val="0B0B14"/>
                      </a:solidFill>
                      <a:prstDash val="solid"/>
                      <a:round/>
                      <a:headEnd type="none" w="med" len="med"/>
                      <a:tailEnd type="none" w="med" len="med"/>
                    </a:lnB>
                    <a:solidFill>
                      <a:srgbClr val="16231F"/>
                    </a:solidFill>
                  </a:tcPr>
                </a:tc>
              </a:tr>
              <a:tr h="548640">
                <a:tc>
                  <a:txBody>
                    <a:bodyPr/>
                    <a:lstStyle/>
                    <a:p>
                      <a:pPr indent="0" marL="0">
                        <a:buNone/>
                      </a:pPr>
                      <a:r>
                        <a:rPr lang="en-US" sz="1500" dirty="0">
                          <a:solidFill>
                            <a:schemeClr val="bg2"/>
                          </a:solidFill>
                          <a:latin typeface="Calibri" pitchFamily="34" charset="0"/>
                          <a:ea typeface="Calibri" pitchFamily="34" charset="-122"/>
                          <a:cs typeface="Calibri" pitchFamily="34" charset="-120"/>
                        </a:rPr>
                        <a:t>Governed crypto rollout: cohorts, caps, kill switch</a:t>
                      </a:r>
                      <a:endParaRPr lang="en-US" sz="1500" dirty="0">
                        <a:latin typeface="Calibri" charset="0"/>
                        <a:ea typeface="Calibri" charset="0"/>
                        <a:cs typeface="Calibri" charset="0"/>
                      </a:endParaRPr>
                    </a:p>
                  </a:txBody>
                  <a:tcPr marL="91440" marR="91440" marT="45720" marB="45720" anchor="ctr">
                    <a:lnL w="25400" cap="flat" cmpd="sng" algn="ctr">
                      <a:solidFill>
                        <a:srgbClr val="0B0B14"/>
                      </a:solidFill>
                      <a:prstDash val="solid"/>
                      <a:round/>
                      <a:headEnd type="none" w="med" len="med"/>
                      <a:tailEnd type="none" w="med" len="med"/>
                    </a:lnL>
                    <a:lnR w="25400" cap="flat" cmpd="sng" algn="ctr">
                      <a:solidFill>
                        <a:srgbClr val="0B0B14"/>
                      </a:solidFill>
                      <a:prstDash val="solid"/>
                      <a:round/>
                      <a:headEnd type="none" w="med" len="med"/>
                      <a:tailEnd type="none" w="med" len="med"/>
                    </a:lnR>
                    <a:lnT w="25400" cap="flat" cmpd="sng" algn="ctr">
                      <a:solidFill>
                        <a:srgbClr val="0B0B14"/>
                      </a:solidFill>
                      <a:prstDash val="solid"/>
                      <a:round/>
                      <a:headEnd type="none" w="med" len="med"/>
                      <a:tailEnd type="none" w="med" len="med"/>
                    </a:lnT>
                    <a:lnB w="25400" cap="flat" cmpd="sng" algn="ctr">
                      <a:solidFill>
                        <a:srgbClr val="0B0B14"/>
                      </a:solidFill>
                      <a:prstDash val="solid"/>
                      <a:round/>
                      <a:headEnd type="none" w="med" len="med"/>
                      <a:tailEnd type="none" w="med" len="med"/>
                    </a:lnB>
                    <a:solidFill>
                      <a:srgbClr val="171728"/>
                    </a:solidFill>
                  </a:tcPr>
                </a:tc>
                <a:tc>
                  <a:txBody>
                    <a:bodyPr/>
                    <a:lstStyle/>
                    <a:p>
                      <a:pPr algn="ctr" indent="0" marL="0">
                        <a:buNone/>
                      </a:pPr>
                      <a:r>
                        <a:rPr lang="en-US" sz="1800" dirty="0">
                          <a:solidFill>
                            <a:srgbClr val="55556F"/>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91440" marR="91440" marT="45720" marB="45720" anchor="ctr">
                    <a:lnL w="25400" cap="flat" cmpd="sng" algn="ctr">
                      <a:solidFill>
                        <a:srgbClr val="0B0B14"/>
                      </a:solidFill>
                      <a:prstDash val="solid"/>
                      <a:round/>
                      <a:headEnd type="none" w="med" len="med"/>
                      <a:tailEnd type="none" w="med" len="med"/>
                    </a:lnL>
                    <a:lnR w="25400" cap="flat" cmpd="sng" algn="ctr">
                      <a:solidFill>
                        <a:srgbClr val="0B0B14"/>
                      </a:solidFill>
                      <a:prstDash val="solid"/>
                      <a:round/>
                      <a:headEnd type="none" w="med" len="med"/>
                      <a:tailEnd type="none" w="med" len="med"/>
                    </a:lnR>
                    <a:lnT w="25400" cap="flat" cmpd="sng" algn="ctr">
                      <a:solidFill>
                        <a:srgbClr val="0B0B14"/>
                      </a:solidFill>
                      <a:prstDash val="solid"/>
                      <a:round/>
                      <a:headEnd type="none" w="med" len="med"/>
                      <a:tailEnd type="none" w="med" len="med"/>
                    </a:lnT>
                    <a:lnB w="25400" cap="flat" cmpd="sng" algn="ctr">
                      <a:solidFill>
                        <a:srgbClr val="0B0B14"/>
                      </a:solidFill>
                      <a:prstDash val="solid"/>
                      <a:round/>
                      <a:headEnd type="none" w="med" len="med"/>
                      <a:tailEnd type="none" w="med" len="med"/>
                    </a:lnB>
                    <a:solidFill>
                      <a:srgbClr val="171728"/>
                    </a:solidFill>
                  </a:tcPr>
                </a:tc>
                <a:tc>
                  <a:txBody>
                    <a:bodyPr/>
                    <a:lstStyle/>
                    <a:p>
                      <a:pPr algn="ctr" indent="0" marL="0">
                        <a:buNone/>
                      </a:pPr>
                      <a:r>
                        <a:rPr lang="en-US" sz="1800" dirty="0">
                          <a:solidFill>
                            <a:srgbClr val="55556F"/>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91440" marR="91440" marT="45720" marB="45720" anchor="ctr">
                    <a:lnL w="25400" cap="flat" cmpd="sng" algn="ctr">
                      <a:solidFill>
                        <a:srgbClr val="0B0B14"/>
                      </a:solidFill>
                      <a:prstDash val="solid"/>
                      <a:round/>
                      <a:headEnd type="none" w="med" len="med"/>
                      <a:tailEnd type="none" w="med" len="med"/>
                    </a:lnL>
                    <a:lnR w="25400" cap="flat" cmpd="sng" algn="ctr">
                      <a:solidFill>
                        <a:srgbClr val="0B0B14"/>
                      </a:solidFill>
                      <a:prstDash val="solid"/>
                      <a:round/>
                      <a:headEnd type="none" w="med" len="med"/>
                      <a:tailEnd type="none" w="med" len="med"/>
                    </a:lnR>
                    <a:lnT w="25400" cap="flat" cmpd="sng" algn="ctr">
                      <a:solidFill>
                        <a:srgbClr val="0B0B14"/>
                      </a:solidFill>
                      <a:prstDash val="solid"/>
                      <a:round/>
                      <a:headEnd type="none" w="med" len="med"/>
                      <a:tailEnd type="none" w="med" len="med"/>
                    </a:lnT>
                    <a:lnB w="25400" cap="flat" cmpd="sng" algn="ctr">
                      <a:solidFill>
                        <a:srgbClr val="0B0B14"/>
                      </a:solidFill>
                      <a:prstDash val="solid"/>
                      <a:round/>
                      <a:headEnd type="none" w="med" len="med"/>
                      <a:tailEnd type="none" w="med" len="med"/>
                    </a:lnB>
                    <a:solidFill>
                      <a:srgbClr val="171728"/>
                    </a:solidFill>
                  </a:tcPr>
                </a:tc>
                <a:tc>
                  <a:txBody>
                    <a:bodyPr/>
                    <a:lstStyle/>
                    <a:p>
                      <a:pPr algn="ctr" indent="0" marL="0">
                        <a:buNone/>
                      </a:pPr>
                      <a:r>
                        <a:rPr lang="en-US" sz="1800" dirty="0">
                          <a:solidFill>
                            <a:schemeClr val="accent2"/>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91440" marR="91440" marT="45720" marB="45720" anchor="ctr">
                    <a:lnL w="25400" cap="flat" cmpd="sng" algn="ctr">
                      <a:solidFill>
                        <a:srgbClr val="0B0B14"/>
                      </a:solidFill>
                      <a:prstDash val="solid"/>
                      <a:round/>
                      <a:headEnd type="none" w="med" len="med"/>
                      <a:tailEnd type="none" w="med" len="med"/>
                    </a:lnL>
                    <a:lnR w="25400" cap="flat" cmpd="sng" algn="ctr">
                      <a:solidFill>
                        <a:srgbClr val="0B0B14"/>
                      </a:solidFill>
                      <a:prstDash val="solid"/>
                      <a:round/>
                      <a:headEnd type="none" w="med" len="med"/>
                      <a:tailEnd type="none" w="med" len="med"/>
                    </a:lnR>
                    <a:lnT w="25400" cap="flat" cmpd="sng" algn="ctr">
                      <a:solidFill>
                        <a:srgbClr val="0B0B14"/>
                      </a:solidFill>
                      <a:prstDash val="solid"/>
                      <a:round/>
                      <a:headEnd type="none" w="med" len="med"/>
                      <a:tailEnd type="none" w="med" len="med"/>
                    </a:lnT>
                    <a:lnB w="25400" cap="flat" cmpd="sng" algn="ctr">
                      <a:solidFill>
                        <a:srgbClr val="0B0B14"/>
                      </a:solidFill>
                      <a:prstDash val="solid"/>
                      <a:round/>
                      <a:headEnd type="none" w="med" len="med"/>
                      <a:tailEnd type="none" w="med" len="med"/>
                    </a:lnB>
                    <a:solidFill>
                      <a:srgbClr val="16231F"/>
                    </a:solidFill>
                  </a:tcPr>
                </a:tc>
              </a:tr>
            </a:tbl>
          </a:graphicData>
        </a:graphic>
      </p:graphicFrame>
      <p:sp>
        <p:nvSpPr>
          <p:cNvPr id="6" name="Text 2"/>
          <p:cNvSpPr txBox="1"/>
          <p:nvPr/>
        </p:nvSpPr>
        <p:spPr>
          <a:xfrm>
            <a:off x="548640" y="5715000"/>
            <a:ext cx="7315200" cy="320040"/>
          </a:xfrm>
          <a:prstGeom prst="rect">
            <a:avLst/>
          </a:prstGeom>
          <a:noFill/>
          <a:ln/>
        </p:spPr>
        <p:txBody>
          <a:bodyPr wrap="square" lIns="0" tIns="0" rIns="0" bIns="0" rtlCol="0" anchor="t"/>
          <a:lstStyle/>
          <a:p>
            <a:pPr indent="0" marL="0">
              <a:buNone/>
            </a:pPr>
            <a:r>
              <a:rPr lang="en-US" sz="1200" dirty="0">
                <a:solidFill>
                  <a:schemeClr val="accent6"/>
                </a:solidFill>
              </a:rPr>
              <a:t>●  full     ◐  partial / limited     ○  not offered</a:t>
            </a:r>
            <a:endParaRPr lang="en-US" sz="12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881360" cy="731520"/>
          </a:xfrm>
          <a:prstGeom prst="rect">
            <a:avLst/>
          </a:prstGeom>
          <a:noFill/>
          <a:ln/>
        </p:spPr>
        <p:txBody>
          <a:bodyPr wrap="square" lIns="0" tIns="0" rIns="0" bIns="0" rtlCol="0"/>
          <a:lstStyle/>
          <a:p>
            <a:pPr algn="l" indent="0" marL="0">
              <a:buNone/>
            </a:pPr>
            <a:r>
              <a:rPr lang="en-US" sz="3600" b="1" dirty="0">
                <a:solidFill>
                  <a:schemeClr val="bg1"/>
                </a:solidFill>
              </a:rPr>
              <a:t>Product demo</a:t>
            </a:r>
            <a:endParaRPr lang="en-US" sz="3600" dirty="0"/>
          </a:p>
        </p:txBody>
      </p:sp>
      <p:sp>
        <p:nvSpPr>
          <p:cNvPr id="3" name="Text 0"/>
          <p:cNvSpPr/>
          <p:nvPr>
            <p:ph idx="101" type="body" hasCustomPrompt="1"/>
          </p:nvPr>
        </p:nvSpPr>
        <p:spPr>
          <a:xfrm>
            <a:off x="640080" y="1143000"/>
            <a:ext cx="10881360" cy="457200"/>
          </a:xfrm>
          <a:prstGeom prst="rect">
            <a:avLst/>
          </a:prstGeom>
          <a:noFill/>
          <a:ln/>
        </p:spPr>
        <p:txBody>
          <a:bodyPr wrap="square" lIns="0" tIns="0" rIns="0" bIns="0" rtlCol="0"/>
          <a:lstStyle/>
          <a:p>
            <a:pPr indent="0" marL="0">
              <a:buNone/>
            </a:pPr>
            <a:r>
              <a:rPr lang="en-US" sz="1600" dirty="0">
                <a:solidFill>
                  <a:schemeClr val="accent6"/>
                </a:solidFill>
              </a:rPr>
              <a:t>Login → onboarding → payment link → Solana Pay → rollout → routing → settlement</a:t>
            </a:r>
            <a:endParaRPr lang="en-US" sz="1600" dirty="0"/>
          </a:p>
        </p:txBody>
      </p:sp>
      <p:pic>
        <p:nvPicPr>
          <p:cNvPr id="3" name="KPay demo video">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2624328" y="1783080"/>
            <a:ext cx="6949440" cy="4343400"/>
          </a:xfrm>
          <a:prstGeom prst="rect">
            <a:avLst/>
          </a:prstGeom>
        </p:spPr>
      </p:pic>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64240" cy="685800"/>
          </a:xfrm>
          <a:prstGeom prst="rect">
            <a:avLst/>
          </a:prstGeom>
          <a:noFill/>
          <a:ln/>
        </p:spPr>
        <p:txBody>
          <a:bodyPr wrap="square" lIns="0" tIns="0" rIns="0" bIns="0" rtlCol="0" anchor="ctr"/>
          <a:lstStyle/>
          <a:p>
            <a:pPr algn="l" indent="0" marL="0">
              <a:buNone/>
            </a:pPr>
            <a:r>
              <a:rPr lang="en-US" sz="3600" b="1" dirty="0">
                <a:solidFill>
                  <a:schemeClr val="bg1"/>
                </a:solidFill>
              </a:rPr>
              <a:t>Admin login</a:t>
            </a:r>
            <a:endParaRPr lang="en-US" sz="3600" dirty="0"/>
          </a:p>
        </p:txBody>
      </p:sp>
      <p:sp>
        <p:nvSpPr>
          <p:cNvPr id="3" name="Text 0"/>
          <p:cNvSpPr/>
          <p:nvPr>
            <p:ph idx="101" type="body" hasCustomPrompt="1"/>
          </p:nvPr>
        </p:nvSpPr>
        <p:spPr>
          <a:xfrm>
            <a:off x="548640" y="1024128"/>
            <a:ext cx="11064240" cy="384048"/>
          </a:xfrm>
          <a:prstGeom prst="rect">
            <a:avLst/>
          </a:prstGeom>
          <a:noFill/>
          <a:ln/>
        </p:spPr>
        <p:txBody>
          <a:bodyPr wrap="square" lIns="0" tIns="0" rIns="0" bIns="0" rtlCol="0" anchor="t"/>
          <a:lstStyle/>
          <a:p>
            <a:pPr indent="0" marL="0">
              <a:buNone/>
            </a:pPr>
            <a:r>
              <a:rPr lang="en-US" sz="1600" dirty="0">
                <a:solidFill>
                  <a:schemeClr val="accent6"/>
                </a:solidFill>
              </a:rPr>
              <a:t>One identity source for platform admins and merchants</a:t>
            </a:r>
            <a:endParaRPr lang="en-US" sz="1600" dirty="0"/>
          </a:p>
        </p:txBody>
      </p:sp>
      <p:sp>
        <p:nvSpPr>
          <p:cNvPr id="5" name="Admin login screenshot frame"/>
          <p:cNvSpPr/>
          <p:nvPr/>
        </p:nvSpPr>
        <p:spPr>
          <a:xfrm>
            <a:off x="484632" y="1719072"/>
            <a:ext cx="6711696" cy="4242816"/>
          </a:xfrm>
          <a:prstGeom prst="roundRect">
            <a:avLst>
              <a:gd name="adj" fmla="val 2155"/>
            </a:avLst>
          </a:prstGeom>
          <a:solidFill>
            <a:srgbClr val="1C1C30"/>
          </a:solidFill>
          <a:ln w="15875">
            <a:solidFill>
              <a:srgbClr val="3A2A66"/>
            </a:solidFill>
            <a:prstDash val="solid"/>
          </a:ln>
          <a:effectLst>
            <a:outerShdw sx="100000" sy="100000" kx="0" ky="0" algn="bl" rotWithShape="0" blurRad="177800" dist="50800" dir="5400000">
              <a:srgbClr val="000000">
                <a:alpha val="55000"/>
              </a:srgbClr>
            </a:outerShdw>
          </a:effectLst>
        </p:spPr>
      </p:sp>
      <p:pic>
        <p:nvPicPr>
          <p:cNvPr id="6" name="Admin login screenshot" descr="Admin login screenshot">    </p:cNvPr>
          <p:cNvPicPr>
            <a:picLocks noChangeAspect="1"/>
          </p:cNvPicPr>
          <p:nvPr/>
        </p:nvPicPr>
        <p:blipFill>
          <a:blip r:embed="rId1"/>
          <a:stretch>
            <a:fillRect/>
          </a:stretch>
        </p:blipFill>
        <p:spPr>
          <a:xfrm>
            <a:off x="548640" y="1783080"/>
            <a:ext cx="6583680" cy="4114800"/>
          </a:xfrm>
          <a:prstGeom prst="rect">
            <a:avLst/>
          </a:prstGeom>
        </p:spPr>
      </p:pic>
      <p:pic>
        <p:nvPicPr>
          <p:cNvPr id="7" name="icon FiKey" descr="preencoded.png">    </p:cNvPr>
          <p:cNvPicPr>
            <a:picLocks noChangeAspect="1"/>
          </p:cNvPicPr>
          <p:nvPr/>
        </p:nvPicPr>
        <p:blipFill>
          <a:blip r:embed="rId2"/>
          <a:stretch>
            <a:fillRect/>
          </a:stretch>
        </p:blipFill>
        <p:spPr>
          <a:xfrm>
            <a:off x="7589520" y="1828800"/>
            <a:ext cx="457200" cy="457200"/>
          </a:xfrm>
          <a:prstGeom prst="rect">
            <a:avLst/>
          </a:prstGeom>
        </p:spPr>
      </p:pic>
      <p:sp>
        <p:nvSpPr>
          <p:cNvPr id="8" name="row Unified login"/>
          <p:cNvSpPr txBox="1"/>
          <p:nvPr/>
        </p:nvSpPr>
        <p:spPr>
          <a:xfrm>
            <a:off x="8229600" y="1792224"/>
            <a:ext cx="3383280" cy="932688"/>
          </a:xfrm>
          <a:prstGeom prst="rect">
            <a:avLst/>
          </a:prstGeom>
          <a:noFill/>
          <a:ln/>
        </p:spPr>
        <p:txBody>
          <a:bodyPr wrap="square" lIns="0" tIns="0" rIns="0" bIns="0" rtlCol="0" anchor="t"/>
          <a:lstStyle/>
          <a:p>
            <a:pPr indent="0" marL="0">
              <a:buNone/>
            </a:pPr>
            <a:r>
              <a:rPr lang="en-US" sz="1600" b="1" dirty="0">
                <a:solidFill>
                  <a:schemeClr val="bg1"/>
                </a:solidFill>
              </a:rPr>
              <a:t>Unified login</a:t>
            </a:r>
            <a:endParaRPr lang="en-US" sz="1500" dirty="0"/>
          </a:p>
          <a:p>
            <a:pPr indent="0" marL="0">
              <a:buNone/>
            </a:pPr>
            <a:r>
              <a:rPr lang="en-US" sz="1400" dirty="0">
                <a:solidFill>
                  <a:schemeClr val="accent6"/>
                </a:solidFill>
              </a:rPr>
              <a:t>One URL resolves admin and merchant contexts</a:t>
            </a:r>
            <a:endParaRPr lang="en-US" sz="1500" dirty="0"/>
          </a:p>
        </p:txBody>
      </p:sp>
      <p:pic>
        <p:nvPicPr>
          <p:cNvPr id="9" name="icon FiShield" descr="preencoded.png">    </p:cNvPr>
          <p:cNvPicPr>
            <a:picLocks noChangeAspect="1"/>
          </p:cNvPicPr>
          <p:nvPr/>
        </p:nvPicPr>
        <p:blipFill>
          <a:blip r:embed="rId3"/>
          <a:stretch>
            <a:fillRect/>
          </a:stretch>
        </p:blipFill>
        <p:spPr>
          <a:xfrm>
            <a:off x="7589520" y="2852928"/>
            <a:ext cx="457200" cy="457200"/>
          </a:xfrm>
          <a:prstGeom prst="rect">
            <a:avLst/>
          </a:prstGeom>
        </p:spPr>
      </p:pic>
      <p:sp>
        <p:nvSpPr>
          <p:cNvPr id="10" name="row Argon2 + lockout"/>
          <p:cNvSpPr txBox="1"/>
          <p:nvPr/>
        </p:nvSpPr>
        <p:spPr>
          <a:xfrm>
            <a:off x="8229600" y="2816352"/>
            <a:ext cx="3383280" cy="932688"/>
          </a:xfrm>
          <a:prstGeom prst="rect">
            <a:avLst/>
          </a:prstGeom>
          <a:noFill/>
          <a:ln/>
        </p:spPr>
        <p:txBody>
          <a:bodyPr wrap="square" lIns="0" tIns="0" rIns="0" bIns="0" rtlCol="0" anchor="t"/>
          <a:lstStyle/>
          <a:p>
            <a:pPr indent="0" marL="0">
              <a:buNone/>
            </a:pPr>
            <a:r>
              <a:rPr lang="en-US" sz="1600" b="1" dirty="0">
                <a:solidFill>
                  <a:schemeClr val="bg1"/>
                </a:solidFill>
              </a:rPr>
              <a:t>Argon2 + lockout</a:t>
            </a:r>
            <a:endParaRPr lang="en-US" sz="1500" dirty="0"/>
          </a:p>
          <a:p>
            <a:pPr indent="0" marL="0">
              <a:buNone/>
            </a:pPr>
            <a:r>
              <a:rPr lang="en-US" sz="1400" dirty="0">
                <a:solidFill>
                  <a:schemeClr val="accent6"/>
                </a:solidFill>
              </a:rPr>
              <a:t>Brute-force protection on every account</a:t>
            </a:r>
            <a:endParaRPr lang="en-US" sz="1500" dirty="0"/>
          </a:p>
        </p:txBody>
      </p:sp>
      <p:pic>
        <p:nvPicPr>
          <p:cNvPr id="11" name="icon FiSmartphone" descr="preencoded.png">    </p:cNvPr>
          <p:cNvPicPr>
            <a:picLocks noChangeAspect="1"/>
          </p:cNvPicPr>
          <p:nvPr/>
        </p:nvPicPr>
        <p:blipFill>
          <a:blip r:embed="rId4"/>
          <a:stretch>
            <a:fillRect/>
          </a:stretch>
        </p:blipFill>
        <p:spPr>
          <a:xfrm>
            <a:off x="7589520" y="3877056"/>
            <a:ext cx="457200" cy="457200"/>
          </a:xfrm>
          <a:prstGeom prst="rect">
            <a:avLst/>
          </a:prstGeom>
        </p:spPr>
      </p:pic>
      <p:sp>
        <p:nvSpPr>
          <p:cNvPr id="12" name="row MFA enforced"/>
          <p:cNvSpPr txBox="1"/>
          <p:nvPr/>
        </p:nvSpPr>
        <p:spPr>
          <a:xfrm>
            <a:off x="8229600" y="3840480"/>
            <a:ext cx="3383280" cy="932688"/>
          </a:xfrm>
          <a:prstGeom prst="rect">
            <a:avLst/>
          </a:prstGeom>
          <a:noFill/>
          <a:ln/>
        </p:spPr>
        <p:txBody>
          <a:bodyPr wrap="square" lIns="0" tIns="0" rIns="0" bIns="0" rtlCol="0" anchor="t"/>
          <a:lstStyle/>
          <a:p>
            <a:pPr indent="0" marL="0">
              <a:buNone/>
            </a:pPr>
            <a:r>
              <a:rPr lang="en-US" sz="1600" b="1" dirty="0">
                <a:solidFill>
                  <a:schemeClr val="bg1"/>
                </a:solidFill>
              </a:rPr>
              <a:t>MFA enforced</a:t>
            </a:r>
            <a:endParaRPr lang="en-US" sz="1500" dirty="0"/>
          </a:p>
          <a:p>
            <a:pPr indent="0" marL="0">
              <a:buNone/>
            </a:pPr>
            <a:r>
              <a:rPr lang="en-US" sz="1400" dirty="0">
                <a:solidFill>
                  <a:schemeClr val="accent6"/>
                </a:solidFill>
              </a:rPr>
              <a:t>TOTP or WebAuthn for every admin</a:t>
            </a:r>
            <a:endParaRPr lang="en-US" sz="1500" dirty="0"/>
          </a:p>
        </p:txBody>
      </p:sp>
      <p:pic>
        <p:nvPicPr>
          <p:cNvPr id="13" name="icon FiUsers" descr="preencoded.png">    </p:cNvPr>
          <p:cNvPicPr>
            <a:picLocks noChangeAspect="1"/>
          </p:cNvPicPr>
          <p:nvPr/>
        </p:nvPicPr>
        <p:blipFill>
          <a:blip r:embed="rId5"/>
          <a:stretch>
            <a:fillRect/>
          </a:stretch>
        </p:blipFill>
        <p:spPr>
          <a:xfrm>
            <a:off x="7589520" y="4901184"/>
            <a:ext cx="457200" cy="457200"/>
          </a:xfrm>
          <a:prstGeom prst="rect">
            <a:avLst/>
          </a:prstGeom>
        </p:spPr>
      </p:pic>
      <p:sp>
        <p:nvSpPr>
          <p:cNvPr id="14" name="row Roles + IP rules"/>
          <p:cNvSpPr txBox="1"/>
          <p:nvPr/>
        </p:nvSpPr>
        <p:spPr>
          <a:xfrm>
            <a:off x="8229600" y="4864608"/>
            <a:ext cx="3383280" cy="932688"/>
          </a:xfrm>
          <a:prstGeom prst="rect">
            <a:avLst/>
          </a:prstGeom>
          <a:noFill/>
          <a:ln/>
        </p:spPr>
        <p:txBody>
          <a:bodyPr wrap="square" lIns="0" tIns="0" rIns="0" bIns="0" rtlCol="0" anchor="t"/>
          <a:lstStyle/>
          <a:p>
            <a:pPr indent="0" marL="0">
              <a:buNone/>
            </a:pPr>
            <a:r>
              <a:rPr lang="en-US" sz="1600" b="1" dirty="0">
                <a:solidFill>
                  <a:schemeClr val="bg1"/>
                </a:solidFill>
              </a:rPr>
              <a:t>Roles + IP rules</a:t>
            </a:r>
            <a:endParaRPr lang="en-US" sz="1500" dirty="0"/>
          </a:p>
          <a:p>
            <a:pPr indent="0" marL="0">
              <a:buNone/>
            </a:pPr>
            <a:r>
              <a:rPr lang="en-US" sz="1400" dirty="0">
                <a:solidFill>
                  <a:schemeClr val="accent6"/>
                </a:solidFill>
              </a:rPr>
              <a:t>Five platform roles, IP allow-list</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64240" cy="685800"/>
          </a:xfrm>
          <a:prstGeom prst="rect">
            <a:avLst/>
          </a:prstGeom>
          <a:noFill/>
          <a:ln/>
        </p:spPr>
        <p:txBody>
          <a:bodyPr wrap="square" lIns="0" tIns="0" rIns="0" bIns="0" rtlCol="0" anchor="ctr"/>
          <a:lstStyle/>
          <a:p>
            <a:pPr algn="l" indent="0" marL="0">
              <a:buNone/>
            </a:pPr>
            <a:r>
              <a:rPr lang="en-US" sz="3600" b="1" dirty="0">
                <a:solidFill>
                  <a:schemeClr val="bg1"/>
                </a:solidFill>
              </a:rPr>
              <a:t>Merchant onboarding</a:t>
            </a:r>
            <a:endParaRPr lang="en-US" sz="3600" dirty="0"/>
          </a:p>
        </p:txBody>
      </p:sp>
      <p:sp>
        <p:nvSpPr>
          <p:cNvPr id="3" name="Text 0"/>
          <p:cNvSpPr/>
          <p:nvPr>
            <p:ph idx="101" type="body" hasCustomPrompt="1"/>
          </p:nvPr>
        </p:nvSpPr>
        <p:spPr>
          <a:xfrm>
            <a:off x="548640" y="1024128"/>
            <a:ext cx="11064240" cy="384048"/>
          </a:xfrm>
          <a:prstGeom prst="rect">
            <a:avLst/>
          </a:prstGeom>
          <a:noFill/>
          <a:ln/>
        </p:spPr>
        <p:txBody>
          <a:bodyPr wrap="square" lIns="0" tIns="0" rIns="0" bIns="0" rtlCol="0" anchor="t"/>
          <a:lstStyle/>
          <a:p>
            <a:pPr indent="0" marL="0">
              <a:buNone/>
            </a:pPr>
            <a:r>
              <a:rPr lang="en-US" sz="1600" dirty="0">
                <a:solidFill>
                  <a:schemeClr val="accent6"/>
                </a:solidFill>
              </a:rPr>
              <a:t>Four guided steps, then a mandatory admin approval</a:t>
            </a:r>
            <a:endParaRPr lang="en-US" sz="1600" dirty="0"/>
          </a:p>
        </p:txBody>
      </p:sp>
      <p:sp>
        <p:nvSpPr>
          <p:cNvPr id="5" name="onboarding step 1 frame"/>
          <p:cNvSpPr/>
          <p:nvPr/>
        </p:nvSpPr>
        <p:spPr>
          <a:xfrm>
            <a:off x="484632" y="1673352"/>
            <a:ext cx="3419856" cy="2185416"/>
          </a:xfrm>
          <a:prstGeom prst="roundRect">
            <a:avLst>
              <a:gd name="adj" fmla="val 4184"/>
            </a:avLst>
          </a:prstGeom>
          <a:solidFill>
            <a:srgbClr val="1C1C30"/>
          </a:solidFill>
          <a:ln w="15875">
            <a:solidFill>
              <a:srgbClr val="3A2A66"/>
            </a:solidFill>
            <a:prstDash val="solid"/>
          </a:ln>
          <a:effectLst>
            <a:outerShdw sx="100000" sy="100000" kx="0" ky="0" algn="bl" rotWithShape="0" blurRad="177800" dist="50800" dir="5400000">
              <a:srgbClr val="000000">
                <a:alpha val="55000"/>
              </a:srgbClr>
            </a:outerShdw>
          </a:effectLst>
        </p:spPr>
      </p:sp>
      <p:pic>
        <p:nvPicPr>
          <p:cNvPr id="6" name="onboarding step 1" descr="onboarding step 1">    </p:cNvPr>
          <p:cNvPicPr>
            <a:picLocks noChangeAspect="1"/>
          </p:cNvPicPr>
          <p:nvPr/>
        </p:nvPicPr>
        <p:blipFill>
          <a:blip r:embed="rId1"/>
          <a:stretch>
            <a:fillRect/>
          </a:stretch>
        </p:blipFill>
        <p:spPr>
          <a:xfrm>
            <a:off x="548640" y="1737360"/>
            <a:ext cx="3291840" cy="2057400"/>
          </a:xfrm>
          <a:prstGeom prst="rect">
            <a:avLst/>
          </a:prstGeom>
        </p:spPr>
      </p:pic>
      <p:sp>
        <p:nvSpPr>
          <p:cNvPr id="7" name="onboarding step 2 frame"/>
          <p:cNvSpPr/>
          <p:nvPr/>
        </p:nvSpPr>
        <p:spPr>
          <a:xfrm>
            <a:off x="4005072" y="1673352"/>
            <a:ext cx="3419856" cy="2185416"/>
          </a:xfrm>
          <a:prstGeom prst="roundRect">
            <a:avLst>
              <a:gd name="adj" fmla="val 4184"/>
            </a:avLst>
          </a:prstGeom>
          <a:solidFill>
            <a:srgbClr val="1C1C30"/>
          </a:solidFill>
          <a:ln w="15875">
            <a:solidFill>
              <a:srgbClr val="3A2A66"/>
            </a:solidFill>
            <a:prstDash val="solid"/>
          </a:ln>
          <a:effectLst>
            <a:outerShdw sx="100000" sy="100000" kx="0" ky="0" algn="bl" rotWithShape="0" blurRad="177800" dist="50800" dir="5400000">
              <a:srgbClr val="000000">
                <a:alpha val="55000"/>
              </a:srgbClr>
            </a:outerShdw>
          </a:effectLst>
        </p:spPr>
      </p:sp>
      <p:pic>
        <p:nvPicPr>
          <p:cNvPr id="8" name="onboarding step 2" descr="onboarding step 2">    </p:cNvPr>
          <p:cNvPicPr>
            <a:picLocks noChangeAspect="1"/>
          </p:cNvPicPr>
          <p:nvPr/>
        </p:nvPicPr>
        <p:blipFill>
          <a:blip r:embed="rId2"/>
          <a:stretch>
            <a:fillRect/>
          </a:stretch>
        </p:blipFill>
        <p:spPr>
          <a:xfrm>
            <a:off x="4069080" y="1737360"/>
            <a:ext cx="3291840" cy="2057400"/>
          </a:xfrm>
          <a:prstGeom prst="rect">
            <a:avLst/>
          </a:prstGeom>
        </p:spPr>
      </p:pic>
      <p:sp>
        <p:nvSpPr>
          <p:cNvPr id="9" name="onboarding step 3 frame"/>
          <p:cNvSpPr/>
          <p:nvPr/>
        </p:nvSpPr>
        <p:spPr>
          <a:xfrm>
            <a:off x="484632" y="3959352"/>
            <a:ext cx="3419856" cy="2185416"/>
          </a:xfrm>
          <a:prstGeom prst="roundRect">
            <a:avLst>
              <a:gd name="adj" fmla="val 4184"/>
            </a:avLst>
          </a:prstGeom>
          <a:solidFill>
            <a:srgbClr val="1C1C30"/>
          </a:solidFill>
          <a:ln w="15875">
            <a:solidFill>
              <a:srgbClr val="3A2A66"/>
            </a:solidFill>
            <a:prstDash val="solid"/>
          </a:ln>
          <a:effectLst>
            <a:outerShdw sx="100000" sy="100000" kx="0" ky="0" algn="bl" rotWithShape="0" blurRad="177800" dist="50800" dir="5400000">
              <a:srgbClr val="000000">
                <a:alpha val="55000"/>
              </a:srgbClr>
            </a:outerShdw>
          </a:effectLst>
        </p:spPr>
      </p:sp>
      <p:pic>
        <p:nvPicPr>
          <p:cNvPr id="10" name="onboarding step 3" descr="onboarding step 3">    </p:cNvPr>
          <p:cNvPicPr>
            <a:picLocks noChangeAspect="1"/>
          </p:cNvPicPr>
          <p:nvPr/>
        </p:nvPicPr>
        <p:blipFill>
          <a:blip r:embed="rId3"/>
          <a:stretch>
            <a:fillRect/>
          </a:stretch>
        </p:blipFill>
        <p:spPr>
          <a:xfrm>
            <a:off x="548640" y="4023360"/>
            <a:ext cx="3291840" cy="2057400"/>
          </a:xfrm>
          <a:prstGeom prst="rect">
            <a:avLst/>
          </a:prstGeom>
        </p:spPr>
      </p:pic>
      <p:sp>
        <p:nvSpPr>
          <p:cNvPr id="11" name="onboarding step 4 frame"/>
          <p:cNvSpPr/>
          <p:nvPr/>
        </p:nvSpPr>
        <p:spPr>
          <a:xfrm>
            <a:off x="4005072" y="3959352"/>
            <a:ext cx="3419856" cy="2185416"/>
          </a:xfrm>
          <a:prstGeom prst="roundRect">
            <a:avLst>
              <a:gd name="adj" fmla="val 4184"/>
            </a:avLst>
          </a:prstGeom>
          <a:solidFill>
            <a:srgbClr val="1C1C30"/>
          </a:solidFill>
          <a:ln w="15875">
            <a:solidFill>
              <a:srgbClr val="3A2A66"/>
            </a:solidFill>
            <a:prstDash val="solid"/>
          </a:ln>
          <a:effectLst>
            <a:outerShdw sx="100000" sy="100000" kx="0" ky="0" algn="bl" rotWithShape="0" blurRad="177800" dist="50800" dir="5400000">
              <a:srgbClr val="000000">
                <a:alpha val="55000"/>
              </a:srgbClr>
            </a:outerShdw>
          </a:effectLst>
        </p:spPr>
      </p:sp>
      <p:pic>
        <p:nvPicPr>
          <p:cNvPr id="12" name="onboarding step 4" descr="onboarding step 4">    </p:cNvPr>
          <p:cNvPicPr>
            <a:picLocks noChangeAspect="1"/>
          </p:cNvPicPr>
          <p:nvPr/>
        </p:nvPicPr>
        <p:blipFill>
          <a:blip r:embed="rId4"/>
          <a:stretch>
            <a:fillRect/>
          </a:stretch>
        </p:blipFill>
        <p:spPr>
          <a:xfrm>
            <a:off x="4069080" y="4023360"/>
            <a:ext cx="3291840" cy="2057400"/>
          </a:xfrm>
          <a:prstGeom prst="rect">
            <a:avLst/>
          </a:prstGeom>
        </p:spPr>
      </p:pic>
      <p:pic>
        <p:nvPicPr>
          <p:cNvPr id="13" name="icon FiFileText" descr="preencoded.png">    </p:cNvPr>
          <p:cNvPicPr>
            <a:picLocks noChangeAspect="1"/>
          </p:cNvPicPr>
          <p:nvPr/>
        </p:nvPicPr>
        <p:blipFill>
          <a:blip r:embed="rId5"/>
          <a:stretch>
            <a:fillRect/>
          </a:stretch>
        </p:blipFill>
        <p:spPr>
          <a:xfrm>
            <a:off x="7726680" y="1783080"/>
            <a:ext cx="457200" cy="457200"/>
          </a:xfrm>
          <a:prstGeom prst="rect">
            <a:avLst/>
          </a:prstGeom>
        </p:spPr>
      </p:pic>
      <p:sp>
        <p:nvSpPr>
          <p:cNvPr id="14" name="row 1 · Business profile"/>
          <p:cNvSpPr txBox="1"/>
          <p:nvPr/>
        </p:nvSpPr>
        <p:spPr>
          <a:xfrm>
            <a:off x="8366760" y="1746504"/>
            <a:ext cx="3246120" cy="777240"/>
          </a:xfrm>
          <a:prstGeom prst="rect">
            <a:avLst/>
          </a:prstGeom>
          <a:noFill/>
          <a:ln/>
        </p:spPr>
        <p:txBody>
          <a:bodyPr wrap="square" lIns="0" tIns="0" rIns="0" bIns="0" rtlCol="0" anchor="t"/>
          <a:lstStyle/>
          <a:p>
            <a:pPr indent="0" marL="0">
              <a:buNone/>
            </a:pPr>
            <a:r>
              <a:rPr lang="en-US" sz="1600" b="1" dirty="0">
                <a:solidFill>
                  <a:schemeClr val="bg1"/>
                </a:solidFill>
              </a:rPr>
              <a:t>1 · Business profile</a:t>
            </a:r>
            <a:endParaRPr lang="en-US" sz="1500" dirty="0"/>
          </a:p>
          <a:p>
            <a:pPr indent="0" marL="0">
              <a:buNone/>
            </a:pPr>
            <a:r>
              <a:rPr lang="en-US" sz="1400" dirty="0">
                <a:solidFill>
                  <a:schemeClr val="accent6"/>
                </a:solidFill>
              </a:rPr>
              <a:t>Legal entity, MCC, expected volume</a:t>
            </a:r>
            <a:endParaRPr lang="en-US" sz="1500" dirty="0"/>
          </a:p>
        </p:txBody>
      </p:sp>
      <p:pic>
        <p:nvPicPr>
          <p:cNvPr id="15" name="icon FiUploadCloud" descr="preencoded.png">    </p:cNvPr>
          <p:cNvPicPr>
            <a:picLocks noChangeAspect="1"/>
          </p:cNvPicPr>
          <p:nvPr/>
        </p:nvPicPr>
        <p:blipFill>
          <a:blip r:embed="rId6"/>
          <a:stretch>
            <a:fillRect/>
          </a:stretch>
        </p:blipFill>
        <p:spPr>
          <a:xfrm>
            <a:off x="7726680" y="2651760"/>
            <a:ext cx="457200" cy="457200"/>
          </a:xfrm>
          <a:prstGeom prst="rect">
            <a:avLst/>
          </a:prstGeom>
        </p:spPr>
      </p:pic>
      <p:sp>
        <p:nvSpPr>
          <p:cNvPr id="16" name="row 2 · KYC documents"/>
          <p:cNvSpPr txBox="1"/>
          <p:nvPr/>
        </p:nvSpPr>
        <p:spPr>
          <a:xfrm>
            <a:off x="8366760" y="2615184"/>
            <a:ext cx="3246120" cy="777240"/>
          </a:xfrm>
          <a:prstGeom prst="rect">
            <a:avLst/>
          </a:prstGeom>
          <a:noFill/>
          <a:ln/>
        </p:spPr>
        <p:txBody>
          <a:bodyPr wrap="square" lIns="0" tIns="0" rIns="0" bIns="0" rtlCol="0" anchor="t"/>
          <a:lstStyle/>
          <a:p>
            <a:pPr indent="0" marL="0">
              <a:buNone/>
            </a:pPr>
            <a:r>
              <a:rPr lang="en-US" sz="1600" b="1" dirty="0">
                <a:solidFill>
                  <a:schemeClr val="bg1"/>
                </a:solidFill>
              </a:rPr>
              <a:t>2 · KYC documents</a:t>
            </a:r>
            <a:endParaRPr lang="en-US" sz="1500" dirty="0"/>
          </a:p>
          <a:p>
            <a:pPr indent="0" marL="0">
              <a:buNone/>
            </a:pPr>
            <a:r>
              <a:rPr lang="en-US" sz="1400" dirty="0">
                <a:solidFill>
                  <a:schemeClr val="accent6"/>
                </a:solidFill>
              </a:rPr>
              <a:t>OCR, liveness, sanctions and UBO checks</a:t>
            </a:r>
            <a:endParaRPr lang="en-US" sz="1500" dirty="0"/>
          </a:p>
        </p:txBody>
      </p:sp>
      <p:pic>
        <p:nvPicPr>
          <p:cNvPr id="17" name="icon FiSliders" descr="preencoded.png">    </p:cNvPr>
          <p:cNvPicPr>
            <a:picLocks noChangeAspect="1"/>
          </p:cNvPicPr>
          <p:nvPr/>
        </p:nvPicPr>
        <p:blipFill>
          <a:blip r:embed="rId7"/>
          <a:stretch>
            <a:fillRect/>
          </a:stretch>
        </p:blipFill>
        <p:spPr>
          <a:xfrm>
            <a:off x="7726680" y="3520440"/>
            <a:ext cx="457200" cy="457200"/>
          </a:xfrm>
          <a:prstGeom prst="rect">
            <a:avLst/>
          </a:prstGeom>
        </p:spPr>
      </p:pic>
      <p:sp>
        <p:nvSpPr>
          <p:cNvPr id="18" name="row 3 · Methods &amp; processors"/>
          <p:cNvSpPr txBox="1"/>
          <p:nvPr/>
        </p:nvSpPr>
        <p:spPr>
          <a:xfrm>
            <a:off x="8366760" y="3483864"/>
            <a:ext cx="3246120" cy="777240"/>
          </a:xfrm>
          <a:prstGeom prst="rect">
            <a:avLst/>
          </a:prstGeom>
          <a:noFill/>
          <a:ln/>
        </p:spPr>
        <p:txBody>
          <a:bodyPr wrap="square" lIns="0" tIns="0" rIns="0" bIns="0" rtlCol="0" anchor="t"/>
          <a:lstStyle/>
          <a:p>
            <a:pPr indent="0" marL="0">
              <a:buNone/>
            </a:pPr>
            <a:r>
              <a:rPr lang="en-US" sz="1600" b="1" dirty="0">
                <a:solidFill>
                  <a:schemeClr val="bg1"/>
                </a:solidFill>
              </a:rPr>
              <a:t>3 · Methods &amp; processors</a:t>
            </a:r>
            <a:endParaRPr lang="en-US" sz="1500" dirty="0"/>
          </a:p>
          <a:p>
            <a:pPr indent="0" marL="0">
              <a:buNone/>
            </a:pPr>
            <a:r>
              <a:rPr lang="en-US" sz="1400" dirty="0">
                <a:solidFill>
                  <a:schemeClr val="accent6"/>
                </a:solidFill>
              </a:rPr>
              <a:t>Card, UPI, Solana Pay, with failover order</a:t>
            </a:r>
            <a:endParaRPr lang="en-US" sz="1500" dirty="0"/>
          </a:p>
        </p:txBody>
      </p:sp>
      <p:pic>
        <p:nvPicPr>
          <p:cNvPr id="19" name="icon FiZap" descr="preencoded.png">    </p:cNvPr>
          <p:cNvPicPr>
            <a:picLocks noChangeAspect="1"/>
          </p:cNvPicPr>
          <p:nvPr/>
        </p:nvPicPr>
        <p:blipFill>
          <a:blip r:embed="rId8"/>
          <a:stretch>
            <a:fillRect/>
          </a:stretch>
        </p:blipFill>
        <p:spPr>
          <a:xfrm>
            <a:off x="7726680" y="4389120"/>
            <a:ext cx="457200" cy="457200"/>
          </a:xfrm>
          <a:prstGeom prst="rect">
            <a:avLst/>
          </a:prstGeom>
        </p:spPr>
      </p:pic>
      <p:sp>
        <p:nvSpPr>
          <p:cNvPr id="20" name="row 4 · Solana settlement"/>
          <p:cNvSpPr txBox="1"/>
          <p:nvPr/>
        </p:nvSpPr>
        <p:spPr>
          <a:xfrm>
            <a:off x="8366760" y="4352544"/>
            <a:ext cx="3246120" cy="777240"/>
          </a:xfrm>
          <a:prstGeom prst="rect">
            <a:avLst/>
          </a:prstGeom>
          <a:noFill/>
          <a:ln/>
        </p:spPr>
        <p:txBody>
          <a:bodyPr wrap="square" lIns="0" tIns="0" rIns="0" bIns="0" rtlCol="0" anchor="t"/>
          <a:lstStyle/>
          <a:p>
            <a:pPr indent="0" marL="0">
              <a:buNone/>
            </a:pPr>
            <a:r>
              <a:rPr lang="en-US" sz="1600" b="1" dirty="0">
                <a:solidFill>
                  <a:schemeClr val="bg1"/>
                </a:solidFill>
              </a:rPr>
              <a:t>4 · Solana settlement</a:t>
            </a:r>
            <a:endParaRPr lang="en-US" sz="1500" dirty="0"/>
          </a:p>
          <a:p>
            <a:pPr indent="0" marL="0">
              <a:buNone/>
            </a:pPr>
            <a:r>
              <a:rPr lang="en-US" sz="1400" dirty="0">
                <a:solidFill>
                  <a:schemeClr val="accent6"/>
                </a:solidFill>
              </a:rPr>
              <a:t>Merchant wallet verified on-chain</a:t>
            </a:r>
            <a:endParaRPr lang="en-US" sz="1500" dirty="0"/>
          </a:p>
        </p:txBody>
      </p:sp>
      <p:pic>
        <p:nvPicPr>
          <p:cNvPr id="21" name="icon FiCheckCircle" descr="preencoded.png">    </p:cNvPr>
          <p:cNvPicPr>
            <a:picLocks noChangeAspect="1"/>
          </p:cNvPicPr>
          <p:nvPr/>
        </p:nvPicPr>
        <p:blipFill>
          <a:blip r:embed="rId9"/>
          <a:stretch>
            <a:fillRect/>
          </a:stretch>
        </p:blipFill>
        <p:spPr>
          <a:xfrm>
            <a:off x="7726680" y="5257800"/>
            <a:ext cx="457200" cy="457200"/>
          </a:xfrm>
          <a:prstGeom prst="rect">
            <a:avLst/>
          </a:prstGeom>
        </p:spPr>
      </p:pic>
      <p:sp>
        <p:nvSpPr>
          <p:cNvPr id="22" name="row Admin approves"/>
          <p:cNvSpPr txBox="1"/>
          <p:nvPr/>
        </p:nvSpPr>
        <p:spPr>
          <a:xfrm>
            <a:off x="8366760" y="5221224"/>
            <a:ext cx="3246120" cy="777240"/>
          </a:xfrm>
          <a:prstGeom prst="rect">
            <a:avLst/>
          </a:prstGeom>
          <a:noFill/>
          <a:ln/>
        </p:spPr>
        <p:txBody>
          <a:bodyPr wrap="square" lIns="0" tIns="0" rIns="0" bIns="0" rtlCol="0" anchor="t"/>
          <a:lstStyle/>
          <a:p>
            <a:pPr indent="0" marL="0">
              <a:buNone/>
            </a:pPr>
            <a:r>
              <a:rPr lang="en-US" sz="1600" b="1" dirty="0">
                <a:solidFill>
                  <a:schemeClr val="bg1"/>
                </a:solidFill>
              </a:rPr>
              <a:t>Admin approves</a:t>
            </a:r>
            <a:endParaRPr lang="en-US" sz="1500" dirty="0"/>
          </a:p>
          <a:p>
            <a:pPr indent="0" marL="0">
              <a:buNone/>
            </a:pPr>
            <a:r>
              <a:rPr lang="en-US" sz="1400" dirty="0">
                <a:solidFill>
                  <a:schemeClr val="accent6"/>
                </a:solidFill>
              </a:rPr>
              <a:t>Maker-checker gate, then the merchant goes live</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64240" cy="685800"/>
          </a:xfrm>
          <a:prstGeom prst="rect">
            <a:avLst/>
          </a:prstGeom>
          <a:noFill/>
          <a:ln/>
        </p:spPr>
        <p:txBody>
          <a:bodyPr wrap="square" lIns="0" tIns="0" rIns="0" bIns="0" rtlCol="0" anchor="ctr"/>
          <a:lstStyle/>
          <a:p>
            <a:pPr algn="l" indent="0" marL="0">
              <a:buNone/>
            </a:pPr>
            <a:r>
              <a:rPr lang="en-US" sz="3600" b="1" dirty="0">
                <a:solidFill>
                  <a:schemeClr val="bg1"/>
                </a:solidFill>
              </a:rPr>
              <a:t>Payment link creation</a:t>
            </a:r>
            <a:endParaRPr lang="en-US" sz="3600" dirty="0"/>
          </a:p>
        </p:txBody>
      </p:sp>
      <p:sp>
        <p:nvSpPr>
          <p:cNvPr id="3" name="Text 0"/>
          <p:cNvSpPr/>
          <p:nvPr>
            <p:ph idx="101" type="body" hasCustomPrompt="1"/>
          </p:nvPr>
        </p:nvSpPr>
        <p:spPr>
          <a:xfrm>
            <a:off x="548640" y="1024128"/>
            <a:ext cx="11064240" cy="384048"/>
          </a:xfrm>
          <a:prstGeom prst="rect">
            <a:avLst/>
          </a:prstGeom>
          <a:noFill/>
          <a:ln/>
        </p:spPr>
        <p:txBody>
          <a:bodyPr wrap="square" lIns="0" tIns="0" rIns="0" bIns="0" rtlCol="0" anchor="t"/>
          <a:lstStyle/>
          <a:p>
            <a:pPr indent="0" marL="0">
              <a:buNone/>
            </a:pPr>
            <a:r>
              <a:rPr lang="en-US" sz="1600" dirty="0">
                <a:solidFill>
                  <a:schemeClr val="accent6"/>
                </a:solidFill>
              </a:rPr>
              <a:t>No-code links in the console, or one API call</a:t>
            </a:r>
            <a:endParaRPr lang="en-US" sz="1600" dirty="0"/>
          </a:p>
        </p:txBody>
      </p:sp>
      <p:sp>
        <p:nvSpPr>
          <p:cNvPr id="5" name="Payment link created screenshot frame"/>
          <p:cNvSpPr/>
          <p:nvPr/>
        </p:nvSpPr>
        <p:spPr>
          <a:xfrm>
            <a:off x="484632" y="1719072"/>
            <a:ext cx="5568696" cy="3528441"/>
          </a:xfrm>
          <a:prstGeom prst="roundRect">
            <a:avLst>
              <a:gd name="adj" fmla="val 2592"/>
            </a:avLst>
          </a:prstGeom>
          <a:solidFill>
            <a:srgbClr val="1C1C30"/>
          </a:solidFill>
          <a:ln w="15875">
            <a:solidFill>
              <a:srgbClr val="3A2A66"/>
            </a:solidFill>
            <a:prstDash val="solid"/>
          </a:ln>
          <a:effectLst>
            <a:outerShdw sx="100000" sy="100000" kx="0" ky="0" algn="bl" rotWithShape="0" blurRad="177800" dist="50800" dir="5400000">
              <a:srgbClr val="000000">
                <a:alpha val="55000"/>
              </a:srgbClr>
            </a:outerShdw>
          </a:effectLst>
        </p:spPr>
      </p:sp>
      <p:pic>
        <p:nvPicPr>
          <p:cNvPr id="6" name="Payment link created screenshot" descr="Payment link created screenshot">    </p:cNvPr>
          <p:cNvPicPr>
            <a:picLocks noChangeAspect="1"/>
          </p:cNvPicPr>
          <p:nvPr/>
        </p:nvPicPr>
        <p:blipFill>
          <a:blip r:embed="rId1"/>
          <a:stretch>
            <a:fillRect/>
          </a:stretch>
        </p:blipFill>
        <p:spPr>
          <a:xfrm>
            <a:off x="548640" y="1783080"/>
            <a:ext cx="5440680" cy="3400425"/>
          </a:xfrm>
          <a:prstGeom prst="rect">
            <a:avLst/>
          </a:prstGeom>
        </p:spPr>
      </p:pic>
      <p:sp>
        <p:nvSpPr>
          <p:cNvPr id="7" name="Card checkout screenshot frame"/>
          <p:cNvSpPr/>
          <p:nvPr/>
        </p:nvSpPr>
        <p:spPr>
          <a:xfrm>
            <a:off x="6108192" y="1719072"/>
            <a:ext cx="5568696" cy="3528441"/>
          </a:xfrm>
          <a:prstGeom prst="roundRect">
            <a:avLst>
              <a:gd name="adj" fmla="val 2592"/>
            </a:avLst>
          </a:prstGeom>
          <a:solidFill>
            <a:srgbClr val="1C1C30"/>
          </a:solidFill>
          <a:ln w="15875">
            <a:solidFill>
              <a:srgbClr val="3A2A66"/>
            </a:solidFill>
            <a:prstDash val="solid"/>
          </a:ln>
          <a:effectLst>
            <a:outerShdw sx="100000" sy="100000" kx="0" ky="0" algn="bl" rotWithShape="0" blurRad="177800" dist="50800" dir="5400000">
              <a:srgbClr val="000000">
                <a:alpha val="55000"/>
              </a:srgbClr>
            </a:outerShdw>
          </a:effectLst>
        </p:spPr>
      </p:sp>
      <p:pic>
        <p:nvPicPr>
          <p:cNvPr id="8" name="Card checkout screenshot" descr="Card checkout screenshot">    </p:cNvPr>
          <p:cNvPicPr>
            <a:picLocks noChangeAspect="1"/>
          </p:cNvPicPr>
          <p:nvPr/>
        </p:nvPicPr>
        <p:blipFill>
          <a:blip r:embed="rId2"/>
          <a:stretch>
            <a:fillRect/>
          </a:stretch>
        </p:blipFill>
        <p:spPr>
          <a:xfrm>
            <a:off x="6172200" y="1783080"/>
            <a:ext cx="5440680" cy="3400425"/>
          </a:xfrm>
          <a:prstGeom prst="rect">
            <a:avLst/>
          </a:prstGeom>
        </p:spPr>
      </p:pic>
      <p:sp>
        <p:nvSpPr>
          <p:cNvPr id="9" name="Text 4"/>
          <p:cNvSpPr txBox="1"/>
          <p:nvPr/>
        </p:nvSpPr>
        <p:spPr>
          <a:xfrm>
            <a:off x="548640" y="5349240"/>
            <a:ext cx="5440680" cy="822960"/>
          </a:xfrm>
          <a:prstGeom prst="rect">
            <a:avLst/>
          </a:prstGeom>
          <a:noFill/>
          <a:ln/>
        </p:spPr>
        <p:txBody>
          <a:bodyPr wrap="square" lIns="0" tIns="0" rIns="0" bIns="0" rtlCol="0" anchor="t"/>
          <a:lstStyle/>
          <a:p>
            <a:pPr indent="0" marL="0">
              <a:buNone/>
            </a:pPr>
            <a:r>
              <a:rPr lang="en-US" sz="1500" b="1" dirty="0">
                <a:solidFill>
                  <a:schemeClr val="bg1"/>
                </a:solidFill>
              </a:rPr>
              <a:t>Create</a:t>
            </a:r>
            <a:endParaRPr lang="en-US" sz="1500" dirty="0"/>
          </a:p>
          <a:p>
            <a:pPr indent="0" marL="0">
              <a:buNone/>
            </a:pPr>
            <a:r>
              <a:rPr lang="en-US" sz="1500" dirty="0">
                <a:solidFill>
                  <a:schemeClr val="accent6"/>
                </a:solidFill>
              </a:rPr>
              <a:t>Amount, currency, methods, expiry and a 15-minute crypto quote lock.</a:t>
            </a:r>
            <a:endParaRPr lang="en-US" sz="1500" dirty="0"/>
          </a:p>
        </p:txBody>
      </p:sp>
      <p:sp>
        <p:nvSpPr>
          <p:cNvPr id="10" name="Text 5"/>
          <p:cNvSpPr txBox="1"/>
          <p:nvPr/>
        </p:nvSpPr>
        <p:spPr>
          <a:xfrm>
            <a:off x="6172200" y="5349240"/>
            <a:ext cx="5440680" cy="822960"/>
          </a:xfrm>
          <a:prstGeom prst="rect">
            <a:avLst/>
          </a:prstGeom>
          <a:noFill/>
          <a:ln/>
        </p:spPr>
        <p:txBody>
          <a:bodyPr wrap="square" lIns="0" tIns="0" rIns="0" bIns="0" rtlCol="0" anchor="t"/>
          <a:lstStyle/>
          <a:p>
            <a:pPr indent="0" marL="0">
              <a:buNone/>
            </a:pPr>
            <a:r>
              <a:rPr lang="en-US" sz="1500" b="1" dirty="0">
                <a:solidFill>
                  <a:schemeClr val="bg1"/>
                </a:solidFill>
              </a:rPr>
              <a:t>Share</a:t>
            </a:r>
            <a:endParaRPr lang="en-US" sz="1500" dirty="0"/>
          </a:p>
          <a:p>
            <a:pPr indent="0" marL="0">
              <a:buNone/>
            </a:pPr>
            <a:r>
              <a:rPr lang="en-US" sz="1500" dirty="0">
                <a:solidFill>
                  <a:schemeClr val="accent6"/>
                </a:solidFill>
              </a:rPr>
              <a:t>One link takes card, UPI or stablecoin. The merchant always settles in USDT.</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64240" cy="685800"/>
          </a:xfrm>
          <a:prstGeom prst="rect">
            <a:avLst/>
          </a:prstGeom>
          <a:noFill/>
          <a:ln/>
        </p:spPr>
        <p:txBody>
          <a:bodyPr wrap="square" lIns="0" tIns="0" rIns="0" bIns="0" rtlCol="0" anchor="ctr"/>
          <a:lstStyle/>
          <a:p>
            <a:pPr algn="l" indent="0" marL="0">
              <a:buNone/>
            </a:pPr>
            <a:r>
              <a:rPr lang="en-US" sz="3600" b="1" dirty="0">
                <a:solidFill>
                  <a:schemeClr val="bg1"/>
                </a:solidFill>
              </a:rPr>
              <a:t>Stablecoin checkout with Solana Pay</a:t>
            </a:r>
            <a:endParaRPr lang="en-US" sz="3600" dirty="0"/>
          </a:p>
        </p:txBody>
      </p:sp>
      <p:sp>
        <p:nvSpPr>
          <p:cNvPr id="3" name="Text 0"/>
          <p:cNvSpPr/>
          <p:nvPr>
            <p:ph idx="101" type="body" hasCustomPrompt="1"/>
          </p:nvPr>
        </p:nvSpPr>
        <p:spPr>
          <a:xfrm>
            <a:off x="548640" y="1024128"/>
            <a:ext cx="11064240" cy="384048"/>
          </a:xfrm>
          <a:prstGeom prst="rect">
            <a:avLst/>
          </a:prstGeom>
          <a:noFill/>
          <a:ln/>
        </p:spPr>
        <p:txBody>
          <a:bodyPr wrap="square" lIns="0" tIns="0" rIns="0" bIns="0" rtlCol="0" anchor="t"/>
          <a:lstStyle/>
          <a:p>
            <a:pPr indent="0" marL="0">
              <a:buNone/>
            </a:pPr>
            <a:r>
              <a:rPr lang="en-US" sz="1600" dirty="0">
                <a:solidFill>
                  <a:schemeClr val="accent6"/>
                </a:solidFill>
              </a:rPr>
              <a:t>Scan, pay, finalized: credited in seconds</a:t>
            </a:r>
            <a:endParaRPr lang="en-US" sz="1600" dirty="0"/>
          </a:p>
        </p:txBody>
      </p:sp>
      <p:sp>
        <p:nvSpPr>
          <p:cNvPr id="5" name="Solana Pay QR screenshot frame"/>
          <p:cNvSpPr/>
          <p:nvPr/>
        </p:nvSpPr>
        <p:spPr>
          <a:xfrm>
            <a:off x="484632" y="1719072"/>
            <a:ext cx="5568696" cy="3528441"/>
          </a:xfrm>
          <a:prstGeom prst="roundRect">
            <a:avLst>
              <a:gd name="adj" fmla="val 2592"/>
            </a:avLst>
          </a:prstGeom>
          <a:solidFill>
            <a:srgbClr val="1C1C30"/>
          </a:solidFill>
          <a:ln w="15875">
            <a:solidFill>
              <a:srgbClr val="3A2A66"/>
            </a:solidFill>
            <a:prstDash val="solid"/>
          </a:ln>
          <a:effectLst>
            <a:outerShdw sx="100000" sy="100000" kx="0" ky="0" algn="bl" rotWithShape="0" blurRad="177800" dist="50800" dir="5400000">
              <a:srgbClr val="000000">
                <a:alpha val="55000"/>
              </a:srgbClr>
            </a:outerShdw>
          </a:effectLst>
        </p:spPr>
      </p:sp>
      <p:pic>
        <p:nvPicPr>
          <p:cNvPr id="6" name="Solana Pay QR screenshot" descr="Solana Pay QR screenshot">    </p:cNvPr>
          <p:cNvPicPr>
            <a:picLocks noChangeAspect="1"/>
          </p:cNvPicPr>
          <p:nvPr/>
        </p:nvPicPr>
        <p:blipFill>
          <a:blip r:embed="rId1"/>
          <a:stretch>
            <a:fillRect/>
          </a:stretch>
        </p:blipFill>
        <p:spPr>
          <a:xfrm>
            <a:off x="548640" y="1783080"/>
            <a:ext cx="5440680" cy="3400425"/>
          </a:xfrm>
          <a:prstGeom prst="rect">
            <a:avLst/>
          </a:prstGeom>
        </p:spPr>
      </p:pic>
      <p:sp>
        <p:nvSpPr>
          <p:cNvPr id="7" name="Payment complete screenshot frame"/>
          <p:cNvSpPr/>
          <p:nvPr/>
        </p:nvSpPr>
        <p:spPr>
          <a:xfrm>
            <a:off x="6108192" y="1719072"/>
            <a:ext cx="5568696" cy="3528441"/>
          </a:xfrm>
          <a:prstGeom prst="roundRect">
            <a:avLst>
              <a:gd name="adj" fmla="val 2592"/>
            </a:avLst>
          </a:prstGeom>
          <a:solidFill>
            <a:srgbClr val="1C1C30"/>
          </a:solidFill>
          <a:ln w="15875">
            <a:solidFill>
              <a:srgbClr val="3A2A66"/>
            </a:solidFill>
            <a:prstDash val="solid"/>
          </a:ln>
          <a:effectLst>
            <a:outerShdw sx="100000" sy="100000" kx="0" ky="0" algn="bl" rotWithShape="0" blurRad="177800" dist="50800" dir="5400000">
              <a:srgbClr val="000000">
                <a:alpha val="55000"/>
              </a:srgbClr>
            </a:outerShdw>
          </a:effectLst>
        </p:spPr>
      </p:sp>
      <p:pic>
        <p:nvPicPr>
          <p:cNvPr id="8" name="Payment complete screenshot" descr="Payment complete screenshot">    </p:cNvPr>
          <p:cNvPicPr>
            <a:picLocks noChangeAspect="1"/>
          </p:cNvPicPr>
          <p:nvPr/>
        </p:nvPicPr>
        <p:blipFill>
          <a:blip r:embed="rId2"/>
          <a:stretch>
            <a:fillRect/>
          </a:stretch>
        </p:blipFill>
        <p:spPr>
          <a:xfrm>
            <a:off x="6172200" y="1783080"/>
            <a:ext cx="5440680" cy="3400425"/>
          </a:xfrm>
          <a:prstGeom prst="rect">
            <a:avLst/>
          </a:prstGeom>
        </p:spPr>
      </p:pic>
      <p:sp>
        <p:nvSpPr>
          <p:cNvPr id="9" name="step 0"/>
          <p:cNvSpPr/>
          <p:nvPr/>
        </p:nvSpPr>
        <p:spPr>
          <a:xfrm>
            <a:off x="548640" y="5394960"/>
            <a:ext cx="2606040" cy="685800"/>
          </a:xfrm>
          <a:prstGeom prst="roundRect">
            <a:avLst>
              <a:gd name="adj" fmla="val 13333"/>
            </a:avLst>
          </a:prstGeom>
          <a:solidFill>
            <a:schemeClr val="tx2"/>
          </a:solidFill>
          <a:ln w="12700">
            <a:solidFill>
              <a:srgbClr val="2A2A44"/>
            </a:solidFill>
            <a:prstDash val="solid"/>
          </a:ln>
        </p:spPr>
      </p:sp>
      <p:sp>
        <p:nvSpPr>
          <p:cNvPr id="10" name="Text 5"/>
          <p:cNvSpPr txBox="1"/>
          <p:nvPr/>
        </p:nvSpPr>
        <p:spPr>
          <a:xfrm>
            <a:off x="685800" y="5394960"/>
            <a:ext cx="2377440" cy="685800"/>
          </a:xfrm>
          <a:prstGeom prst="rect">
            <a:avLst/>
          </a:prstGeom>
          <a:noFill/>
          <a:ln/>
        </p:spPr>
        <p:txBody>
          <a:bodyPr wrap="square" lIns="0" tIns="0" rIns="0" bIns="0" rtlCol="0" anchor="ctr"/>
          <a:lstStyle/>
          <a:p>
            <a:pPr indent="0" marL="0">
              <a:buNone/>
            </a:pPr>
            <a:r>
              <a:rPr lang="en-US" sz="1400" b="1" dirty="0">
                <a:solidFill>
                  <a:schemeClr val="bg1"/>
                </a:solidFill>
              </a:rPr>
              <a:t>1  QR = Solana Pay transfer request</a:t>
            </a:r>
            <a:endParaRPr lang="en-US" sz="1400" dirty="0"/>
          </a:p>
        </p:txBody>
      </p:sp>
      <p:sp>
        <p:nvSpPr>
          <p:cNvPr id="11" name="step 1"/>
          <p:cNvSpPr/>
          <p:nvPr/>
        </p:nvSpPr>
        <p:spPr>
          <a:xfrm>
            <a:off x="3337560" y="5394960"/>
            <a:ext cx="2606040" cy="685800"/>
          </a:xfrm>
          <a:prstGeom prst="roundRect">
            <a:avLst>
              <a:gd name="adj" fmla="val 13333"/>
            </a:avLst>
          </a:prstGeom>
          <a:solidFill>
            <a:schemeClr val="tx2"/>
          </a:solidFill>
          <a:ln w="12700">
            <a:solidFill>
              <a:srgbClr val="2A2A44"/>
            </a:solidFill>
            <a:prstDash val="solid"/>
          </a:ln>
        </p:spPr>
      </p:sp>
      <p:sp>
        <p:nvSpPr>
          <p:cNvPr id="12" name="Text 7"/>
          <p:cNvSpPr txBox="1"/>
          <p:nvPr/>
        </p:nvSpPr>
        <p:spPr>
          <a:xfrm>
            <a:off x="3474720" y="5394960"/>
            <a:ext cx="2377440" cy="685800"/>
          </a:xfrm>
          <a:prstGeom prst="rect">
            <a:avLst/>
          </a:prstGeom>
          <a:noFill/>
          <a:ln/>
        </p:spPr>
        <p:txBody>
          <a:bodyPr wrap="square" lIns="0" tIns="0" rIns="0" bIns="0" rtlCol="0" anchor="ctr"/>
          <a:lstStyle/>
          <a:p>
            <a:pPr indent="0" marL="0">
              <a:buNone/>
            </a:pPr>
            <a:r>
              <a:rPr lang="en-US" sz="1400" b="1" dirty="0">
                <a:solidFill>
                  <a:schemeClr val="bg1"/>
                </a:solidFill>
              </a:rPr>
              <a:t>2  Unique reference key per order</a:t>
            </a:r>
            <a:endParaRPr lang="en-US" sz="1400" dirty="0"/>
          </a:p>
        </p:txBody>
      </p:sp>
      <p:sp>
        <p:nvSpPr>
          <p:cNvPr id="13" name="step 2"/>
          <p:cNvSpPr/>
          <p:nvPr/>
        </p:nvSpPr>
        <p:spPr>
          <a:xfrm>
            <a:off x="6126480" y="5394960"/>
            <a:ext cx="2606040" cy="685800"/>
          </a:xfrm>
          <a:prstGeom prst="roundRect">
            <a:avLst>
              <a:gd name="adj" fmla="val 13333"/>
            </a:avLst>
          </a:prstGeom>
          <a:solidFill>
            <a:schemeClr val="tx2"/>
          </a:solidFill>
          <a:ln w="12700">
            <a:solidFill>
              <a:srgbClr val="2A2A44"/>
            </a:solidFill>
            <a:prstDash val="solid"/>
          </a:ln>
        </p:spPr>
      </p:sp>
      <p:sp>
        <p:nvSpPr>
          <p:cNvPr id="14" name="Text 9"/>
          <p:cNvSpPr txBox="1"/>
          <p:nvPr/>
        </p:nvSpPr>
        <p:spPr>
          <a:xfrm>
            <a:off x="6263640" y="5394960"/>
            <a:ext cx="2377440" cy="685800"/>
          </a:xfrm>
          <a:prstGeom prst="rect">
            <a:avLst/>
          </a:prstGeom>
          <a:noFill/>
          <a:ln/>
        </p:spPr>
        <p:txBody>
          <a:bodyPr wrap="square" lIns="0" tIns="0" rIns="0" bIns="0" rtlCol="0" anchor="ctr"/>
          <a:lstStyle/>
          <a:p>
            <a:pPr indent="0" marL="0">
              <a:buNone/>
            </a:pPr>
            <a:r>
              <a:rPr lang="en-US" sz="1400" b="1" dirty="0">
                <a:solidFill>
                  <a:schemeClr val="bg1"/>
                </a:solidFill>
              </a:rPr>
              <a:t>3  Amount + mint validated</a:t>
            </a:r>
            <a:endParaRPr lang="en-US" sz="1400" dirty="0"/>
          </a:p>
        </p:txBody>
      </p:sp>
      <p:sp>
        <p:nvSpPr>
          <p:cNvPr id="15" name="step 3"/>
          <p:cNvSpPr/>
          <p:nvPr/>
        </p:nvSpPr>
        <p:spPr>
          <a:xfrm>
            <a:off x="8915400" y="5394960"/>
            <a:ext cx="2606040" cy="685800"/>
          </a:xfrm>
          <a:prstGeom prst="roundRect">
            <a:avLst>
              <a:gd name="adj" fmla="val 13333"/>
            </a:avLst>
          </a:prstGeom>
          <a:solidFill>
            <a:schemeClr val="tx2"/>
          </a:solidFill>
          <a:ln w="12700">
            <a:solidFill>
              <a:srgbClr val="2A2A44"/>
            </a:solidFill>
            <a:prstDash val="solid"/>
          </a:ln>
        </p:spPr>
      </p:sp>
      <p:sp>
        <p:nvSpPr>
          <p:cNvPr id="16" name="Text 11"/>
          <p:cNvSpPr txBox="1"/>
          <p:nvPr/>
        </p:nvSpPr>
        <p:spPr>
          <a:xfrm>
            <a:off x="9052560" y="5394960"/>
            <a:ext cx="2377440" cy="685800"/>
          </a:xfrm>
          <a:prstGeom prst="rect">
            <a:avLst/>
          </a:prstGeom>
          <a:noFill/>
          <a:ln/>
        </p:spPr>
        <p:txBody>
          <a:bodyPr wrap="square" lIns="0" tIns="0" rIns="0" bIns="0" rtlCol="0" anchor="ctr"/>
          <a:lstStyle/>
          <a:p>
            <a:pPr indent="0" marL="0">
              <a:buNone/>
            </a:pPr>
            <a:r>
              <a:rPr lang="en-US" sz="1400" b="1" dirty="0">
                <a:solidFill>
                  <a:schemeClr val="bg1"/>
                </a:solidFill>
              </a:rPr>
              <a:t>4  Credited at finalized</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64240" cy="685800"/>
          </a:xfrm>
          <a:prstGeom prst="rect">
            <a:avLst/>
          </a:prstGeom>
          <a:noFill/>
          <a:ln/>
        </p:spPr>
        <p:txBody>
          <a:bodyPr wrap="square" lIns="0" tIns="0" rIns="0" bIns="0" rtlCol="0" anchor="ctr"/>
          <a:lstStyle/>
          <a:p>
            <a:pPr algn="l" indent="0" marL="0">
              <a:buNone/>
            </a:pPr>
            <a:r>
              <a:rPr lang="en-US" sz="3600" b="1" dirty="0">
                <a:solidFill>
                  <a:schemeClr val="bg1"/>
                </a:solidFill>
              </a:rPr>
              <a:t>Crypto rollout, governed</a:t>
            </a:r>
            <a:endParaRPr lang="en-US" sz="3600" dirty="0"/>
          </a:p>
        </p:txBody>
      </p:sp>
      <p:sp>
        <p:nvSpPr>
          <p:cNvPr id="3" name="Text 0"/>
          <p:cNvSpPr/>
          <p:nvPr>
            <p:ph idx="101" type="body" hasCustomPrompt="1"/>
          </p:nvPr>
        </p:nvSpPr>
        <p:spPr>
          <a:xfrm>
            <a:off x="548640" y="1024128"/>
            <a:ext cx="11064240" cy="384048"/>
          </a:xfrm>
          <a:prstGeom prst="rect">
            <a:avLst/>
          </a:prstGeom>
          <a:noFill/>
          <a:ln/>
        </p:spPr>
        <p:txBody>
          <a:bodyPr wrap="square" lIns="0" tIns="0" rIns="0" bIns="0" rtlCol="0" anchor="t"/>
          <a:lstStyle/>
          <a:p>
            <a:pPr indent="0" marL="0">
              <a:buNone/>
            </a:pPr>
            <a:r>
              <a:rPr lang="en-US" sz="1600" dirty="0">
                <a:solidFill>
                  <a:schemeClr val="accent6"/>
                </a:solidFill>
              </a:rPr>
              <a:t>Turn crypto on gradually and switch it off in one click</a:t>
            </a:r>
            <a:endParaRPr lang="en-US" sz="1600" dirty="0"/>
          </a:p>
        </p:txBody>
      </p:sp>
      <p:sp>
        <p:nvSpPr>
          <p:cNvPr id="5" name="Crypto rollout screenshot frame"/>
          <p:cNvSpPr/>
          <p:nvPr/>
        </p:nvSpPr>
        <p:spPr>
          <a:xfrm>
            <a:off x="484632" y="1719072"/>
            <a:ext cx="6711696" cy="4242816"/>
          </a:xfrm>
          <a:prstGeom prst="roundRect">
            <a:avLst>
              <a:gd name="adj" fmla="val 2155"/>
            </a:avLst>
          </a:prstGeom>
          <a:solidFill>
            <a:srgbClr val="1C1C30"/>
          </a:solidFill>
          <a:ln w="15875">
            <a:solidFill>
              <a:srgbClr val="3A2A66"/>
            </a:solidFill>
            <a:prstDash val="solid"/>
          </a:ln>
          <a:effectLst>
            <a:outerShdw sx="100000" sy="100000" kx="0" ky="0" algn="bl" rotWithShape="0" blurRad="177800" dist="50800" dir="5400000">
              <a:srgbClr val="000000">
                <a:alpha val="55000"/>
              </a:srgbClr>
            </a:outerShdw>
          </a:effectLst>
        </p:spPr>
      </p:sp>
      <p:pic>
        <p:nvPicPr>
          <p:cNvPr id="6" name="Crypto rollout screenshot" descr="Crypto rollout screenshot">    </p:cNvPr>
          <p:cNvPicPr>
            <a:picLocks noChangeAspect="1"/>
          </p:cNvPicPr>
          <p:nvPr/>
        </p:nvPicPr>
        <p:blipFill>
          <a:blip r:embed="rId1"/>
          <a:stretch>
            <a:fillRect/>
          </a:stretch>
        </p:blipFill>
        <p:spPr>
          <a:xfrm>
            <a:off x="548640" y="1783080"/>
            <a:ext cx="6583680" cy="4114800"/>
          </a:xfrm>
          <a:prstGeom prst="rect">
            <a:avLst/>
          </a:prstGeom>
        </p:spPr>
      </p:pic>
      <p:pic>
        <p:nvPicPr>
          <p:cNvPr id="7" name="icon FiPower" descr="preencoded.png">    </p:cNvPr>
          <p:cNvPicPr>
            <a:picLocks noChangeAspect="1"/>
          </p:cNvPicPr>
          <p:nvPr/>
        </p:nvPicPr>
        <p:blipFill>
          <a:blip r:embed="rId2"/>
          <a:stretch>
            <a:fillRect/>
          </a:stretch>
        </p:blipFill>
        <p:spPr>
          <a:xfrm>
            <a:off x="7589520" y="1828800"/>
            <a:ext cx="457200" cy="457200"/>
          </a:xfrm>
          <a:prstGeom prst="rect">
            <a:avLst/>
          </a:prstGeom>
        </p:spPr>
      </p:pic>
      <p:sp>
        <p:nvSpPr>
          <p:cNvPr id="8" name="row Global kill switch"/>
          <p:cNvSpPr txBox="1"/>
          <p:nvPr/>
        </p:nvSpPr>
        <p:spPr>
          <a:xfrm>
            <a:off x="8229600" y="1792224"/>
            <a:ext cx="3383280" cy="932688"/>
          </a:xfrm>
          <a:prstGeom prst="rect">
            <a:avLst/>
          </a:prstGeom>
          <a:noFill/>
          <a:ln/>
        </p:spPr>
        <p:txBody>
          <a:bodyPr wrap="square" lIns="0" tIns="0" rIns="0" bIns="0" rtlCol="0" anchor="t"/>
          <a:lstStyle/>
          <a:p>
            <a:pPr indent="0" marL="0">
              <a:buNone/>
            </a:pPr>
            <a:r>
              <a:rPr lang="en-US" sz="1600" b="1" dirty="0">
                <a:solidFill>
                  <a:schemeClr val="bg1"/>
                </a:solidFill>
              </a:rPr>
              <a:t>Global kill switch</a:t>
            </a:r>
            <a:endParaRPr lang="en-US" sz="1500" dirty="0"/>
          </a:p>
          <a:p>
            <a:pPr indent="0" marL="0">
              <a:buNone/>
            </a:pPr>
            <a:r>
              <a:rPr lang="en-US" sz="1400" dirty="0">
                <a:solidFill>
                  <a:schemeClr val="accent6"/>
                </a:solidFill>
              </a:rPr>
              <a:t>Halts crypto in and out; fiat keeps running</a:t>
            </a:r>
            <a:endParaRPr lang="en-US" sz="1500" dirty="0"/>
          </a:p>
        </p:txBody>
      </p:sp>
      <p:pic>
        <p:nvPicPr>
          <p:cNvPr id="9" name="icon FiToggleRight" descr="preencoded.png">    </p:cNvPr>
          <p:cNvPicPr>
            <a:picLocks noChangeAspect="1"/>
          </p:cNvPicPr>
          <p:nvPr/>
        </p:nvPicPr>
        <p:blipFill>
          <a:blip r:embed="rId3"/>
          <a:stretch>
            <a:fillRect/>
          </a:stretch>
        </p:blipFill>
        <p:spPr>
          <a:xfrm>
            <a:off x="7589520" y="2852928"/>
            <a:ext cx="457200" cy="457200"/>
          </a:xfrm>
          <a:prstGeom prst="rect">
            <a:avLst/>
          </a:prstGeom>
        </p:spPr>
      </p:pic>
      <p:sp>
        <p:nvSpPr>
          <p:cNvPr id="10" name="row Per-network control"/>
          <p:cNvSpPr txBox="1"/>
          <p:nvPr/>
        </p:nvSpPr>
        <p:spPr>
          <a:xfrm>
            <a:off x="8229600" y="2816352"/>
            <a:ext cx="3383280" cy="932688"/>
          </a:xfrm>
          <a:prstGeom prst="rect">
            <a:avLst/>
          </a:prstGeom>
          <a:noFill/>
          <a:ln/>
        </p:spPr>
        <p:txBody>
          <a:bodyPr wrap="square" lIns="0" tIns="0" rIns="0" bIns="0" rtlCol="0" anchor="t"/>
          <a:lstStyle/>
          <a:p>
            <a:pPr indent="0" marL="0">
              <a:buNone/>
            </a:pPr>
            <a:r>
              <a:rPr lang="en-US" sz="1600" b="1" dirty="0">
                <a:solidFill>
                  <a:schemeClr val="bg1"/>
                </a:solidFill>
              </a:rPr>
              <a:t>Per-network control</a:t>
            </a:r>
            <a:endParaRPr lang="en-US" sz="1500" dirty="0"/>
          </a:p>
          <a:p>
            <a:pPr indent="0" marL="0">
              <a:buNone/>
            </a:pPr>
            <a:r>
              <a:rPr lang="en-US" sz="1400" dirty="0">
                <a:solidFill>
                  <a:schemeClr val="accent6"/>
                </a:solidFill>
              </a:rPr>
              <a:t>Solana, Tron, Polygon, Ethereum, BNB, per env</a:t>
            </a:r>
            <a:endParaRPr lang="en-US" sz="1500" dirty="0"/>
          </a:p>
        </p:txBody>
      </p:sp>
      <p:pic>
        <p:nvPicPr>
          <p:cNvPr id="11" name="icon FiPercent" descr="preencoded.png">    </p:cNvPr>
          <p:cNvPicPr>
            <a:picLocks noChangeAspect="1"/>
          </p:cNvPicPr>
          <p:nvPr/>
        </p:nvPicPr>
        <p:blipFill>
          <a:blip r:embed="rId4"/>
          <a:stretch>
            <a:fillRect/>
          </a:stretch>
        </p:blipFill>
        <p:spPr>
          <a:xfrm>
            <a:off x="7589520" y="3877056"/>
            <a:ext cx="457200" cy="457200"/>
          </a:xfrm>
          <a:prstGeom prst="rect">
            <a:avLst/>
          </a:prstGeom>
        </p:spPr>
      </p:pic>
      <p:sp>
        <p:nvSpPr>
          <p:cNvPr id="12" name="row Staged rollout"/>
          <p:cNvSpPr txBox="1"/>
          <p:nvPr/>
        </p:nvSpPr>
        <p:spPr>
          <a:xfrm>
            <a:off x="8229600" y="3840480"/>
            <a:ext cx="3383280" cy="932688"/>
          </a:xfrm>
          <a:prstGeom prst="rect">
            <a:avLst/>
          </a:prstGeom>
          <a:noFill/>
          <a:ln/>
        </p:spPr>
        <p:txBody>
          <a:bodyPr wrap="square" lIns="0" tIns="0" rIns="0" bIns="0" rtlCol="0" anchor="t"/>
          <a:lstStyle/>
          <a:p>
            <a:pPr indent="0" marL="0">
              <a:buNone/>
            </a:pPr>
            <a:r>
              <a:rPr lang="en-US" sz="1600" b="1" dirty="0">
                <a:solidFill>
                  <a:schemeClr val="bg1"/>
                </a:solidFill>
              </a:rPr>
              <a:t>Staged rollout</a:t>
            </a:r>
            <a:endParaRPr lang="en-US" sz="1500" dirty="0"/>
          </a:p>
          <a:p>
            <a:pPr indent="0" marL="0">
              <a:buNone/>
            </a:pPr>
            <a:r>
              <a:rPr lang="en-US" sz="1400" dirty="0">
                <a:solidFill>
                  <a:schemeClr val="accent6"/>
                </a:solidFill>
              </a:rPr>
              <a:t>Offer stablecoins to a % of eligible merchants</a:t>
            </a:r>
            <a:endParaRPr lang="en-US" sz="1500" dirty="0"/>
          </a:p>
        </p:txBody>
      </p:sp>
      <p:pic>
        <p:nvPicPr>
          <p:cNvPr id="13" name="icon FiTarget" descr="preencoded.png">    </p:cNvPr>
          <p:cNvPicPr>
            <a:picLocks noChangeAspect="1"/>
          </p:cNvPicPr>
          <p:nvPr/>
        </p:nvPicPr>
        <p:blipFill>
          <a:blip r:embed="rId5"/>
          <a:stretch>
            <a:fillRect/>
          </a:stretch>
        </p:blipFill>
        <p:spPr>
          <a:xfrm>
            <a:off x="7589520" y="4901184"/>
            <a:ext cx="457200" cy="457200"/>
          </a:xfrm>
          <a:prstGeom prst="rect">
            <a:avLst/>
          </a:prstGeom>
        </p:spPr>
      </p:pic>
      <p:sp>
        <p:nvSpPr>
          <p:cNvPr id="14" name="row Cohorts + caps"/>
          <p:cNvSpPr txBox="1"/>
          <p:nvPr/>
        </p:nvSpPr>
        <p:spPr>
          <a:xfrm>
            <a:off x="8229600" y="4864608"/>
            <a:ext cx="3383280" cy="932688"/>
          </a:xfrm>
          <a:prstGeom prst="rect">
            <a:avLst/>
          </a:prstGeom>
          <a:noFill/>
          <a:ln/>
        </p:spPr>
        <p:txBody>
          <a:bodyPr wrap="square" lIns="0" tIns="0" rIns="0" bIns="0" rtlCol="0" anchor="t"/>
          <a:lstStyle/>
          <a:p>
            <a:pPr indent="0" marL="0">
              <a:buNone/>
            </a:pPr>
            <a:r>
              <a:rPr lang="en-US" sz="1600" b="1" dirty="0">
                <a:solidFill>
                  <a:schemeClr val="bg1"/>
                </a:solidFill>
              </a:rPr>
              <a:t>Cohorts + caps</a:t>
            </a:r>
            <a:endParaRPr lang="en-US" sz="1500" dirty="0"/>
          </a:p>
          <a:p>
            <a:pPr indent="0" marL="0">
              <a:buNone/>
            </a:pPr>
            <a:r>
              <a:rPr lang="en-US" sz="1400" dirty="0">
                <a:solidFill>
                  <a:schemeClr val="accent6"/>
                </a:solidFill>
              </a:rPr>
              <a:t>Allow-list merchants with daily exposure caps</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64240" cy="685800"/>
          </a:xfrm>
          <a:prstGeom prst="rect">
            <a:avLst/>
          </a:prstGeom>
          <a:noFill/>
          <a:ln/>
        </p:spPr>
        <p:txBody>
          <a:bodyPr wrap="square" lIns="0" tIns="0" rIns="0" bIns="0" rtlCol="0" anchor="ctr"/>
          <a:lstStyle/>
          <a:p>
            <a:pPr algn="l" indent="0" marL="0">
              <a:buNone/>
            </a:pPr>
            <a:r>
              <a:rPr lang="en-US" sz="3600" b="1" dirty="0">
                <a:solidFill>
                  <a:schemeClr val="bg1"/>
                </a:solidFill>
              </a:rPr>
              <a:t>Multi-payment integration</a:t>
            </a:r>
            <a:endParaRPr lang="en-US" sz="3600" dirty="0"/>
          </a:p>
        </p:txBody>
      </p:sp>
      <p:sp>
        <p:nvSpPr>
          <p:cNvPr id="3" name="Text 0"/>
          <p:cNvSpPr/>
          <p:nvPr>
            <p:ph idx="101" type="body" hasCustomPrompt="1"/>
          </p:nvPr>
        </p:nvSpPr>
        <p:spPr>
          <a:xfrm>
            <a:off x="548640" y="1024128"/>
            <a:ext cx="11064240" cy="384048"/>
          </a:xfrm>
          <a:prstGeom prst="rect">
            <a:avLst/>
          </a:prstGeom>
          <a:noFill/>
          <a:ln/>
        </p:spPr>
        <p:txBody>
          <a:bodyPr wrap="square" lIns="0" tIns="0" rIns="0" bIns="0" rtlCol="0" anchor="t"/>
          <a:lstStyle/>
          <a:p>
            <a:pPr indent="0" marL="0">
              <a:buNone/>
            </a:pPr>
            <a:r>
              <a:rPr lang="en-US" sz="1600" dirty="0">
                <a:solidFill>
                  <a:schemeClr val="accent6"/>
                </a:solidFill>
              </a:rPr>
              <a:t>Every acquirer, rail and chain behind one API</a:t>
            </a:r>
            <a:endParaRPr lang="en-US" sz="1600" dirty="0"/>
          </a:p>
        </p:txBody>
      </p:sp>
      <p:pic>
        <p:nvPicPr>
          <p:cNvPr id="5" name="icon FiCreditCard" descr="preencoded.png">    </p:cNvPr>
          <p:cNvPicPr>
            <a:picLocks noChangeAspect="1"/>
          </p:cNvPicPr>
          <p:nvPr/>
        </p:nvPicPr>
        <p:blipFill>
          <a:blip r:embed="rId1"/>
          <a:stretch>
            <a:fillRect/>
          </a:stretch>
        </p:blipFill>
        <p:spPr>
          <a:xfrm>
            <a:off x="548640" y="1828800"/>
            <a:ext cx="457200" cy="457200"/>
          </a:xfrm>
          <a:prstGeom prst="rect">
            <a:avLst/>
          </a:prstGeom>
        </p:spPr>
      </p:pic>
      <p:sp>
        <p:nvSpPr>
          <p:cNvPr id="6" name="row Cards + UPI + crypto"/>
          <p:cNvSpPr txBox="1"/>
          <p:nvPr/>
        </p:nvSpPr>
        <p:spPr>
          <a:xfrm>
            <a:off x="1188720" y="1792224"/>
            <a:ext cx="3383280" cy="932688"/>
          </a:xfrm>
          <a:prstGeom prst="rect">
            <a:avLst/>
          </a:prstGeom>
          <a:noFill/>
          <a:ln/>
        </p:spPr>
        <p:txBody>
          <a:bodyPr wrap="square" lIns="0" tIns="0" rIns="0" bIns="0" rtlCol="0" anchor="t"/>
          <a:lstStyle/>
          <a:p>
            <a:pPr indent="0" marL="0">
              <a:buNone/>
            </a:pPr>
            <a:r>
              <a:rPr lang="en-US" sz="1600" b="1" dirty="0">
                <a:solidFill>
                  <a:schemeClr val="bg1"/>
                </a:solidFill>
              </a:rPr>
              <a:t>Cards + UPI + crypto</a:t>
            </a:r>
            <a:endParaRPr lang="en-US" sz="1500" dirty="0"/>
          </a:p>
          <a:p>
            <a:pPr indent="0" marL="0">
              <a:buNone/>
            </a:pPr>
            <a:r>
              <a:rPr lang="en-US" sz="1400" dirty="0">
                <a:solidFill>
                  <a:schemeClr val="accent6"/>
                </a:solidFill>
              </a:rPr>
              <a:t>Card acquirers, UPI rail, Solana Pay, multichain USDT</a:t>
            </a:r>
            <a:endParaRPr lang="en-US" sz="1500" dirty="0"/>
          </a:p>
        </p:txBody>
      </p:sp>
      <p:pic>
        <p:nvPicPr>
          <p:cNvPr id="7" name="icon FiShuffle" descr="preencoded.png">    </p:cNvPr>
          <p:cNvPicPr>
            <a:picLocks noChangeAspect="1"/>
          </p:cNvPicPr>
          <p:nvPr/>
        </p:nvPicPr>
        <p:blipFill>
          <a:blip r:embed="rId2"/>
          <a:stretch>
            <a:fillRect/>
          </a:stretch>
        </p:blipFill>
        <p:spPr>
          <a:xfrm>
            <a:off x="548640" y="2852928"/>
            <a:ext cx="457200" cy="457200"/>
          </a:xfrm>
          <a:prstGeom prst="rect">
            <a:avLst/>
          </a:prstGeom>
        </p:spPr>
      </p:pic>
      <p:sp>
        <p:nvSpPr>
          <p:cNvPr id="8" name="row Smart failover"/>
          <p:cNvSpPr txBox="1"/>
          <p:nvPr/>
        </p:nvSpPr>
        <p:spPr>
          <a:xfrm>
            <a:off x="1188720" y="2816352"/>
            <a:ext cx="3383280" cy="932688"/>
          </a:xfrm>
          <a:prstGeom prst="rect">
            <a:avLst/>
          </a:prstGeom>
          <a:noFill/>
          <a:ln/>
        </p:spPr>
        <p:txBody>
          <a:bodyPr wrap="square" lIns="0" tIns="0" rIns="0" bIns="0" rtlCol="0" anchor="t"/>
          <a:lstStyle/>
          <a:p>
            <a:pPr indent="0" marL="0">
              <a:buNone/>
            </a:pPr>
            <a:r>
              <a:rPr lang="en-US" sz="1600" b="1" dirty="0">
                <a:solidFill>
                  <a:schemeClr val="bg1"/>
                </a:solidFill>
              </a:rPr>
              <a:t>Smart failover</a:t>
            </a:r>
            <a:endParaRPr lang="en-US" sz="1500" dirty="0"/>
          </a:p>
          <a:p>
            <a:pPr indent="0" marL="0">
              <a:buNone/>
            </a:pPr>
            <a:r>
              <a:rPr lang="en-US" sz="1400" dirty="0">
                <a:solidFill>
                  <a:schemeClr val="accent6"/>
                </a:solidFill>
              </a:rPr>
              <a:t>Priority + health routing; unknowns synced first</a:t>
            </a:r>
            <a:endParaRPr lang="en-US" sz="1500" dirty="0"/>
          </a:p>
        </p:txBody>
      </p:sp>
      <p:pic>
        <p:nvPicPr>
          <p:cNvPr id="9" name="icon FiGrid" descr="preencoded.png">    </p:cNvPr>
          <p:cNvPicPr>
            <a:picLocks noChangeAspect="1"/>
          </p:cNvPicPr>
          <p:nvPr/>
        </p:nvPicPr>
        <p:blipFill>
          <a:blip r:embed="rId3"/>
          <a:stretch>
            <a:fillRect/>
          </a:stretch>
        </p:blipFill>
        <p:spPr>
          <a:xfrm>
            <a:off x="548640" y="3877056"/>
            <a:ext cx="457200" cy="457200"/>
          </a:xfrm>
          <a:prstGeom prst="rect">
            <a:avLst/>
          </a:prstGeom>
        </p:spPr>
      </p:pic>
      <p:sp>
        <p:nvSpPr>
          <p:cNvPr id="10" name="row Coverage matrix"/>
          <p:cNvSpPr txBox="1"/>
          <p:nvPr/>
        </p:nvSpPr>
        <p:spPr>
          <a:xfrm>
            <a:off x="1188720" y="3840480"/>
            <a:ext cx="3383280" cy="932688"/>
          </a:xfrm>
          <a:prstGeom prst="rect">
            <a:avLst/>
          </a:prstGeom>
          <a:noFill/>
          <a:ln/>
        </p:spPr>
        <p:txBody>
          <a:bodyPr wrap="square" lIns="0" tIns="0" rIns="0" bIns="0" rtlCol="0" anchor="t"/>
          <a:lstStyle/>
          <a:p>
            <a:pPr indent="0" marL="0">
              <a:buNone/>
            </a:pPr>
            <a:r>
              <a:rPr lang="en-US" sz="1600" b="1" dirty="0">
                <a:solidFill>
                  <a:schemeClr val="bg1"/>
                </a:solidFill>
              </a:rPr>
              <a:t>Coverage matrix</a:t>
            </a:r>
            <a:endParaRPr lang="en-US" sz="1500" dirty="0"/>
          </a:p>
          <a:p>
            <a:pPr indent="0" marL="0">
              <a:buNone/>
            </a:pPr>
            <a:r>
              <a:rPr lang="en-US" sz="1400" dirty="0">
                <a:solidFill>
                  <a:schemeClr val="accent6"/>
                </a:solidFill>
              </a:rPr>
              <a:t>Method × currency × credentials, at a glance</a:t>
            </a:r>
            <a:endParaRPr lang="en-US" sz="1500" dirty="0"/>
          </a:p>
        </p:txBody>
      </p:sp>
      <p:pic>
        <p:nvPicPr>
          <p:cNvPr id="11" name="icon FiPlusCircle" descr="preencoded.png">    </p:cNvPr>
          <p:cNvPicPr>
            <a:picLocks noChangeAspect="1"/>
          </p:cNvPicPr>
          <p:nvPr/>
        </p:nvPicPr>
        <p:blipFill>
          <a:blip r:embed="rId4"/>
          <a:stretch>
            <a:fillRect/>
          </a:stretch>
        </p:blipFill>
        <p:spPr>
          <a:xfrm>
            <a:off x="548640" y="4901184"/>
            <a:ext cx="457200" cy="457200"/>
          </a:xfrm>
          <a:prstGeom prst="rect">
            <a:avLst/>
          </a:prstGeom>
        </p:spPr>
      </p:pic>
      <p:sp>
        <p:nvSpPr>
          <p:cNvPr id="12" name="row Add a processor"/>
          <p:cNvSpPr txBox="1"/>
          <p:nvPr/>
        </p:nvSpPr>
        <p:spPr>
          <a:xfrm>
            <a:off x="1188720" y="4864608"/>
            <a:ext cx="3383280" cy="932688"/>
          </a:xfrm>
          <a:prstGeom prst="rect">
            <a:avLst/>
          </a:prstGeom>
          <a:noFill/>
          <a:ln/>
        </p:spPr>
        <p:txBody>
          <a:bodyPr wrap="square" lIns="0" tIns="0" rIns="0" bIns="0" rtlCol="0" anchor="t"/>
          <a:lstStyle/>
          <a:p>
            <a:pPr indent="0" marL="0">
              <a:buNone/>
            </a:pPr>
            <a:r>
              <a:rPr lang="en-US" sz="1600" b="1" dirty="0">
                <a:solidFill>
                  <a:schemeClr val="bg1"/>
                </a:solidFill>
              </a:rPr>
              <a:t>Add a processor</a:t>
            </a:r>
            <a:endParaRPr lang="en-US" sz="1500" dirty="0"/>
          </a:p>
          <a:p>
            <a:pPr indent="0" marL="0">
              <a:buNone/>
            </a:pPr>
            <a:r>
              <a:rPr lang="en-US" sz="1400" dirty="0">
                <a:solidFill>
                  <a:schemeClr val="accent6"/>
                </a:solidFill>
              </a:rPr>
              <a:t>One adapter class + register(). No core edits</a:t>
            </a:r>
            <a:endParaRPr lang="en-US" sz="1500" dirty="0"/>
          </a:p>
        </p:txBody>
      </p:sp>
      <p:sp>
        <p:nvSpPr>
          <p:cNvPr id="13" name="Processors and routing screenshot frame"/>
          <p:cNvSpPr/>
          <p:nvPr/>
        </p:nvSpPr>
        <p:spPr>
          <a:xfrm>
            <a:off x="4965192" y="1719072"/>
            <a:ext cx="6711696" cy="4242816"/>
          </a:xfrm>
          <a:prstGeom prst="roundRect">
            <a:avLst>
              <a:gd name="adj" fmla="val 2155"/>
            </a:avLst>
          </a:prstGeom>
          <a:solidFill>
            <a:srgbClr val="1C1C30"/>
          </a:solidFill>
          <a:ln w="15875">
            <a:solidFill>
              <a:srgbClr val="3A2A66"/>
            </a:solidFill>
            <a:prstDash val="solid"/>
          </a:ln>
          <a:effectLst>
            <a:outerShdw sx="100000" sy="100000" kx="0" ky="0" algn="bl" rotWithShape="0" blurRad="177800" dist="50800" dir="5400000">
              <a:srgbClr val="000000">
                <a:alpha val="55000"/>
              </a:srgbClr>
            </a:outerShdw>
          </a:effectLst>
        </p:spPr>
      </p:sp>
      <p:pic>
        <p:nvPicPr>
          <p:cNvPr id="14" name="Processors and routing screenshot" descr="Processors and routing screenshot">    </p:cNvPr>
          <p:cNvPicPr>
            <a:picLocks noChangeAspect="1"/>
          </p:cNvPicPr>
          <p:nvPr/>
        </p:nvPicPr>
        <p:blipFill>
          <a:blip r:embed="rId5"/>
          <a:stretch>
            <a:fillRect/>
          </a:stretch>
        </p:blipFill>
        <p:spPr>
          <a:xfrm>
            <a:off x="5029200" y="1783080"/>
            <a:ext cx="6583680" cy="4114800"/>
          </a:xfrm>
          <a:prstGeom prst="rect">
            <a:avLst/>
          </a:prstGeom>
        </p:spPr>
      </p:pic>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64240" cy="685800"/>
          </a:xfrm>
          <a:prstGeom prst="rect">
            <a:avLst/>
          </a:prstGeom>
          <a:noFill/>
          <a:ln/>
        </p:spPr>
        <p:txBody>
          <a:bodyPr wrap="square" lIns="0" tIns="0" rIns="0" bIns="0" rtlCol="0" anchor="ctr"/>
          <a:lstStyle/>
          <a:p>
            <a:pPr algn="l" indent="0" marL="0">
              <a:buNone/>
            </a:pPr>
            <a:r>
              <a:rPr lang="en-US" sz="3600" b="1" dirty="0">
                <a:solidFill>
                  <a:schemeClr val="bg1"/>
                </a:solidFill>
              </a:rPr>
              <a:t>Auto-settlement on Solana</a:t>
            </a:r>
            <a:endParaRPr lang="en-US" sz="3600" dirty="0"/>
          </a:p>
        </p:txBody>
      </p:sp>
      <p:sp>
        <p:nvSpPr>
          <p:cNvPr id="3" name="Text 0"/>
          <p:cNvSpPr/>
          <p:nvPr>
            <p:ph idx="101" type="body" hasCustomPrompt="1"/>
          </p:nvPr>
        </p:nvSpPr>
        <p:spPr>
          <a:xfrm>
            <a:off x="548640" y="1024128"/>
            <a:ext cx="11064240" cy="384048"/>
          </a:xfrm>
          <a:prstGeom prst="rect">
            <a:avLst/>
          </a:prstGeom>
          <a:noFill/>
          <a:ln/>
        </p:spPr>
        <p:txBody>
          <a:bodyPr wrap="square" lIns="0" tIns="0" rIns="0" bIns="0" rtlCol="0" anchor="t"/>
          <a:lstStyle/>
          <a:p>
            <a:pPr indent="0" marL="0">
              <a:buNone/>
            </a:pPr>
            <a:r>
              <a:rPr lang="en-US" sz="1600" dirty="0">
                <a:solidFill>
                  <a:schemeClr val="accent6"/>
                </a:solidFill>
              </a:rPr>
              <a:t>Every chain merges into Solana; approval only above threshold</a:t>
            </a:r>
            <a:endParaRPr lang="en-US" sz="1600" dirty="0"/>
          </a:p>
        </p:txBody>
      </p:sp>
      <p:sp>
        <p:nvSpPr>
          <p:cNvPr id="5" name="Solana settlement screenshot frame"/>
          <p:cNvSpPr/>
          <p:nvPr/>
        </p:nvSpPr>
        <p:spPr>
          <a:xfrm>
            <a:off x="484632" y="1719072"/>
            <a:ext cx="6711696" cy="4242816"/>
          </a:xfrm>
          <a:prstGeom prst="roundRect">
            <a:avLst>
              <a:gd name="adj" fmla="val 2155"/>
            </a:avLst>
          </a:prstGeom>
          <a:solidFill>
            <a:srgbClr val="1C1C30"/>
          </a:solidFill>
          <a:ln w="15875">
            <a:solidFill>
              <a:srgbClr val="3A2A66"/>
            </a:solidFill>
            <a:prstDash val="solid"/>
          </a:ln>
          <a:effectLst>
            <a:outerShdw sx="100000" sy="100000" kx="0" ky="0" algn="bl" rotWithShape="0" blurRad="177800" dist="50800" dir="5400000">
              <a:srgbClr val="000000">
                <a:alpha val="55000"/>
              </a:srgbClr>
            </a:outerShdw>
          </a:effectLst>
        </p:spPr>
      </p:sp>
      <p:pic>
        <p:nvPicPr>
          <p:cNvPr id="6" name="Solana settlement screenshot" descr="Solana settlement screenshot">    </p:cNvPr>
          <p:cNvPicPr>
            <a:picLocks noChangeAspect="1"/>
          </p:cNvPicPr>
          <p:nvPr/>
        </p:nvPicPr>
        <p:blipFill>
          <a:blip r:embed="rId1"/>
          <a:stretch>
            <a:fillRect/>
          </a:stretch>
        </p:blipFill>
        <p:spPr>
          <a:xfrm>
            <a:off x="548640" y="1783080"/>
            <a:ext cx="6583680" cy="4114800"/>
          </a:xfrm>
          <a:prstGeom prst="rect">
            <a:avLst/>
          </a:prstGeom>
        </p:spPr>
      </p:pic>
      <p:sp>
        <p:nvSpPr>
          <p:cNvPr id="7" name="settlement stat 0"/>
          <p:cNvSpPr/>
          <p:nvPr/>
        </p:nvSpPr>
        <p:spPr>
          <a:xfrm>
            <a:off x="7589520" y="1783080"/>
            <a:ext cx="1920240" cy="1920240"/>
          </a:xfrm>
          <a:prstGeom prst="roundRect">
            <a:avLst>
              <a:gd name="adj" fmla="val 5714"/>
            </a:avLst>
          </a:prstGeom>
          <a:solidFill>
            <a:schemeClr val="tx2"/>
          </a:solidFill>
          <a:ln w="12700">
            <a:solidFill>
              <a:srgbClr val="2A2A44"/>
            </a:solidFill>
            <a:prstDash val="solid"/>
          </a:ln>
        </p:spPr>
      </p:sp>
      <p:sp>
        <p:nvSpPr>
          <p:cNvPr id="8" name="Text 4"/>
          <p:cNvSpPr txBox="1"/>
          <p:nvPr/>
        </p:nvSpPr>
        <p:spPr>
          <a:xfrm>
            <a:off x="7772400" y="2103120"/>
            <a:ext cx="1645920" cy="640080"/>
          </a:xfrm>
          <a:prstGeom prst="rect">
            <a:avLst/>
          </a:prstGeom>
          <a:noFill/>
          <a:ln/>
        </p:spPr>
        <p:txBody>
          <a:bodyPr wrap="square" lIns="0" tIns="0" rIns="0" bIns="0" rtlCol="0" anchor="t"/>
          <a:lstStyle/>
          <a:p>
            <a:pPr indent="0" marL="0">
              <a:buNone/>
            </a:pPr>
            <a:r>
              <a:rPr lang="en-US" sz="2600" b="1" dirty="0">
                <a:solidFill>
                  <a:schemeClr val="accent2"/>
                </a:solidFill>
                <a:latin typeface="Arial" pitchFamily="34" charset="0"/>
                <a:ea typeface="Arial" pitchFamily="34" charset="-122"/>
                <a:cs typeface="Arial" pitchFamily="34" charset="-120"/>
              </a:rPr>
              <a:t>412 ms</a:t>
            </a:r>
            <a:endParaRPr lang="en-US" sz="2600" dirty="0"/>
          </a:p>
        </p:txBody>
      </p:sp>
      <p:sp>
        <p:nvSpPr>
          <p:cNvPr id="9" name="Text 5"/>
          <p:cNvSpPr txBox="1"/>
          <p:nvPr/>
        </p:nvSpPr>
        <p:spPr>
          <a:xfrm>
            <a:off x="7772400" y="2788920"/>
            <a:ext cx="1645920" cy="731520"/>
          </a:xfrm>
          <a:prstGeom prst="rect">
            <a:avLst/>
          </a:prstGeom>
          <a:noFill/>
          <a:ln/>
        </p:spPr>
        <p:txBody>
          <a:bodyPr wrap="square" lIns="0" tIns="0" rIns="0" bIns="0" rtlCol="0" anchor="t"/>
          <a:lstStyle/>
          <a:p>
            <a:pPr indent="0" marL="0">
              <a:buNone/>
            </a:pPr>
            <a:r>
              <a:rPr lang="en-US" sz="1400" dirty="0">
                <a:solidFill>
                  <a:schemeClr val="accent6"/>
                </a:solidFill>
              </a:rPr>
              <a:t>to confirmed</a:t>
            </a:r>
            <a:endParaRPr lang="en-US" sz="1400" dirty="0"/>
          </a:p>
        </p:txBody>
      </p:sp>
      <p:sp>
        <p:nvSpPr>
          <p:cNvPr id="10" name="settlement stat 1"/>
          <p:cNvSpPr/>
          <p:nvPr/>
        </p:nvSpPr>
        <p:spPr>
          <a:xfrm>
            <a:off x="9646920" y="1783080"/>
            <a:ext cx="1920240" cy="1920240"/>
          </a:xfrm>
          <a:prstGeom prst="roundRect">
            <a:avLst>
              <a:gd name="adj" fmla="val 5714"/>
            </a:avLst>
          </a:prstGeom>
          <a:solidFill>
            <a:schemeClr val="tx2"/>
          </a:solidFill>
          <a:ln w="12700">
            <a:solidFill>
              <a:srgbClr val="2A2A44"/>
            </a:solidFill>
            <a:prstDash val="solid"/>
          </a:ln>
        </p:spPr>
      </p:sp>
      <p:sp>
        <p:nvSpPr>
          <p:cNvPr id="11" name="Text 7"/>
          <p:cNvSpPr txBox="1"/>
          <p:nvPr/>
        </p:nvSpPr>
        <p:spPr>
          <a:xfrm>
            <a:off x="9829800" y="2103120"/>
            <a:ext cx="1645920" cy="640080"/>
          </a:xfrm>
          <a:prstGeom prst="rect">
            <a:avLst/>
          </a:prstGeom>
          <a:noFill/>
          <a:ln/>
        </p:spPr>
        <p:txBody>
          <a:bodyPr wrap="square" lIns="0" tIns="0" rIns="0" bIns="0" rtlCol="0" anchor="t"/>
          <a:lstStyle/>
          <a:p>
            <a:pPr indent="0" marL="0">
              <a:buNone/>
            </a:pPr>
            <a:r>
              <a:rPr lang="en-US" sz="2600" b="1" dirty="0">
                <a:solidFill>
                  <a:schemeClr val="bg1"/>
                </a:solidFill>
                <a:latin typeface="Arial" pitchFamily="34" charset="0"/>
                <a:ea typeface="Arial" pitchFamily="34" charset="-122"/>
                <a:cs typeface="Arial" pitchFamily="34" charset="-120"/>
              </a:rPr>
              <a:t>≈ 13 s</a:t>
            </a:r>
            <a:endParaRPr lang="en-US" sz="2600" dirty="0"/>
          </a:p>
        </p:txBody>
      </p:sp>
      <p:sp>
        <p:nvSpPr>
          <p:cNvPr id="12" name="Text 8"/>
          <p:cNvSpPr txBox="1"/>
          <p:nvPr/>
        </p:nvSpPr>
        <p:spPr>
          <a:xfrm>
            <a:off x="9829800" y="2788920"/>
            <a:ext cx="1645920" cy="731520"/>
          </a:xfrm>
          <a:prstGeom prst="rect">
            <a:avLst/>
          </a:prstGeom>
          <a:noFill/>
          <a:ln/>
        </p:spPr>
        <p:txBody>
          <a:bodyPr wrap="square" lIns="0" tIns="0" rIns="0" bIns="0" rtlCol="0" anchor="t"/>
          <a:lstStyle/>
          <a:p>
            <a:pPr indent="0" marL="0">
              <a:buNone/>
            </a:pPr>
            <a:r>
              <a:rPr lang="en-US" sz="1400" dirty="0">
                <a:solidFill>
                  <a:schemeClr val="accent6"/>
                </a:solidFill>
              </a:rPr>
              <a:t>to finalized today</a:t>
            </a:r>
            <a:endParaRPr lang="en-US" sz="1400" dirty="0"/>
          </a:p>
        </p:txBody>
      </p:sp>
      <p:sp>
        <p:nvSpPr>
          <p:cNvPr id="13" name="settlement stat 2"/>
          <p:cNvSpPr/>
          <p:nvPr/>
        </p:nvSpPr>
        <p:spPr>
          <a:xfrm>
            <a:off x="7589520" y="3886200"/>
            <a:ext cx="1920240" cy="1920240"/>
          </a:xfrm>
          <a:prstGeom prst="roundRect">
            <a:avLst>
              <a:gd name="adj" fmla="val 5714"/>
            </a:avLst>
          </a:prstGeom>
          <a:solidFill>
            <a:schemeClr val="tx2"/>
          </a:solidFill>
          <a:ln w="12700">
            <a:solidFill>
              <a:srgbClr val="2A2A44"/>
            </a:solidFill>
            <a:prstDash val="solid"/>
          </a:ln>
        </p:spPr>
      </p:sp>
      <p:sp>
        <p:nvSpPr>
          <p:cNvPr id="14" name="Text 10"/>
          <p:cNvSpPr txBox="1"/>
          <p:nvPr/>
        </p:nvSpPr>
        <p:spPr>
          <a:xfrm>
            <a:off x="7772400" y="4206240"/>
            <a:ext cx="1645920" cy="640080"/>
          </a:xfrm>
          <a:prstGeom prst="rect">
            <a:avLst/>
          </a:prstGeom>
          <a:noFill/>
          <a:ln/>
        </p:spPr>
        <p:txBody>
          <a:bodyPr wrap="square" lIns="0" tIns="0" rIns="0" bIns="0" rtlCol="0" anchor="t"/>
          <a:lstStyle/>
          <a:p>
            <a:pPr indent="0" marL="0">
              <a:buNone/>
            </a:pPr>
            <a:r>
              <a:rPr lang="en-US" sz="2600" b="1" dirty="0">
                <a:solidFill>
                  <a:schemeClr val="bg1"/>
                </a:solidFill>
                <a:latin typeface="Arial" pitchFamily="34" charset="0"/>
                <a:ea typeface="Arial" pitchFamily="34" charset="-122"/>
                <a:cs typeface="Arial" pitchFamily="34" charset="-120"/>
              </a:rPr>
              <a:t>$0.0008</a:t>
            </a:r>
            <a:endParaRPr lang="en-US" sz="2600" dirty="0"/>
          </a:p>
        </p:txBody>
      </p:sp>
      <p:sp>
        <p:nvSpPr>
          <p:cNvPr id="15" name="Text 11"/>
          <p:cNvSpPr txBox="1"/>
          <p:nvPr/>
        </p:nvSpPr>
        <p:spPr>
          <a:xfrm>
            <a:off x="7772400" y="4892040"/>
            <a:ext cx="1645920" cy="731520"/>
          </a:xfrm>
          <a:prstGeom prst="rect">
            <a:avLst/>
          </a:prstGeom>
          <a:noFill/>
          <a:ln/>
        </p:spPr>
        <p:txBody>
          <a:bodyPr wrap="square" lIns="0" tIns="0" rIns="0" bIns="0" rtlCol="0" anchor="t"/>
          <a:lstStyle/>
          <a:p>
            <a:pPr indent="0" marL="0">
              <a:buNone/>
            </a:pPr>
            <a:r>
              <a:rPr lang="en-US" sz="1400" dirty="0">
                <a:solidFill>
                  <a:schemeClr val="accent6"/>
                </a:solidFill>
              </a:rPr>
              <a:t>average network fee</a:t>
            </a:r>
            <a:endParaRPr lang="en-US" sz="1400" dirty="0"/>
          </a:p>
        </p:txBody>
      </p:sp>
      <p:sp>
        <p:nvSpPr>
          <p:cNvPr id="16" name="settlement stat 3"/>
          <p:cNvSpPr/>
          <p:nvPr/>
        </p:nvSpPr>
        <p:spPr>
          <a:xfrm>
            <a:off x="9646920" y="3886200"/>
            <a:ext cx="1920240" cy="1920240"/>
          </a:xfrm>
          <a:prstGeom prst="roundRect">
            <a:avLst>
              <a:gd name="adj" fmla="val 5714"/>
            </a:avLst>
          </a:prstGeom>
          <a:solidFill>
            <a:schemeClr val="tx2"/>
          </a:solidFill>
          <a:ln w="12700">
            <a:solidFill>
              <a:srgbClr val="2A2A44"/>
            </a:solidFill>
            <a:prstDash val="solid"/>
          </a:ln>
        </p:spPr>
      </p:sp>
      <p:sp>
        <p:nvSpPr>
          <p:cNvPr id="17" name="Text 13"/>
          <p:cNvSpPr txBox="1"/>
          <p:nvPr/>
        </p:nvSpPr>
        <p:spPr>
          <a:xfrm>
            <a:off x="9829800" y="4206240"/>
            <a:ext cx="1645920" cy="640080"/>
          </a:xfrm>
          <a:prstGeom prst="rect">
            <a:avLst/>
          </a:prstGeom>
          <a:noFill/>
          <a:ln/>
        </p:spPr>
        <p:txBody>
          <a:bodyPr wrap="square" lIns="0" tIns="0" rIns="0" bIns="0" rtlCol="0" anchor="t"/>
          <a:lstStyle/>
          <a:p>
            <a:pPr indent="0" marL="0">
              <a:buNone/>
            </a:pPr>
            <a:r>
              <a:rPr lang="en-US" sz="2600" b="1" dirty="0">
                <a:solidFill>
                  <a:schemeClr val="bg1"/>
                </a:solidFill>
                <a:latin typeface="Arial" pitchFamily="34" charset="0"/>
                <a:ea typeface="Arial" pitchFamily="34" charset="-122"/>
                <a:cs typeface="Arial" pitchFamily="34" charset="-120"/>
              </a:rPr>
              <a:t>24 / 7</a:t>
            </a:r>
            <a:endParaRPr lang="en-US" sz="2600" dirty="0"/>
          </a:p>
        </p:txBody>
      </p:sp>
      <p:sp>
        <p:nvSpPr>
          <p:cNvPr id="18" name="Text 14"/>
          <p:cNvSpPr txBox="1"/>
          <p:nvPr/>
        </p:nvSpPr>
        <p:spPr>
          <a:xfrm>
            <a:off x="9829800" y="4892040"/>
            <a:ext cx="1645920" cy="731520"/>
          </a:xfrm>
          <a:prstGeom prst="rect">
            <a:avLst/>
          </a:prstGeom>
          <a:noFill/>
          <a:ln/>
        </p:spPr>
        <p:txBody>
          <a:bodyPr wrap="square" lIns="0" tIns="0" rIns="0" bIns="0" rtlCol="0" anchor="t"/>
          <a:lstStyle/>
          <a:p>
            <a:pPr indent="0" marL="0">
              <a:buNone/>
            </a:pPr>
            <a:r>
              <a:rPr lang="en-US" sz="1400" dirty="0">
                <a:solidFill>
                  <a:schemeClr val="accent6"/>
                </a:solidFill>
              </a:rPr>
              <a:t>no bank cut-off</a:t>
            </a:r>
            <a:endParaRPr lang="en-US" sz="1400" dirty="0"/>
          </a:p>
        </p:txBody>
      </p:sp>
      <p:sp>
        <p:nvSpPr>
          <p:cNvPr id="19" name="Text 15"/>
          <p:cNvSpPr txBox="1"/>
          <p:nvPr/>
        </p:nvSpPr>
        <p:spPr>
          <a:xfrm>
            <a:off x="548640" y="6035040"/>
            <a:ext cx="8229600" cy="274320"/>
          </a:xfrm>
          <a:prstGeom prst="rect">
            <a:avLst/>
          </a:prstGeom>
          <a:noFill/>
          <a:ln/>
        </p:spPr>
        <p:txBody>
          <a:bodyPr wrap="square" lIns="0" tIns="0" rIns="0" bIns="0" rtlCol="0" anchor="t"/>
          <a:lstStyle/>
          <a:p>
            <a:pPr indent="0" marL="0">
              <a:buNone/>
            </a:pPr>
            <a:r>
              <a:rPr lang="en-US" sz="1000" dirty="0">
                <a:solidFill>
                  <a:schemeClr val="accent6"/>
                </a:solidFill>
              </a:rPr>
              <a:t>Demo figures from devnet. Finalized ≈ 12.8 s today; Alpenglow targets ~150 ms.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64240" cy="685800"/>
          </a:xfrm>
          <a:prstGeom prst="rect">
            <a:avLst/>
          </a:prstGeom>
          <a:noFill/>
          <a:ln/>
        </p:spPr>
        <p:txBody>
          <a:bodyPr wrap="square" lIns="0" tIns="0" rIns="0" bIns="0" rtlCol="0" anchor="ctr"/>
          <a:lstStyle/>
          <a:p>
            <a:pPr algn="l" indent="0" marL="0">
              <a:buNone/>
            </a:pPr>
            <a:r>
              <a:rPr lang="en-US" sz="3600" b="1" dirty="0">
                <a:solidFill>
                  <a:schemeClr val="bg1"/>
                </a:solidFill>
              </a:rPr>
              <a:t>Modular by design</a:t>
            </a:r>
            <a:endParaRPr lang="en-US" sz="3600" dirty="0"/>
          </a:p>
        </p:txBody>
      </p:sp>
      <p:sp>
        <p:nvSpPr>
          <p:cNvPr id="3" name="Text 0"/>
          <p:cNvSpPr/>
          <p:nvPr>
            <p:ph idx="101" type="body" hasCustomPrompt="1"/>
          </p:nvPr>
        </p:nvSpPr>
        <p:spPr>
          <a:xfrm>
            <a:off x="548640" y="1024128"/>
            <a:ext cx="11064240" cy="384048"/>
          </a:xfrm>
          <a:prstGeom prst="rect">
            <a:avLst/>
          </a:prstGeom>
          <a:noFill/>
          <a:ln/>
        </p:spPr>
        <p:txBody>
          <a:bodyPr wrap="square" lIns="0" tIns="0" rIns="0" bIns="0" rtlCol="0" anchor="t"/>
          <a:lstStyle/>
          <a:p>
            <a:pPr indent="0" marL="0">
              <a:buNone/>
            </a:pPr>
            <a:r>
              <a:rPr lang="en-US" sz="1600" dirty="0">
                <a:solidFill>
                  <a:schemeClr val="accent6"/>
                </a:solidFill>
              </a:rPr>
              <a:t>Switch on only what each deployment needs</a:t>
            </a:r>
            <a:endParaRPr lang="en-US" sz="1600" dirty="0"/>
          </a:p>
        </p:txBody>
      </p:sp>
      <p:sp>
        <p:nvSpPr>
          <p:cNvPr id="5" name="Modules screenshot frame"/>
          <p:cNvSpPr/>
          <p:nvPr/>
        </p:nvSpPr>
        <p:spPr>
          <a:xfrm>
            <a:off x="484632" y="1719072"/>
            <a:ext cx="6711696" cy="4242816"/>
          </a:xfrm>
          <a:prstGeom prst="roundRect">
            <a:avLst>
              <a:gd name="adj" fmla="val 2155"/>
            </a:avLst>
          </a:prstGeom>
          <a:solidFill>
            <a:srgbClr val="1C1C30"/>
          </a:solidFill>
          <a:ln w="15875">
            <a:solidFill>
              <a:srgbClr val="3A2A66"/>
            </a:solidFill>
            <a:prstDash val="solid"/>
          </a:ln>
          <a:effectLst>
            <a:outerShdw sx="100000" sy="100000" kx="0" ky="0" algn="bl" rotWithShape="0" blurRad="177800" dist="50800" dir="5400000">
              <a:srgbClr val="000000">
                <a:alpha val="55000"/>
              </a:srgbClr>
            </a:outerShdw>
          </a:effectLst>
        </p:spPr>
      </p:sp>
      <p:pic>
        <p:nvPicPr>
          <p:cNvPr id="6" name="Modules screenshot" descr="Modules screenshot">    </p:cNvPr>
          <p:cNvPicPr>
            <a:picLocks noChangeAspect="1"/>
          </p:cNvPicPr>
          <p:nvPr/>
        </p:nvPicPr>
        <p:blipFill>
          <a:blip r:embed="rId1"/>
          <a:stretch>
            <a:fillRect/>
          </a:stretch>
        </p:blipFill>
        <p:spPr>
          <a:xfrm>
            <a:off x="548640" y="1783080"/>
            <a:ext cx="6583680" cy="4114800"/>
          </a:xfrm>
          <a:prstGeom prst="rect">
            <a:avLst/>
          </a:prstGeom>
        </p:spPr>
      </p:pic>
      <p:pic>
        <p:nvPicPr>
          <p:cNvPr id="7" name="icon FiCpu" descr="preencoded.png">    </p:cNvPr>
          <p:cNvPicPr>
            <a:picLocks noChangeAspect="1"/>
          </p:cNvPicPr>
          <p:nvPr/>
        </p:nvPicPr>
        <p:blipFill>
          <a:blip r:embed="rId2"/>
          <a:stretch>
            <a:fillRect/>
          </a:stretch>
        </p:blipFill>
        <p:spPr>
          <a:xfrm>
            <a:off x="7589520" y="1828800"/>
            <a:ext cx="457200" cy="457200"/>
          </a:xfrm>
          <a:prstGeom prst="rect">
            <a:avLst/>
          </a:prstGeom>
        </p:spPr>
      </p:pic>
      <p:sp>
        <p:nvSpPr>
          <p:cNvPr id="8" name="row ProcessorAdapter"/>
          <p:cNvSpPr txBox="1"/>
          <p:nvPr/>
        </p:nvSpPr>
        <p:spPr>
          <a:xfrm>
            <a:off x="8229600" y="1792224"/>
            <a:ext cx="3383280" cy="932688"/>
          </a:xfrm>
          <a:prstGeom prst="rect">
            <a:avLst/>
          </a:prstGeom>
          <a:noFill/>
          <a:ln/>
        </p:spPr>
        <p:txBody>
          <a:bodyPr wrap="square" lIns="0" tIns="0" rIns="0" bIns="0" rtlCol="0" anchor="t"/>
          <a:lstStyle/>
          <a:p>
            <a:pPr indent="0" marL="0">
              <a:buNone/>
            </a:pPr>
            <a:r>
              <a:rPr lang="en-US" sz="1600" b="1" dirty="0">
                <a:solidFill>
                  <a:schemeClr val="bg1"/>
                </a:solidFill>
              </a:rPr>
              <a:t>ProcessorAdapter</a:t>
            </a:r>
            <a:endParaRPr lang="en-US" sz="1500" dirty="0"/>
          </a:p>
          <a:p>
            <a:pPr indent="0" marL="0">
              <a:buNone/>
            </a:pPr>
            <a:r>
              <a:rPr lang="en-US" sz="1400" dirty="0">
                <a:solidFill>
                  <a:schemeClr val="accent6"/>
                </a:solidFill>
              </a:rPr>
              <a:t>Cards, UPI, wallets, chains</a:t>
            </a:r>
            <a:endParaRPr lang="en-US" sz="1500" dirty="0"/>
          </a:p>
        </p:txBody>
      </p:sp>
      <p:pic>
        <p:nvPicPr>
          <p:cNvPr id="9" name="icon FiKey" descr="preencoded.png">    </p:cNvPr>
          <p:cNvPicPr>
            <a:picLocks noChangeAspect="1"/>
          </p:cNvPicPr>
          <p:nvPr/>
        </p:nvPicPr>
        <p:blipFill>
          <a:blip r:embed="rId3"/>
          <a:stretch>
            <a:fillRect/>
          </a:stretch>
        </p:blipFill>
        <p:spPr>
          <a:xfrm>
            <a:off x="7589520" y="2852928"/>
            <a:ext cx="457200" cy="457200"/>
          </a:xfrm>
          <a:prstGeom prst="rect">
            <a:avLst/>
          </a:prstGeom>
        </p:spPr>
      </p:pic>
      <p:sp>
        <p:nvSpPr>
          <p:cNvPr id="10" name="row WalletProvider"/>
          <p:cNvSpPr txBox="1"/>
          <p:nvPr/>
        </p:nvSpPr>
        <p:spPr>
          <a:xfrm>
            <a:off x="8229600" y="2816352"/>
            <a:ext cx="3383280" cy="932688"/>
          </a:xfrm>
          <a:prstGeom prst="rect">
            <a:avLst/>
          </a:prstGeom>
          <a:noFill/>
          <a:ln/>
        </p:spPr>
        <p:txBody>
          <a:bodyPr wrap="square" lIns="0" tIns="0" rIns="0" bIns="0" rtlCol="0" anchor="t"/>
          <a:lstStyle/>
          <a:p>
            <a:pPr indent="0" marL="0">
              <a:buNone/>
            </a:pPr>
            <a:r>
              <a:rPr lang="en-US" sz="1600" b="1" dirty="0">
                <a:solidFill>
                  <a:schemeClr val="bg1"/>
                </a:solidFill>
              </a:rPr>
              <a:t>WalletProvider</a:t>
            </a:r>
            <a:endParaRPr lang="en-US" sz="1500" dirty="0"/>
          </a:p>
          <a:p>
            <a:pPr indent="0" marL="0">
              <a:buNone/>
            </a:pPr>
            <a:r>
              <a:rPr lang="en-US" sz="1400" dirty="0">
                <a:solidFill>
                  <a:schemeClr val="accent6"/>
                </a:solidFill>
              </a:rPr>
              <a:t>MPC custody, HSM, self-custody</a:t>
            </a:r>
            <a:endParaRPr lang="en-US" sz="1500" dirty="0"/>
          </a:p>
        </p:txBody>
      </p:sp>
      <p:pic>
        <p:nvPicPr>
          <p:cNvPr id="11" name="icon FiActivity" descr="preencoded.png">    </p:cNvPr>
          <p:cNvPicPr>
            <a:picLocks noChangeAspect="1"/>
          </p:cNvPicPr>
          <p:nvPr/>
        </p:nvPicPr>
        <p:blipFill>
          <a:blip r:embed="rId4"/>
          <a:stretch>
            <a:fillRect/>
          </a:stretch>
        </p:blipFill>
        <p:spPr>
          <a:xfrm>
            <a:off x="7589520" y="3877056"/>
            <a:ext cx="457200" cy="457200"/>
          </a:xfrm>
          <a:prstGeom prst="rect">
            <a:avLst/>
          </a:prstGeom>
        </p:spPr>
      </p:pic>
      <p:sp>
        <p:nvSpPr>
          <p:cNvPr id="12" name="row PriceOracle"/>
          <p:cNvSpPr txBox="1"/>
          <p:nvPr/>
        </p:nvSpPr>
        <p:spPr>
          <a:xfrm>
            <a:off x="8229600" y="3840480"/>
            <a:ext cx="3383280" cy="932688"/>
          </a:xfrm>
          <a:prstGeom prst="rect">
            <a:avLst/>
          </a:prstGeom>
          <a:noFill/>
          <a:ln/>
        </p:spPr>
        <p:txBody>
          <a:bodyPr wrap="square" lIns="0" tIns="0" rIns="0" bIns="0" rtlCol="0" anchor="t"/>
          <a:lstStyle/>
          <a:p>
            <a:pPr indent="0" marL="0">
              <a:buNone/>
            </a:pPr>
            <a:r>
              <a:rPr lang="en-US" sz="1600" b="1" dirty="0">
                <a:solidFill>
                  <a:schemeClr val="bg1"/>
                </a:solidFill>
              </a:rPr>
              <a:t>PriceOracle</a:t>
            </a:r>
            <a:endParaRPr lang="en-US" sz="1500" dirty="0"/>
          </a:p>
          <a:p>
            <a:pPr indent="0" marL="0">
              <a:buNone/>
            </a:pPr>
            <a:r>
              <a:rPr lang="en-US" sz="1400" dirty="0">
                <a:solidFill>
                  <a:schemeClr val="accent6"/>
                </a:solidFill>
              </a:rPr>
              <a:t>CoinGecko, Chainlink, Pyth</a:t>
            </a:r>
            <a:endParaRPr lang="en-US" sz="1500" dirty="0"/>
          </a:p>
        </p:txBody>
      </p:sp>
      <p:pic>
        <p:nvPicPr>
          <p:cNvPr id="13" name="icon FiSend" descr="preencoded.png">    </p:cNvPr>
          <p:cNvPicPr>
            <a:picLocks noChangeAspect="1"/>
          </p:cNvPicPr>
          <p:nvPr/>
        </p:nvPicPr>
        <p:blipFill>
          <a:blip r:embed="rId5"/>
          <a:stretch>
            <a:fillRect/>
          </a:stretch>
        </p:blipFill>
        <p:spPr>
          <a:xfrm>
            <a:off x="7589520" y="4901184"/>
            <a:ext cx="457200" cy="457200"/>
          </a:xfrm>
          <a:prstGeom prst="rect">
            <a:avLst/>
          </a:prstGeom>
        </p:spPr>
      </p:pic>
      <p:sp>
        <p:nvSpPr>
          <p:cNvPr id="14" name="row SettlementRail"/>
          <p:cNvSpPr txBox="1"/>
          <p:nvPr/>
        </p:nvSpPr>
        <p:spPr>
          <a:xfrm>
            <a:off x="8229600" y="4864608"/>
            <a:ext cx="3383280" cy="932688"/>
          </a:xfrm>
          <a:prstGeom prst="rect">
            <a:avLst/>
          </a:prstGeom>
          <a:noFill/>
          <a:ln/>
        </p:spPr>
        <p:txBody>
          <a:bodyPr wrap="square" lIns="0" tIns="0" rIns="0" bIns="0" rtlCol="0" anchor="t"/>
          <a:lstStyle/>
          <a:p>
            <a:pPr indent="0" marL="0">
              <a:buNone/>
            </a:pPr>
            <a:r>
              <a:rPr lang="en-US" sz="1600" b="1" dirty="0">
                <a:solidFill>
                  <a:schemeClr val="bg1"/>
                </a:solidFill>
              </a:rPr>
              <a:t>SettlementRail</a:t>
            </a:r>
            <a:endParaRPr lang="en-US" sz="1500" dirty="0"/>
          </a:p>
          <a:p>
            <a:pPr indent="0" marL="0">
              <a:buNone/>
            </a:pPr>
            <a:r>
              <a:rPr lang="en-US" sz="1400" dirty="0">
                <a:solidFill>
                  <a:schemeClr val="accent6"/>
                </a:solidFill>
              </a:rPr>
              <a:t>BridgeRoute: any chain → Solana</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64240" cy="685800"/>
          </a:xfrm>
          <a:prstGeom prst="rect">
            <a:avLst/>
          </a:prstGeom>
          <a:noFill/>
          <a:ln/>
        </p:spPr>
        <p:txBody>
          <a:bodyPr wrap="square" lIns="0" tIns="0" rIns="0" bIns="0" rtlCol="0" anchor="ctr"/>
          <a:lstStyle/>
          <a:p>
            <a:pPr algn="l" indent="0" marL="0">
              <a:buNone/>
            </a:pPr>
            <a:r>
              <a:rPr lang="en-US" sz="3600" b="1" dirty="0">
                <a:solidFill>
                  <a:schemeClr val="bg1"/>
                </a:solidFill>
              </a:rPr>
              <a:t>API surface</a:t>
            </a:r>
            <a:endParaRPr lang="en-US" sz="3600" dirty="0"/>
          </a:p>
        </p:txBody>
      </p:sp>
      <p:sp>
        <p:nvSpPr>
          <p:cNvPr id="3" name="Text 0"/>
          <p:cNvSpPr/>
          <p:nvPr>
            <p:ph idx="101" type="body" hasCustomPrompt="1"/>
          </p:nvPr>
        </p:nvSpPr>
        <p:spPr>
          <a:xfrm>
            <a:off x="548640" y="1024128"/>
            <a:ext cx="11064240" cy="384048"/>
          </a:xfrm>
          <a:prstGeom prst="rect">
            <a:avLst/>
          </a:prstGeom>
          <a:noFill/>
          <a:ln/>
        </p:spPr>
        <p:txBody>
          <a:bodyPr wrap="square" lIns="0" tIns="0" rIns="0" bIns="0" rtlCol="0" anchor="t"/>
          <a:lstStyle/>
          <a:p>
            <a:pPr indent="0" marL="0">
              <a:buNone/>
            </a:pPr>
            <a:r>
              <a:rPr lang="en-US" sz="1600" dirty="0">
                <a:solidFill>
                  <a:schemeClr val="accent6"/>
                </a:solidFill>
              </a:rPr>
              <a:t>REST + OpenAPI 3 · Bearer scopes · idempotency · HMAC on money moves</a:t>
            </a:r>
            <a:endParaRPr lang="en-US" sz="1600" dirty="0"/>
          </a:p>
        </p:txBody>
      </p:sp>
      <p:graphicFrame>
        <p:nvGraphicFramePr>
          <p:cNvPr id="18" name="API table"/>
          <p:cNvGraphicFramePr>
            <a:graphicFrameLocks noGrp="1"/>
          </p:cNvGraphicFramePr>
          <p:nvPr>
            <p:extLst>
              <p:ext uri="{D42A27DB-BD31-4B8C-83A1-F6EECF244321}">
                <p14:modId xmlns:p14="http://schemas.microsoft.com/office/powerpoint/2010/main" val="1579011935"/>
              </p:ext>
            </p:extLst>
          </p:nvPr>
        </p:nvGraphicFramePr>
        <p:xfrm>
          <a:off x="548640" y="1691640"/>
          <a:ext cx="11064240" cy="914400"/>
        </p:xfrm>
        <a:graphic>
          <a:graphicData uri="http://schemas.openxmlformats.org/drawingml/2006/table">
            <a:tbl>
              <a:tblPr/>
              <a:tblGrid>
                <a:gridCol w="1051560"/>
                <a:gridCol w="4572000"/>
                <a:gridCol w="3017520"/>
                <a:gridCol w="2423160"/>
              </a:tblGrid>
              <a:tr h="457200">
                <a:tc>
                  <a:txBody>
                    <a:bodyPr/>
                    <a:lstStyle/>
                    <a:p>
                      <a:pPr indent="0" marL="0">
                        <a:buNone/>
                      </a:pPr>
                      <a:r>
                        <a:rPr lang="en-US" sz="1400" b="1" dirty="0">
                          <a:solidFill>
                            <a:schemeClr val="bg1"/>
                          </a:solidFill>
                          <a:latin typeface="Calibri" pitchFamily="34" charset="0"/>
                          <a:ea typeface="Calibri" pitchFamily="34" charset="-122"/>
                          <a:cs typeface="Calibri" pitchFamily="34" charset="-120"/>
                        </a:rPr>
                        <a:t>Method</a:t>
                      </a:r>
                      <a:endParaRPr lang="en-US" sz="1400" dirty="0">
                        <a:latin typeface="Calibri" charset="0"/>
                        <a:ea typeface="Calibri" charset="0"/>
                        <a:cs typeface="Calibri" charset="0"/>
                      </a:endParaRPr>
                    </a:p>
                  </a:txBody>
                  <a:tcPr marL="91440" marR="91440" marT="45720" marB="45720" anchor="ctr">
                    <a:lnL w="25400" cap="flat" cmpd="sng" algn="ctr">
                      <a:solidFill>
                        <a:srgbClr val="0B0B14"/>
                      </a:solidFill>
                      <a:prstDash val="solid"/>
                      <a:round/>
                      <a:headEnd type="none" w="med" len="med"/>
                      <a:tailEnd type="none" w="med" len="med"/>
                    </a:lnL>
                    <a:lnR w="25400" cap="flat" cmpd="sng" algn="ctr">
                      <a:solidFill>
                        <a:srgbClr val="0B0B14"/>
                      </a:solidFill>
                      <a:prstDash val="solid"/>
                      <a:round/>
                      <a:headEnd type="none" w="med" len="med"/>
                      <a:tailEnd type="none" w="med" len="med"/>
                    </a:lnR>
                    <a:lnT w="25400" cap="flat" cmpd="sng" algn="ctr">
                      <a:solidFill>
                        <a:srgbClr val="0B0B14"/>
                      </a:solidFill>
                      <a:prstDash val="solid"/>
                      <a:round/>
                      <a:headEnd type="none" w="med" len="med"/>
                      <a:tailEnd type="none" w="med" len="med"/>
                    </a:lnT>
                    <a:lnB w="25400" cap="flat" cmpd="sng" algn="ctr">
                      <a:solidFill>
                        <a:srgbClr val="0B0B14"/>
                      </a:solidFill>
                      <a:prstDash val="solid"/>
                      <a:round/>
                      <a:headEnd type="none" w="med" len="med"/>
                      <a:tailEnd type="none" w="med" len="med"/>
                    </a:lnB>
                    <a:solidFill>
                      <a:srgbClr val="22223A"/>
                    </a:solidFill>
                  </a:tcPr>
                </a:tc>
                <a:tc>
                  <a:txBody>
                    <a:bodyPr/>
                    <a:lstStyle/>
                    <a:p>
                      <a:pPr indent="0" marL="0">
                        <a:buNone/>
                      </a:pPr>
                      <a:r>
                        <a:rPr lang="en-US" sz="1400" b="1" dirty="0">
                          <a:solidFill>
                            <a:schemeClr val="bg1"/>
                          </a:solidFill>
                          <a:latin typeface="Calibri" pitchFamily="34" charset="0"/>
                          <a:ea typeface="Calibri" pitchFamily="34" charset="-122"/>
                          <a:cs typeface="Calibri" pitchFamily="34" charset="-120"/>
                        </a:rPr>
                        <a:t>Endpoint</a:t>
                      </a:r>
                      <a:endParaRPr lang="en-US" sz="1400" dirty="0">
                        <a:latin typeface="Calibri" charset="0"/>
                        <a:ea typeface="Calibri" charset="0"/>
                        <a:cs typeface="Calibri" charset="0"/>
                      </a:endParaRPr>
                    </a:p>
                  </a:txBody>
                  <a:tcPr marL="91440" marR="91440" marT="45720" marB="45720" anchor="ctr">
                    <a:lnL w="25400" cap="flat" cmpd="sng" algn="ctr">
                      <a:solidFill>
                        <a:srgbClr val="0B0B14"/>
                      </a:solidFill>
                      <a:prstDash val="solid"/>
                      <a:round/>
                      <a:headEnd type="none" w="med" len="med"/>
                      <a:tailEnd type="none" w="med" len="med"/>
                    </a:lnL>
                    <a:lnR w="25400" cap="flat" cmpd="sng" algn="ctr">
                      <a:solidFill>
                        <a:srgbClr val="0B0B14"/>
                      </a:solidFill>
                      <a:prstDash val="solid"/>
                      <a:round/>
                      <a:headEnd type="none" w="med" len="med"/>
                      <a:tailEnd type="none" w="med" len="med"/>
                    </a:lnR>
                    <a:lnT w="25400" cap="flat" cmpd="sng" algn="ctr">
                      <a:solidFill>
                        <a:srgbClr val="0B0B14"/>
                      </a:solidFill>
                      <a:prstDash val="solid"/>
                      <a:round/>
                      <a:headEnd type="none" w="med" len="med"/>
                      <a:tailEnd type="none" w="med" len="med"/>
                    </a:lnT>
                    <a:lnB w="25400" cap="flat" cmpd="sng" algn="ctr">
                      <a:solidFill>
                        <a:srgbClr val="0B0B14"/>
                      </a:solidFill>
                      <a:prstDash val="solid"/>
                      <a:round/>
                      <a:headEnd type="none" w="med" len="med"/>
                      <a:tailEnd type="none" w="med" len="med"/>
                    </a:lnB>
                    <a:solidFill>
                      <a:srgbClr val="22223A"/>
                    </a:solidFill>
                  </a:tcPr>
                </a:tc>
                <a:tc>
                  <a:txBody>
                    <a:bodyPr/>
                    <a:lstStyle/>
                    <a:p>
                      <a:pPr indent="0" marL="0">
                        <a:buNone/>
                      </a:pPr>
                      <a:r>
                        <a:rPr lang="en-US" sz="1400" b="1" dirty="0">
                          <a:solidFill>
                            <a:schemeClr val="bg1"/>
                          </a:solidFill>
                          <a:latin typeface="Calibri" pitchFamily="34" charset="0"/>
                          <a:ea typeface="Calibri" pitchFamily="34" charset="-122"/>
                          <a:cs typeface="Calibri" pitchFamily="34" charset="-120"/>
                        </a:rPr>
                        <a:t>Purpose</a:t>
                      </a:r>
                      <a:endParaRPr lang="en-US" sz="1400" dirty="0">
                        <a:latin typeface="Calibri" charset="0"/>
                        <a:ea typeface="Calibri" charset="0"/>
                        <a:cs typeface="Calibri" charset="0"/>
                      </a:endParaRPr>
                    </a:p>
                  </a:txBody>
                  <a:tcPr marL="91440" marR="91440" marT="45720" marB="45720" anchor="ctr">
                    <a:lnL w="25400" cap="flat" cmpd="sng" algn="ctr">
                      <a:solidFill>
                        <a:srgbClr val="0B0B14"/>
                      </a:solidFill>
                      <a:prstDash val="solid"/>
                      <a:round/>
                      <a:headEnd type="none" w="med" len="med"/>
                      <a:tailEnd type="none" w="med" len="med"/>
                    </a:lnL>
                    <a:lnR w="25400" cap="flat" cmpd="sng" algn="ctr">
                      <a:solidFill>
                        <a:srgbClr val="0B0B14"/>
                      </a:solidFill>
                      <a:prstDash val="solid"/>
                      <a:round/>
                      <a:headEnd type="none" w="med" len="med"/>
                      <a:tailEnd type="none" w="med" len="med"/>
                    </a:lnR>
                    <a:lnT w="25400" cap="flat" cmpd="sng" algn="ctr">
                      <a:solidFill>
                        <a:srgbClr val="0B0B14"/>
                      </a:solidFill>
                      <a:prstDash val="solid"/>
                      <a:round/>
                      <a:headEnd type="none" w="med" len="med"/>
                      <a:tailEnd type="none" w="med" len="med"/>
                    </a:lnT>
                    <a:lnB w="25400" cap="flat" cmpd="sng" algn="ctr">
                      <a:solidFill>
                        <a:srgbClr val="0B0B14"/>
                      </a:solidFill>
                      <a:prstDash val="solid"/>
                      <a:round/>
                      <a:headEnd type="none" w="med" len="med"/>
                      <a:tailEnd type="none" w="med" len="med"/>
                    </a:lnB>
                    <a:solidFill>
                      <a:srgbClr val="22223A"/>
                    </a:solidFill>
                  </a:tcPr>
                </a:tc>
                <a:tc>
                  <a:txBody>
                    <a:bodyPr/>
                    <a:lstStyle/>
                    <a:p>
                      <a:pPr indent="0" marL="0">
                        <a:buNone/>
                      </a:pPr>
                      <a:r>
                        <a:rPr lang="en-US" sz="1400" b="1" dirty="0">
                          <a:solidFill>
                            <a:schemeClr val="bg1"/>
                          </a:solidFill>
                          <a:latin typeface="Calibri" pitchFamily="34" charset="0"/>
                          <a:ea typeface="Calibri" pitchFamily="34" charset="-122"/>
                          <a:cs typeface="Calibri" pitchFamily="34" charset="-120"/>
                        </a:rPr>
                        <a:t>Auth</a:t>
                      </a:r>
                      <a:endParaRPr lang="en-US" sz="1400" dirty="0">
                        <a:latin typeface="Calibri" charset="0"/>
                        <a:ea typeface="Calibri" charset="0"/>
                        <a:cs typeface="Calibri" charset="0"/>
                      </a:endParaRPr>
                    </a:p>
                  </a:txBody>
                  <a:tcPr marL="91440" marR="91440" marT="45720" marB="45720" anchor="ctr">
                    <a:lnL w="25400" cap="flat" cmpd="sng" algn="ctr">
                      <a:solidFill>
                        <a:srgbClr val="0B0B14"/>
                      </a:solidFill>
                      <a:prstDash val="solid"/>
                      <a:round/>
                      <a:headEnd type="none" w="med" len="med"/>
                      <a:tailEnd type="none" w="med" len="med"/>
                    </a:lnL>
                    <a:lnR w="25400" cap="flat" cmpd="sng" algn="ctr">
                      <a:solidFill>
                        <a:srgbClr val="0B0B14"/>
                      </a:solidFill>
                      <a:prstDash val="solid"/>
                      <a:round/>
                      <a:headEnd type="none" w="med" len="med"/>
                      <a:tailEnd type="none" w="med" len="med"/>
                    </a:lnR>
                    <a:lnT w="25400" cap="flat" cmpd="sng" algn="ctr">
                      <a:solidFill>
                        <a:srgbClr val="0B0B14"/>
                      </a:solidFill>
                      <a:prstDash val="solid"/>
                      <a:round/>
                      <a:headEnd type="none" w="med" len="med"/>
                      <a:tailEnd type="none" w="med" len="med"/>
                    </a:lnT>
                    <a:lnB w="25400" cap="flat" cmpd="sng" algn="ctr">
                      <a:solidFill>
                        <a:srgbClr val="0B0B14"/>
                      </a:solidFill>
                      <a:prstDash val="solid"/>
                      <a:round/>
                      <a:headEnd type="none" w="med" len="med"/>
                      <a:tailEnd type="none" w="med" len="med"/>
                    </a:lnB>
                    <a:solidFill>
                      <a:srgbClr val="22223A"/>
                    </a:solidFill>
                  </a:tcPr>
                </a:tc>
              </a:tr>
              <a:tr h="457200">
                <a:tc>
                  <a:txBody>
                    <a:bodyPr/>
                    <a:lstStyle/>
                    <a:p>
                      <a:pPr indent="0" marL="0">
                        <a:buNone/>
                      </a:pPr>
                      <a:r>
                        <a:rPr lang="en-US" sz="1400" b="1" dirty="0">
                          <a:solidFill>
                            <a:schemeClr val="accent2"/>
                          </a:solidFill>
                          <a:latin typeface="Calibri" pitchFamily="34" charset="0"/>
                          <a:ea typeface="Calibri" pitchFamily="34" charset="-122"/>
                          <a:cs typeface="Calibri" pitchFamily="34" charset="-120"/>
                        </a:rPr>
                        <a:t>POST</a:t>
                      </a:r>
                      <a:endParaRPr lang="en-US" sz="1400" dirty="0">
                        <a:latin typeface="Calibri" charset="0"/>
                        <a:ea typeface="Calibri" charset="0"/>
                        <a:cs typeface="Calibri" charset="0"/>
                      </a:endParaRPr>
                    </a:p>
                  </a:txBody>
                  <a:tcPr marL="91440" marR="91440" marT="45720" marB="45720" anchor="ctr">
                    <a:lnL w="25400" cap="flat" cmpd="sng" algn="ctr">
                      <a:solidFill>
                        <a:srgbClr val="0B0B14"/>
                      </a:solidFill>
                      <a:prstDash val="solid"/>
                      <a:round/>
                      <a:headEnd type="none" w="med" len="med"/>
                      <a:tailEnd type="none" w="med" len="med"/>
                    </a:lnL>
                    <a:lnR w="25400" cap="flat" cmpd="sng" algn="ctr">
                      <a:solidFill>
                        <a:srgbClr val="0B0B14"/>
                      </a:solidFill>
                      <a:prstDash val="solid"/>
                      <a:round/>
                      <a:headEnd type="none" w="med" len="med"/>
                      <a:tailEnd type="none" w="med" len="med"/>
                    </a:lnR>
                    <a:lnT w="25400" cap="flat" cmpd="sng" algn="ctr">
                      <a:solidFill>
                        <a:srgbClr val="0B0B14"/>
                      </a:solidFill>
                      <a:prstDash val="solid"/>
                      <a:round/>
                      <a:headEnd type="none" w="med" len="med"/>
                      <a:tailEnd type="none" w="med" len="med"/>
                    </a:lnT>
                    <a:lnB w="25400" cap="flat" cmpd="sng" algn="ctr">
                      <a:solidFill>
                        <a:srgbClr val="0B0B14"/>
                      </a:solidFill>
                      <a:prstDash val="solid"/>
                      <a:round/>
                      <a:headEnd type="none" w="med" len="med"/>
                      <a:tailEnd type="none" w="med" len="med"/>
                    </a:lnB>
                    <a:solidFill>
                      <a:srgbClr val="171728"/>
                    </a:solidFill>
                  </a:tcPr>
                </a:tc>
                <a:tc>
                  <a:txBody>
                    <a:bodyPr/>
                    <a:lstStyle/>
                    <a:p>
                      <a:pPr indent="0" marL="0">
                        <a:buNone/>
                      </a:pPr>
                      <a:r>
                        <a:rPr lang="en-US" sz="1300" dirty="0">
                          <a:solidFill>
                            <a:schemeClr val="bg1"/>
                          </a:solidFill>
                          <a:latin typeface="Courier New" pitchFamily="34" charset="0"/>
                          <a:ea typeface="Courier New" pitchFamily="34" charset="-122"/>
                          <a:cs typeface="Courier New" pitchFamily="34" charset="-120"/>
                        </a:rPr>
                        <a:t>/api/v1/payment_links</a:t>
                      </a:r>
                      <a:endParaRPr lang="en-US" sz="1300" dirty="0">
                        <a:latin typeface="Courier New" charset="0"/>
                        <a:ea typeface="Courier New" charset="0"/>
                        <a:cs typeface="Courier New" charset="0"/>
                      </a:endParaRPr>
                    </a:p>
                  </a:txBody>
                  <a:tcPr marL="91440" marR="91440" marT="45720" marB="45720" anchor="ctr">
                    <a:lnL w="25400" cap="flat" cmpd="sng" algn="ctr">
                      <a:solidFill>
                        <a:srgbClr val="0B0B14"/>
                      </a:solidFill>
                      <a:prstDash val="solid"/>
                      <a:round/>
                      <a:headEnd type="none" w="med" len="med"/>
                      <a:tailEnd type="none" w="med" len="med"/>
                    </a:lnL>
                    <a:lnR w="25400" cap="flat" cmpd="sng" algn="ctr">
                      <a:solidFill>
                        <a:srgbClr val="0B0B14"/>
                      </a:solidFill>
                      <a:prstDash val="solid"/>
                      <a:round/>
                      <a:headEnd type="none" w="med" len="med"/>
                      <a:tailEnd type="none" w="med" len="med"/>
                    </a:lnR>
                    <a:lnT w="25400" cap="flat" cmpd="sng" algn="ctr">
                      <a:solidFill>
                        <a:srgbClr val="0B0B14"/>
                      </a:solidFill>
                      <a:prstDash val="solid"/>
                      <a:round/>
                      <a:headEnd type="none" w="med" len="med"/>
                      <a:tailEnd type="none" w="med" len="med"/>
                    </a:lnT>
                    <a:lnB w="25400" cap="flat" cmpd="sng" algn="ctr">
                      <a:solidFill>
                        <a:srgbClr val="0B0B14"/>
                      </a:solidFill>
                      <a:prstDash val="solid"/>
                      <a:round/>
                      <a:headEnd type="none" w="med" len="med"/>
                      <a:tailEnd type="none" w="med" len="med"/>
                    </a:lnB>
                    <a:solidFill>
                      <a:srgbClr val="171728"/>
                    </a:solidFill>
                  </a:tcPr>
                </a:tc>
                <a:tc>
                  <a:txBody>
                    <a:bodyPr/>
                    <a:lstStyle/>
                    <a:p>
                      <a:pPr indent="0" marL="0">
                        <a:buNone/>
                      </a:pPr>
                      <a:r>
                        <a:rPr lang="en-US" sz="1400" dirty="0">
                          <a:solidFill>
                            <a:schemeClr val="bg2"/>
                          </a:solidFill>
                          <a:latin typeface="Calibri" pitchFamily="34" charset="0"/>
                          <a:ea typeface="Calibri" pitchFamily="34" charset="-122"/>
                          <a:cs typeface="Calibri" pitchFamily="34" charset="-120"/>
                        </a:rPr>
                        <a:t>Create a hosted payment link</a:t>
                      </a:r>
                      <a:endParaRPr lang="en-US" sz="1400" dirty="0">
                        <a:latin typeface="Calibri" charset="0"/>
                        <a:ea typeface="Calibri" charset="0"/>
                        <a:cs typeface="Calibri" charset="0"/>
                      </a:endParaRPr>
                    </a:p>
                  </a:txBody>
                  <a:tcPr marL="91440" marR="91440" marT="45720" marB="45720" anchor="ctr">
                    <a:lnL w="25400" cap="flat" cmpd="sng" algn="ctr">
                      <a:solidFill>
                        <a:srgbClr val="0B0B14"/>
                      </a:solidFill>
                      <a:prstDash val="solid"/>
                      <a:round/>
                      <a:headEnd type="none" w="med" len="med"/>
                      <a:tailEnd type="none" w="med" len="med"/>
                    </a:lnL>
                    <a:lnR w="25400" cap="flat" cmpd="sng" algn="ctr">
                      <a:solidFill>
                        <a:srgbClr val="0B0B14"/>
                      </a:solidFill>
                      <a:prstDash val="solid"/>
                      <a:round/>
                      <a:headEnd type="none" w="med" len="med"/>
                      <a:tailEnd type="none" w="med" len="med"/>
                    </a:lnR>
                    <a:lnT w="25400" cap="flat" cmpd="sng" algn="ctr">
                      <a:solidFill>
                        <a:srgbClr val="0B0B14"/>
                      </a:solidFill>
                      <a:prstDash val="solid"/>
                      <a:round/>
                      <a:headEnd type="none" w="med" len="med"/>
                      <a:tailEnd type="none" w="med" len="med"/>
                    </a:lnT>
                    <a:lnB w="25400" cap="flat" cmpd="sng" algn="ctr">
                      <a:solidFill>
                        <a:srgbClr val="0B0B14"/>
                      </a:solidFill>
                      <a:prstDash val="solid"/>
                      <a:round/>
                      <a:headEnd type="none" w="med" len="med"/>
                      <a:tailEnd type="none" w="med" len="med"/>
                    </a:lnB>
                    <a:solidFill>
                      <a:srgbClr val="171728"/>
                    </a:solidFill>
                  </a:tcPr>
                </a:tc>
                <a:tc>
                  <a:txBody>
                    <a:bodyPr/>
                    <a:lstStyle/>
                    <a:p>
                      <a:pPr indent="0" marL="0">
                        <a:buNone/>
                      </a:pPr>
                      <a:r>
                        <a:rPr lang="en-US" sz="1400" dirty="0">
                          <a:solidFill>
                            <a:schemeClr val="accent6"/>
                          </a:solidFill>
                          <a:latin typeface="Calibri" pitchFamily="34" charset="0"/>
                          <a:ea typeface="Calibri" pitchFamily="34" charset="-122"/>
                          <a:cs typeface="Calibri" pitchFamily="34" charset="-120"/>
                        </a:rPr>
                        <a:t>Bearer + idempotency</a:t>
                      </a:r>
                      <a:endParaRPr lang="en-US" sz="1400" dirty="0">
                        <a:latin typeface="Calibri" charset="0"/>
                        <a:ea typeface="Calibri" charset="0"/>
                        <a:cs typeface="Calibri" charset="0"/>
                      </a:endParaRPr>
                    </a:p>
                  </a:txBody>
                  <a:tcPr marL="91440" marR="91440" marT="45720" marB="45720" anchor="ctr">
                    <a:lnL w="25400" cap="flat" cmpd="sng" algn="ctr">
                      <a:solidFill>
                        <a:srgbClr val="0B0B14"/>
                      </a:solidFill>
                      <a:prstDash val="solid"/>
                      <a:round/>
                      <a:headEnd type="none" w="med" len="med"/>
                      <a:tailEnd type="none" w="med" len="med"/>
                    </a:lnL>
                    <a:lnR w="25400" cap="flat" cmpd="sng" algn="ctr">
                      <a:solidFill>
                        <a:srgbClr val="0B0B14"/>
                      </a:solidFill>
                      <a:prstDash val="solid"/>
                      <a:round/>
                      <a:headEnd type="none" w="med" len="med"/>
                      <a:tailEnd type="none" w="med" len="med"/>
                    </a:lnR>
                    <a:lnT w="25400" cap="flat" cmpd="sng" algn="ctr">
                      <a:solidFill>
                        <a:srgbClr val="0B0B14"/>
                      </a:solidFill>
                      <a:prstDash val="solid"/>
                      <a:round/>
                      <a:headEnd type="none" w="med" len="med"/>
                      <a:tailEnd type="none" w="med" len="med"/>
                    </a:lnT>
                    <a:lnB w="25400" cap="flat" cmpd="sng" algn="ctr">
                      <a:solidFill>
                        <a:srgbClr val="0B0B14"/>
                      </a:solidFill>
                      <a:prstDash val="solid"/>
                      <a:round/>
                      <a:headEnd type="none" w="med" len="med"/>
                      <a:tailEnd type="none" w="med" len="med"/>
                    </a:lnB>
                    <a:solidFill>
                      <a:srgbClr val="171728"/>
                    </a:solidFill>
                  </a:tcPr>
                </a:tc>
              </a:tr>
              <a:tr h="457200">
                <a:tc>
                  <a:txBody>
                    <a:bodyPr/>
                    <a:lstStyle/>
                    <a:p>
                      <a:pPr indent="0" marL="0">
                        <a:buNone/>
                      </a:pPr>
                      <a:r>
                        <a:rPr lang="en-US" sz="1400" b="1" dirty="0">
                          <a:solidFill>
                            <a:schemeClr val="accent2"/>
                          </a:solidFill>
                          <a:latin typeface="Calibri" pitchFamily="34" charset="0"/>
                          <a:ea typeface="Calibri" pitchFamily="34" charset="-122"/>
                          <a:cs typeface="Calibri" pitchFamily="34" charset="-120"/>
                        </a:rPr>
                        <a:t>POST</a:t>
                      </a:r>
                      <a:endParaRPr lang="en-US" sz="1400" dirty="0">
                        <a:latin typeface="Calibri" charset="0"/>
                        <a:ea typeface="Calibri" charset="0"/>
                        <a:cs typeface="Calibri" charset="0"/>
                      </a:endParaRPr>
                    </a:p>
                  </a:txBody>
                  <a:tcPr marL="91440" marR="91440" marT="45720" marB="45720" anchor="ctr">
                    <a:lnL w="25400" cap="flat" cmpd="sng" algn="ctr">
                      <a:solidFill>
                        <a:srgbClr val="0B0B14"/>
                      </a:solidFill>
                      <a:prstDash val="solid"/>
                      <a:round/>
                      <a:headEnd type="none" w="med" len="med"/>
                      <a:tailEnd type="none" w="med" len="med"/>
                    </a:lnL>
                    <a:lnR w="25400" cap="flat" cmpd="sng" algn="ctr">
                      <a:solidFill>
                        <a:srgbClr val="0B0B14"/>
                      </a:solidFill>
                      <a:prstDash val="solid"/>
                      <a:round/>
                      <a:headEnd type="none" w="med" len="med"/>
                      <a:tailEnd type="none" w="med" len="med"/>
                    </a:lnR>
                    <a:lnT w="25400" cap="flat" cmpd="sng" algn="ctr">
                      <a:solidFill>
                        <a:srgbClr val="0B0B14"/>
                      </a:solidFill>
                      <a:prstDash val="solid"/>
                      <a:round/>
                      <a:headEnd type="none" w="med" len="med"/>
                      <a:tailEnd type="none" w="med" len="med"/>
                    </a:lnT>
                    <a:lnB w="25400" cap="flat" cmpd="sng" algn="ctr">
                      <a:solidFill>
                        <a:srgbClr val="0B0B14"/>
                      </a:solidFill>
                      <a:prstDash val="solid"/>
                      <a:round/>
                      <a:headEnd type="none" w="med" len="med"/>
                      <a:tailEnd type="none" w="med" len="med"/>
                    </a:lnB>
                    <a:solidFill>
                      <a:srgbClr val="171728"/>
                    </a:solidFill>
                  </a:tcPr>
                </a:tc>
                <a:tc>
                  <a:txBody>
                    <a:bodyPr/>
                    <a:lstStyle/>
                    <a:p>
                      <a:pPr indent="0" marL="0">
                        <a:buNone/>
                      </a:pPr>
                      <a:r>
                        <a:rPr lang="en-US" sz="1300" dirty="0">
                          <a:solidFill>
                            <a:schemeClr val="bg1"/>
                          </a:solidFill>
                          <a:latin typeface="Courier New" pitchFamily="34" charset="0"/>
                          <a:ea typeface="Courier New" pitchFamily="34" charset="-122"/>
                          <a:cs typeface="Courier New" pitchFamily="34" charset="-120"/>
                        </a:rPr>
                        <a:t>/api/v1/payment_intents</a:t>
                      </a:r>
                      <a:endParaRPr lang="en-US" sz="1300" dirty="0">
                        <a:latin typeface="Courier New" charset="0"/>
                        <a:ea typeface="Courier New" charset="0"/>
                        <a:cs typeface="Courier New" charset="0"/>
                      </a:endParaRPr>
                    </a:p>
                  </a:txBody>
                  <a:tcPr marL="91440" marR="91440" marT="45720" marB="45720" anchor="ctr">
                    <a:lnL w="25400" cap="flat" cmpd="sng" algn="ctr">
                      <a:solidFill>
                        <a:srgbClr val="0B0B14"/>
                      </a:solidFill>
                      <a:prstDash val="solid"/>
                      <a:round/>
                      <a:headEnd type="none" w="med" len="med"/>
                      <a:tailEnd type="none" w="med" len="med"/>
                    </a:lnL>
                    <a:lnR w="25400" cap="flat" cmpd="sng" algn="ctr">
                      <a:solidFill>
                        <a:srgbClr val="0B0B14"/>
                      </a:solidFill>
                      <a:prstDash val="solid"/>
                      <a:round/>
                      <a:headEnd type="none" w="med" len="med"/>
                      <a:tailEnd type="none" w="med" len="med"/>
                    </a:lnR>
                    <a:lnT w="25400" cap="flat" cmpd="sng" algn="ctr">
                      <a:solidFill>
                        <a:srgbClr val="0B0B14"/>
                      </a:solidFill>
                      <a:prstDash val="solid"/>
                      <a:round/>
                      <a:headEnd type="none" w="med" len="med"/>
                      <a:tailEnd type="none" w="med" len="med"/>
                    </a:lnT>
                    <a:lnB w="25400" cap="flat" cmpd="sng" algn="ctr">
                      <a:solidFill>
                        <a:srgbClr val="0B0B14"/>
                      </a:solidFill>
                      <a:prstDash val="solid"/>
                      <a:round/>
                      <a:headEnd type="none" w="med" len="med"/>
                      <a:tailEnd type="none" w="med" len="med"/>
                    </a:lnB>
                    <a:solidFill>
                      <a:srgbClr val="171728"/>
                    </a:solidFill>
                  </a:tcPr>
                </a:tc>
                <a:tc>
                  <a:txBody>
                    <a:bodyPr/>
                    <a:lstStyle/>
                    <a:p>
                      <a:pPr indent="0" marL="0">
                        <a:buNone/>
                      </a:pPr>
                      <a:r>
                        <a:rPr lang="en-US" sz="1400" dirty="0">
                          <a:solidFill>
                            <a:schemeClr val="bg2"/>
                          </a:solidFill>
                          <a:latin typeface="Calibri" pitchFamily="34" charset="0"/>
                          <a:ea typeface="Calibri" pitchFamily="34" charset="-122"/>
                          <a:cs typeface="Calibri" pitchFamily="34" charset="-120"/>
                        </a:rPr>
                        <a:t>Create a server-side payment</a:t>
                      </a:r>
                      <a:endParaRPr lang="en-US" sz="1400" dirty="0">
                        <a:latin typeface="Calibri" charset="0"/>
                        <a:ea typeface="Calibri" charset="0"/>
                        <a:cs typeface="Calibri" charset="0"/>
                      </a:endParaRPr>
                    </a:p>
                  </a:txBody>
                  <a:tcPr marL="91440" marR="91440" marT="45720" marB="45720" anchor="ctr">
                    <a:lnL w="25400" cap="flat" cmpd="sng" algn="ctr">
                      <a:solidFill>
                        <a:srgbClr val="0B0B14"/>
                      </a:solidFill>
                      <a:prstDash val="solid"/>
                      <a:round/>
                      <a:headEnd type="none" w="med" len="med"/>
                      <a:tailEnd type="none" w="med" len="med"/>
                    </a:lnL>
                    <a:lnR w="25400" cap="flat" cmpd="sng" algn="ctr">
                      <a:solidFill>
                        <a:srgbClr val="0B0B14"/>
                      </a:solidFill>
                      <a:prstDash val="solid"/>
                      <a:round/>
                      <a:headEnd type="none" w="med" len="med"/>
                      <a:tailEnd type="none" w="med" len="med"/>
                    </a:lnR>
                    <a:lnT w="25400" cap="flat" cmpd="sng" algn="ctr">
                      <a:solidFill>
                        <a:srgbClr val="0B0B14"/>
                      </a:solidFill>
                      <a:prstDash val="solid"/>
                      <a:round/>
                      <a:headEnd type="none" w="med" len="med"/>
                      <a:tailEnd type="none" w="med" len="med"/>
                    </a:lnT>
                    <a:lnB w="25400" cap="flat" cmpd="sng" algn="ctr">
                      <a:solidFill>
                        <a:srgbClr val="0B0B14"/>
                      </a:solidFill>
                      <a:prstDash val="solid"/>
                      <a:round/>
                      <a:headEnd type="none" w="med" len="med"/>
                      <a:tailEnd type="none" w="med" len="med"/>
                    </a:lnB>
                    <a:solidFill>
                      <a:srgbClr val="171728"/>
                    </a:solidFill>
                  </a:tcPr>
                </a:tc>
                <a:tc>
                  <a:txBody>
                    <a:bodyPr/>
                    <a:lstStyle/>
                    <a:p>
                      <a:pPr indent="0" marL="0">
                        <a:buNone/>
                      </a:pPr>
                      <a:r>
                        <a:rPr lang="en-US" sz="1400" dirty="0">
                          <a:solidFill>
                            <a:schemeClr val="accent6"/>
                          </a:solidFill>
                          <a:latin typeface="Calibri" pitchFamily="34" charset="0"/>
                          <a:ea typeface="Calibri" pitchFamily="34" charset="-122"/>
                          <a:cs typeface="Calibri" pitchFamily="34" charset="-120"/>
                        </a:rPr>
                        <a:t>Bearer + idempotency</a:t>
                      </a:r>
                      <a:endParaRPr lang="en-US" sz="1400" dirty="0">
                        <a:latin typeface="Calibri" charset="0"/>
                        <a:ea typeface="Calibri" charset="0"/>
                        <a:cs typeface="Calibri" charset="0"/>
                      </a:endParaRPr>
                    </a:p>
                  </a:txBody>
                  <a:tcPr marL="91440" marR="91440" marT="45720" marB="45720" anchor="ctr">
                    <a:lnL w="25400" cap="flat" cmpd="sng" algn="ctr">
                      <a:solidFill>
                        <a:srgbClr val="0B0B14"/>
                      </a:solidFill>
                      <a:prstDash val="solid"/>
                      <a:round/>
                      <a:headEnd type="none" w="med" len="med"/>
                      <a:tailEnd type="none" w="med" len="med"/>
                    </a:lnL>
                    <a:lnR w="25400" cap="flat" cmpd="sng" algn="ctr">
                      <a:solidFill>
                        <a:srgbClr val="0B0B14"/>
                      </a:solidFill>
                      <a:prstDash val="solid"/>
                      <a:round/>
                      <a:headEnd type="none" w="med" len="med"/>
                      <a:tailEnd type="none" w="med" len="med"/>
                    </a:lnR>
                    <a:lnT w="25400" cap="flat" cmpd="sng" algn="ctr">
                      <a:solidFill>
                        <a:srgbClr val="0B0B14"/>
                      </a:solidFill>
                      <a:prstDash val="solid"/>
                      <a:round/>
                      <a:headEnd type="none" w="med" len="med"/>
                      <a:tailEnd type="none" w="med" len="med"/>
                    </a:lnT>
                    <a:lnB w="25400" cap="flat" cmpd="sng" algn="ctr">
                      <a:solidFill>
                        <a:srgbClr val="0B0B14"/>
                      </a:solidFill>
                      <a:prstDash val="solid"/>
                      <a:round/>
                      <a:headEnd type="none" w="med" len="med"/>
                      <a:tailEnd type="none" w="med" len="med"/>
                    </a:lnB>
                    <a:solidFill>
                      <a:srgbClr val="171728"/>
                    </a:solidFill>
                  </a:tcPr>
                </a:tc>
              </a:tr>
              <a:tr h="457200">
                <a:tc>
                  <a:txBody>
                    <a:bodyPr/>
                    <a:lstStyle/>
                    <a:p>
                      <a:pPr indent="0" marL="0">
                        <a:buNone/>
                      </a:pPr>
                      <a:r>
                        <a:rPr lang="en-US" sz="1400" b="1" dirty="0">
                          <a:solidFill>
                            <a:schemeClr val="accent2"/>
                          </a:solidFill>
                          <a:latin typeface="Calibri" pitchFamily="34" charset="0"/>
                          <a:ea typeface="Calibri" pitchFamily="34" charset="-122"/>
                          <a:cs typeface="Calibri" pitchFamily="34" charset="-120"/>
                        </a:rPr>
                        <a:t>POST</a:t>
                      </a:r>
                      <a:endParaRPr lang="en-US" sz="1400" dirty="0">
                        <a:latin typeface="Calibri" charset="0"/>
                        <a:ea typeface="Calibri" charset="0"/>
                        <a:cs typeface="Calibri" charset="0"/>
                      </a:endParaRPr>
                    </a:p>
                  </a:txBody>
                  <a:tcPr marL="91440" marR="91440" marT="45720" marB="45720" anchor="ctr">
                    <a:lnL w="25400" cap="flat" cmpd="sng" algn="ctr">
                      <a:solidFill>
                        <a:srgbClr val="0B0B14"/>
                      </a:solidFill>
                      <a:prstDash val="solid"/>
                      <a:round/>
                      <a:headEnd type="none" w="med" len="med"/>
                      <a:tailEnd type="none" w="med" len="med"/>
                    </a:lnL>
                    <a:lnR w="25400" cap="flat" cmpd="sng" algn="ctr">
                      <a:solidFill>
                        <a:srgbClr val="0B0B14"/>
                      </a:solidFill>
                      <a:prstDash val="solid"/>
                      <a:round/>
                      <a:headEnd type="none" w="med" len="med"/>
                      <a:tailEnd type="none" w="med" len="med"/>
                    </a:lnR>
                    <a:lnT w="25400" cap="flat" cmpd="sng" algn="ctr">
                      <a:solidFill>
                        <a:srgbClr val="0B0B14"/>
                      </a:solidFill>
                      <a:prstDash val="solid"/>
                      <a:round/>
                      <a:headEnd type="none" w="med" len="med"/>
                      <a:tailEnd type="none" w="med" len="med"/>
                    </a:lnT>
                    <a:lnB w="25400" cap="flat" cmpd="sng" algn="ctr">
                      <a:solidFill>
                        <a:srgbClr val="0B0B14"/>
                      </a:solidFill>
                      <a:prstDash val="solid"/>
                      <a:round/>
                      <a:headEnd type="none" w="med" len="med"/>
                      <a:tailEnd type="none" w="med" len="med"/>
                    </a:lnB>
                    <a:solidFill>
                      <a:srgbClr val="171728"/>
                    </a:solidFill>
                  </a:tcPr>
                </a:tc>
                <a:tc>
                  <a:txBody>
                    <a:bodyPr/>
                    <a:lstStyle/>
                    <a:p>
                      <a:pPr indent="0" marL="0">
                        <a:buNone/>
                      </a:pPr>
                      <a:r>
                        <a:rPr lang="en-US" sz="1300" dirty="0">
                          <a:solidFill>
                            <a:schemeClr val="bg1"/>
                          </a:solidFill>
                          <a:latin typeface="Courier New" pitchFamily="34" charset="0"/>
                          <a:ea typeface="Courier New" pitchFamily="34" charset="-122"/>
                          <a:cs typeface="Courier New" pitchFamily="34" charset="-120"/>
                        </a:rPr>
                        <a:t>/api/v1/payment_intents/:id/capture</a:t>
                      </a:r>
                      <a:endParaRPr lang="en-US" sz="1300" dirty="0">
                        <a:latin typeface="Courier New" charset="0"/>
                        <a:ea typeface="Courier New" charset="0"/>
                        <a:cs typeface="Courier New" charset="0"/>
                      </a:endParaRPr>
                    </a:p>
                  </a:txBody>
                  <a:tcPr marL="91440" marR="91440" marT="45720" marB="45720" anchor="ctr">
                    <a:lnL w="25400" cap="flat" cmpd="sng" algn="ctr">
                      <a:solidFill>
                        <a:srgbClr val="0B0B14"/>
                      </a:solidFill>
                      <a:prstDash val="solid"/>
                      <a:round/>
                      <a:headEnd type="none" w="med" len="med"/>
                      <a:tailEnd type="none" w="med" len="med"/>
                    </a:lnL>
                    <a:lnR w="25400" cap="flat" cmpd="sng" algn="ctr">
                      <a:solidFill>
                        <a:srgbClr val="0B0B14"/>
                      </a:solidFill>
                      <a:prstDash val="solid"/>
                      <a:round/>
                      <a:headEnd type="none" w="med" len="med"/>
                      <a:tailEnd type="none" w="med" len="med"/>
                    </a:lnR>
                    <a:lnT w="25400" cap="flat" cmpd="sng" algn="ctr">
                      <a:solidFill>
                        <a:srgbClr val="0B0B14"/>
                      </a:solidFill>
                      <a:prstDash val="solid"/>
                      <a:round/>
                      <a:headEnd type="none" w="med" len="med"/>
                      <a:tailEnd type="none" w="med" len="med"/>
                    </a:lnT>
                    <a:lnB w="25400" cap="flat" cmpd="sng" algn="ctr">
                      <a:solidFill>
                        <a:srgbClr val="0B0B14"/>
                      </a:solidFill>
                      <a:prstDash val="solid"/>
                      <a:round/>
                      <a:headEnd type="none" w="med" len="med"/>
                      <a:tailEnd type="none" w="med" len="med"/>
                    </a:lnB>
                    <a:solidFill>
                      <a:srgbClr val="171728"/>
                    </a:solidFill>
                  </a:tcPr>
                </a:tc>
                <a:tc>
                  <a:txBody>
                    <a:bodyPr/>
                    <a:lstStyle/>
                    <a:p>
                      <a:pPr indent="0" marL="0">
                        <a:buNone/>
                      </a:pPr>
                      <a:r>
                        <a:rPr lang="en-US" sz="1400" dirty="0">
                          <a:solidFill>
                            <a:schemeClr val="bg2"/>
                          </a:solidFill>
                          <a:latin typeface="Calibri" pitchFamily="34" charset="0"/>
                          <a:ea typeface="Calibri" pitchFamily="34" charset="-122"/>
                          <a:cs typeface="Calibri" pitchFamily="34" charset="-120"/>
                        </a:rPr>
                        <a:t>Confirm / capture / cancel</a:t>
                      </a:r>
                      <a:endParaRPr lang="en-US" sz="1400" dirty="0">
                        <a:latin typeface="Calibri" charset="0"/>
                        <a:ea typeface="Calibri" charset="0"/>
                        <a:cs typeface="Calibri" charset="0"/>
                      </a:endParaRPr>
                    </a:p>
                  </a:txBody>
                  <a:tcPr marL="91440" marR="91440" marT="45720" marB="45720" anchor="ctr">
                    <a:lnL w="25400" cap="flat" cmpd="sng" algn="ctr">
                      <a:solidFill>
                        <a:srgbClr val="0B0B14"/>
                      </a:solidFill>
                      <a:prstDash val="solid"/>
                      <a:round/>
                      <a:headEnd type="none" w="med" len="med"/>
                      <a:tailEnd type="none" w="med" len="med"/>
                    </a:lnL>
                    <a:lnR w="25400" cap="flat" cmpd="sng" algn="ctr">
                      <a:solidFill>
                        <a:srgbClr val="0B0B14"/>
                      </a:solidFill>
                      <a:prstDash val="solid"/>
                      <a:round/>
                      <a:headEnd type="none" w="med" len="med"/>
                      <a:tailEnd type="none" w="med" len="med"/>
                    </a:lnR>
                    <a:lnT w="25400" cap="flat" cmpd="sng" algn="ctr">
                      <a:solidFill>
                        <a:srgbClr val="0B0B14"/>
                      </a:solidFill>
                      <a:prstDash val="solid"/>
                      <a:round/>
                      <a:headEnd type="none" w="med" len="med"/>
                      <a:tailEnd type="none" w="med" len="med"/>
                    </a:lnT>
                    <a:lnB w="25400" cap="flat" cmpd="sng" algn="ctr">
                      <a:solidFill>
                        <a:srgbClr val="0B0B14"/>
                      </a:solidFill>
                      <a:prstDash val="solid"/>
                      <a:round/>
                      <a:headEnd type="none" w="med" len="med"/>
                      <a:tailEnd type="none" w="med" len="med"/>
                    </a:lnB>
                    <a:solidFill>
                      <a:srgbClr val="171728"/>
                    </a:solidFill>
                  </a:tcPr>
                </a:tc>
                <a:tc>
                  <a:txBody>
                    <a:bodyPr/>
                    <a:lstStyle/>
                    <a:p>
                      <a:pPr indent="0" marL="0">
                        <a:buNone/>
                      </a:pPr>
                      <a:r>
                        <a:rPr lang="en-US" sz="1400" dirty="0">
                          <a:solidFill>
                            <a:schemeClr val="accent6"/>
                          </a:solidFill>
                          <a:latin typeface="Calibri" pitchFamily="34" charset="0"/>
                          <a:ea typeface="Calibri" pitchFamily="34" charset="-122"/>
                          <a:cs typeface="Calibri" pitchFamily="34" charset="-120"/>
                        </a:rPr>
                        <a:t>HMAC signed</a:t>
                      </a:r>
                      <a:endParaRPr lang="en-US" sz="1400" dirty="0">
                        <a:latin typeface="Calibri" charset="0"/>
                        <a:ea typeface="Calibri" charset="0"/>
                        <a:cs typeface="Calibri" charset="0"/>
                      </a:endParaRPr>
                    </a:p>
                  </a:txBody>
                  <a:tcPr marL="91440" marR="91440" marT="45720" marB="45720" anchor="ctr">
                    <a:lnL w="25400" cap="flat" cmpd="sng" algn="ctr">
                      <a:solidFill>
                        <a:srgbClr val="0B0B14"/>
                      </a:solidFill>
                      <a:prstDash val="solid"/>
                      <a:round/>
                      <a:headEnd type="none" w="med" len="med"/>
                      <a:tailEnd type="none" w="med" len="med"/>
                    </a:lnL>
                    <a:lnR w="25400" cap="flat" cmpd="sng" algn="ctr">
                      <a:solidFill>
                        <a:srgbClr val="0B0B14"/>
                      </a:solidFill>
                      <a:prstDash val="solid"/>
                      <a:round/>
                      <a:headEnd type="none" w="med" len="med"/>
                      <a:tailEnd type="none" w="med" len="med"/>
                    </a:lnR>
                    <a:lnT w="25400" cap="flat" cmpd="sng" algn="ctr">
                      <a:solidFill>
                        <a:srgbClr val="0B0B14"/>
                      </a:solidFill>
                      <a:prstDash val="solid"/>
                      <a:round/>
                      <a:headEnd type="none" w="med" len="med"/>
                      <a:tailEnd type="none" w="med" len="med"/>
                    </a:lnT>
                    <a:lnB w="25400" cap="flat" cmpd="sng" algn="ctr">
                      <a:solidFill>
                        <a:srgbClr val="0B0B14"/>
                      </a:solidFill>
                      <a:prstDash val="solid"/>
                      <a:round/>
                      <a:headEnd type="none" w="med" len="med"/>
                      <a:tailEnd type="none" w="med" len="med"/>
                    </a:lnB>
                    <a:solidFill>
                      <a:srgbClr val="171728"/>
                    </a:solidFill>
                  </a:tcPr>
                </a:tc>
              </a:tr>
              <a:tr h="457200">
                <a:tc>
                  <a:txBody>
                    <a:bodyPr/>
                    <a:lstStyle/>
                    <a:p>
                      <a:pPr indent="0" marL="0">
                        <a:buNone/>
                      </a:pPr>
                      <a:r>
                        <a:rPr lang="en-US" sz="1400" b="1" dirty="0">
                          <a:solidFill>
                            <a:schemeClr val="accent2"/>
                          </a:solidFill>
                          <a:latin typeface="Calibri" pitchFamily="34" charset="0"/>
                          <a:ea typeface="Calibri" pitchFamily="34" charset="-122"/>
                          <a:cs typeface="Calibri" pitchFamily="34" charset="-120"/>
                        </a:rPr>
                        <a:t>POST</a:t>
                      </a:r>
                      <a:endParaRPr lang="en-US" sz="1400" dirty="0">
                        <a:latin typeface="Calibri" charset="0"/>
                        <a:ea typeface="Calibri" charset="0"/>
                        <a:cs typeface="Calibri" charset="0"/>
                      </a:endParaRPr>
                    </a:p>
                  </a:txBody>
                  <a:tcPr marL="91440" marR="91440" marT="45720" marB="45720" anchor="ctr">
                    <a:lnL w="25400" cap="flat" cmpd="sng" algn="ctr">
                      <a:solidFill>
                        <a:srgbClr val="0B0B14"/>
                      </a:solidFill>
                      <a:prstDash val="solid"/>
                      <a:round/>
                      <a:headEnd type="none" w="med" len="med"/>
                      <a:tailEnd type="none" w="med" len="med"/>
                    </a:lnL>
                    <a:lnR w="25400" cap="flat" cmpd="sng" algn="ctr">
                      <a:solidFill>
                        <a:srgbClr val="0B0B14"/>
                      </a:solidFill>
                      <a:prstDash val="solid"/>
                      <a:round/>
                      <a:headEnd type="none" w="med" len="med"/>
                      <a:tailEnd type="none" w="med" len="med"/>
                    </a:lnR>
                    <a:lnT w="25400" cap="flat" cmpd="sng" algn="ctr">
                      <a:solidFill>
                        <a:srgbClr val="0B0B14"/>
                      </a:solidFill>
                      <a:prstDash val="solid"/>
                      <a:round/>
                      <a:headEnd type="none" w="med" len="med"/>
                      <a:tailEnd type="none" w="med" len="med"/>
                    </a:lnT>
                    <a:lnB w="25400" cap="flat" cmpd="sng" algn="ctr">
                      <a:solidFill>
                        <a:srgbClr val="0B0B14"/>
                      </a:solidFill>
                      <a:prstDash val="solid"/>
                      <a:round/>
                      <a:headEnd type="none" w="med" len="med"/>
                      <a:tailEnd type="none" w="med" len="med"/>
                    </a:lnB>
                    <a:solidFill>
                      <a:srgbClr val="171728"/>
                    </a:solidFill>
                  </a:tcPr>
                </a:tc>
                <a:tc>
                  <a:txBody>
                    <a:bodyPr/>
                    <a:lstStyle/>
                    <a:p>
                      <a:pPr indent="0" marL="0">
                        <a:buNone/>
                      </a:pPr>
                      <a:r>
                        <a:rPr lang="en-US" sz="1300" dirty="0">
                          <a:solidFill>
                            <a:schemeClr val="bg1"/>
                          </a:solidFill>
                          <a:latin typeface="Courier New" pitchFamily="34" charset="0"/>
                          <a:ea typeface="Courier New" pitchFamily="34" charset="-122"/>
                          <a:cs typeface="Courier New" pitchFamily="34" charset="-120"/>
                        </a:rPr>
                        <a:t>/api/v1/refunds</a:t>
                      </a:r>
                      <a:endParaRPr lang="en-US" sz="1300" dirty="0">
                        <a:latin typeface="Courier New" charset="0"/>
                        <a:ea typeface="Courier New" charset="0"/>
                        <a:cs typeface="Courier New" charset="0"/>
                      </a:endParaRPr>
                    </a:p>
                  </a:txBody>
                  <a:tcPr marL="91440" marR="91440" marT="45720" marB="45720" anchor="ctr">
                    <a:lnL w="25400" cap="flat" cmpd="sng" algn="ctr">
                      <a:solidFill>
                        <a:srgbClr val="0B0B14"/>
                      </a:solidFill>
                      <a:prstDash val="solid"/>
                      <a:round/>
                      <a:headEnd type="none" w="med" len="med"/>
                      <a:tailEnd type="none" w="med" len="med"/>
                    </a:lnL>
                    <a:lnR w="25400" cap="flat" cmpd="sng" algn="ctr">
                      <a:solidFill>
                        <a:srgbClr val="0B0B14"/>
                      </a:solidFill>
                      <a:prstDash val="solid"/>
                      <a:round/>
                      <a:headEnd type="none" w="med" len="med"/>
                      <a:tailEnd type="none" w="med" len="med"/>
                    </a:lnR>
                    <a:lnT w="25400" cap="flat" cmpd="sng" algn="ctr">
                      <a:solidFill>
                        <a:srgbClr val="0B0B14"/>
                      </a:solidFill>
                      <a:prstDash val="solid"/>
                      <a:round/>
                      <a:headEnd type="none" w="med" len="med"/>
                      <a:tailEnd type="none" w="med" len="med"/>
                    </a:lnT>
                    <a:lnB w="25400" cap="flat" cmpd="sng" algn="ctr">
                      <a:solidFill>
                        <a:srgbClr val="0B0B14"/>
                      </a:solidFill>
                      <a:prstDash val="solid"/>
                      <a:round/>
                      <a:headEnd type="none" w="med" len="med"/>
                      <a:tailEnd type="none" w="med" len="med"/>
                    </a:lnB>
                    <a:solidFill>
                      <a:srgbClr val="171728"/>
                    </a:solidFill>
                  </a:tcPr>
                </a:tc>
                <a:tc>
                  <a:txBody>
                    <a:bodyPr/>
                    <a:lstStyle/>
                    <a:p>
                      <a:pPr indent="0" marL="0">
                        <a:buNone/>
                      </a:pPr>
                      <a:r>
                        <a:rPr lang="en-US" sz="1400" dirty="0">
                          <a:solidFill>
                            <a:schemeClr val="bg2"/>
                          </a:solidFill>
                          <a:latin typeface="Calibri" pitchFamily="34" charset="0"/>
                          <a:ea typeface="Calibri" pitchFamily="34" charset="-122"/>
                          <a:cs typeface="Calibri" pitchFamily="34" charset="-120"/>
                        </a:rPr>
                        <a:t>Refund a payment</a:t>
                      </a:r>
                      <a:endParaRPr lang="en-US" sz="1400" dirty="0">
                        <a:latin typeface="Calibri" charset="0"/>
                        <a:ea typeface="Calibri" charset="0"/>
                        <a:cs typeface="Calibri" charset="0"/>
                      </a:endParaRPr>
                    </a:p>
                  </a:txBody>
                  <a:tcPr marL="91440" marR="91440" marT="45720" marB="45720" anchor="ctr">
                    <a:lnL w="25400" cap="flat" cmpd="sng" algn="ctr">
                      <a:solidFill>
                        <a:srgbClr val="0B0B14"/>
                      </a:solidFill>
                      <a:prstDash val="solid"/>
                      <a:round/>
                      <a:headEnd type="none" w="med" len="med"/>
                      <a:tailEnd type="none" w="med" len="med"/>
                    </a:lnL>
                    <a:lnR w="25400" cap="flat" cmpd="sng" algn="ctr">
                      <a:solidFill>
                        <a:srgbClr val="0B0B14"/>
                      </a:solidFill>
                      <a:prstDash val="solid"/>
                      <a:round/>
                      <a:headEnd type="none" w="med" len="med"/>
                      <a:tailEnd type="none" w="med" len="med"/>
                    </a:lnR>
                    <a:lnT w="25400" cap="flat" cmpd="sng" algn="ctr">
                      <a:solidFill>
                        <a:srgbClr val="0B0B14"/>
                      </a:solidFill>
                      <a:prstDash val="solid"/>
                      <a:round/>
                      <a:headEnd type="none" w="med" len="med"/>
                      <a:tailEnd type="none" w="med" len="med"/>
                    </a:lnT>
                    <a:lnB w="25400" cap="flat" cmpd="sng" algn="ctr">
                      <a:solidFill>
                        <a:srgbClr val="0B0B14"/>
                      </a:solidFill>
                      <a:prstDash val="solid"/>
                      <a:round/>
                      <a:headEnd type="none" w="med" len="med"/>
                      <a:tailEnd type="none" w="med" len="med"/>
                    </a:lnB>
                    <a:solidFill>
                      <a:srgbClr val="171728"/>
                    </a:solidFill>
                  </a:tcPr>
                </a:tc>
                <a:tc>
                  <a:txBody>
                    <a:bodyPr/>
                    <a:lstStyle/>
                    <a:p>
                      <a:pPr indent="0" marL="0">
                        <a:buNone/>
                      </a:pPr>
                      <a:r>
                        <a:rPr lang="en-US" sz="1400" dirty="0">
                          <a:solidFill>
                            <a:schemeClr val="accent6"/>
                          </a:solidFill>
                          <a:latin typeface="Calibri" pitchFamily="34" charset="0"/>
                          <a:ea typeface="Calibri" pitchFamily="34" charset="-122"/>
                          <a:cs typeface="Calibri" pitchFamily="34" charset="-120"/>
                        </a:rPr>
                        <a:t>HMAC signed</a:t>
                      </a:r>
                      <a:endParaRPr lang="en-US" sz="1400" dirty="0">
                        <a:latin typeface="Calibri" charset="0"/>
                        <a:ea typeface="Calibri" charset="0"/>
                        <a:cs typeface="Calibri" charset="0"/>
                      </a:endParaRPr>
                    </a:p>
                  </a:txBody>
                  <a:tcPr marL="91440" marR="91440" marT="45720" marB="45720" anchor="ctr">
                    <a:lnL w="25400" cap="flat" cmpd="sng" algn="ctr">
                      <a:solidFill>
                        <a:srgbClr val="0B0B14"/>
                      </a:solidFill>
                      <a:prstDash val="solid"/>
                      <a:round/>
                      <a:headEnd type="none" w="med" len="med"/>
                      <a:tailEnd type="none" w="med" len="med"/>
                    </a:lnL>
                    <a:lnR w="25400" cap="flat" cmpd="sng" algn="ctr">
                      <a:solidFill>
                        <a:srgbClr val="0B0B14"/>
                      </a:solidFill>
                      <a:prstDash val="solid"/>
                      <a:round/>
                      <a:headEnd type="none" w="med" len="med"/>
                      <a:tailEnd type="none" w="med" len="med"/>
                    </a:lnR>
                    <a:lnT w="25400" cap="flat" cmpd="sng" algn="ctr">
                      <a:solidFill>
                        <a:srgbClr val="0B0B14"/>
                      </a:solidFill>
                      <a:prstDash val="solid"/>
                      <a:round/>
                      <a:headEnd type="none" w="med" len="med"/>
                      <a:tailEnd type="none" w="med" len="med"/>
                    </a:lnT>
                    <a:lnB w="25400" cap="flat" cmpd="sng" algn="ctr">
                      <a:solidFill>
                        <a:srgbClr val="0B0B14"/>
                      </a:solidFill>
                      <a:prstDash val="solid"/>
                      <a:round/>
                      <a:headEnd type="none" w="med" len="med"/>
                      <a:tailEnd type="none" w="med" len="med"/>
                    </a:lnB>
                    <a:solidFill>
                      <a:srgbClr val="171728"/>
                    </a:solidFill>
                  </a:tcPr>
                </a:tc>
              </a:tr>
              <a:tr h="457200">
                <a:tc>
                  <a:txBody>
                    <a:bodyPr/>
                    <a:lstStyle/>
                    <a:p>
                      <a:pPr indent="0" marL="0">
                        <a:buNone/>
                      </a:pPr>
                      <a:r>
                        <a:rPr lang="en-US" sz="1400" b="1" dirty="0">
                          <a:solidFill>
                            <a:schemeClr val="accent2"/>
                          </a:solidFill>
                          <a:latin typeface="Calibri" pitchFamily="34" charset="0"/>
                          <a:ea typeface="Calibri" pitchFamily="34" charset="-122"/>
                          <a:cs typeface="Calibri" pitchFamily="34" charset="-120"/>
                        </a:rPr>
                        <a:t>POST</a:t>
                      </a:r>
                      <a:endParaRPr lang="en-US" sz="1400" dirty="0">
                        <a:latin typeface="Calibri" charset="0"/>
                        <a:ea typeface="Calibri" charset="0"/>
                        <a:cs typeface="Calibri" charset="0"/>
                      </a:endParaRPr>
                    </a:p>
                  </a:txBody>
                  <a:tcPr marL="91440" marR="91440" marT="45720" marB="45720" anchor="ctr">
                    <a:lnL w="25400" cap="flat" cmpd="sng" algn="ctr">
                      <a:solidFill>
                        <a:srgbClr val="0B0B14"/>
                      </a:solidFill>
                      <a:prstDash val="solid"/>
                      <a:round/>
                      <a:headEnd type="none" w="med" len="med"/>
                      <a:tailEnd type="none" w="med" len="med"/>
                    </a:lnL>
                    <a:lnR w="25400" cap="flat" cmpd="sng" algn="ctr">
                      <a:solidFill>
                        <a:srgbClr val="0B0B14"/>
                      </a:solidFill>
                      <a:prstDash val="solid"/>
                      <a:round/>
                      <a:headEnd type="none" w="med" len="med"/>
                      <a:tailEnd type="none" w="med" len="med"/>
                    </a:lnR>
                    <a:lnT w="25400" cap="flat" cmpd="sng" algn="ctr">
                      <a:solidFill>
                        <a:srgbClr val="0B0B14"/>
                      </a:solidFill>
                      <a:prstDash val="solid"/>
                      <a:round/>
                      <a:headEnd type="none" w="med" len="med"/>
                      <a:tailEnd type="none" w="med" len="med"/>
                    </a:lnT>
                    <a:lnB w="25400" cap="flat" cmpd="sng" algn="ctr">
                      <a:solidFill>
                        <a:srgbClr val="0B0B14"/>
                      </a:solidFill>
                      <a:prstDash val="solid"/>
                      <a:round/>
                      <a:headEnd type="none" w="med" len="med"/>
                      <a:tailEnd type="none" w="med" len="med"/>
                    </a:lnB>
                    <a:solidFill>
                      <a:srgbClr val="171728"/>
                    </a:solidFill>
                  </a:tcPr>
                </a:tc>
                <a:tc>
                  <a:txBody>
                    <a:bodyPr/>
                    <a:lstStyle/>
                    <a:p>
                      <a:pPr indent="0" marL="0">
                        <a:buNone/>
                      </a:pPr>
                      <a:r>
                        <a:rPr lang="en-US" sz="1300" dirty="0">
                          <a:solidFill>
                            <a:schemeClr val="bg1"/>
                          </a:solidFill>
                          <a:latin typeface="Courier New" pitchFamily="34" charset="0"/>
                          <a:ea typeface="Courier New" pitchFamily="34" charset="-122"/>
                          <a:cs typeface="Courier New" pitchFamily="34" charset="-120"/>
                        </a:rPr>
                        <a:t>/api/v1/payouts</a:t>
                      </a:r>
                      <a:endParaRPr lang="en-US" sz="1300" dirty="0">
                        <a:latin typeface="Courier New" charset="0"/>
                        <a:ea typeface="Courier New" charset="0"/>
                        <a:cs typeface="Courier New" charset="0"/>
                      </a:endParaRPr>
                    </a:p>
                  </a:txBody>
                  <a:tcPr marL="91440" marR="91440" marT="45720" marB="45720" anchor="ctr">
                    <a:lnL w="25400" cap="flat" cmpd="sng" algn="ctr">
                      <a:solidFill>
                        <a:srgbClr val="0B0B14"/>
                      </a:solidFill>
                      <a:prstDash val="solid"/>
                      <a:round/>
                      <a:headEnd type="none" w="med" len="med"/>
                      <a:tailEnd type="none" w="med" len="med"/>
                    </a:lnL>
                    <a:lnR w="25400" cap="flat" cmpd="sng" algn="ctr">
                      <a:solidFill>
                        <a:srgbClr val="0B0B14"/>
                      </a:solidFill>
                      <a:prstDash val="solid"/>
                      <a:round/>
                      <a:headEnd type="none" w="med" len="med"/>
                      <a:tailEnd type="none" w="med" len="med"/>
                    </a:lnR>
                    <a:lnT w="25400" cap="flat" cmpd="sng" algn="ctr">
                      <a:solidFill>
                        <a:srgbClr val="0B0B14"/>
                      </a:solidFill>
                      <a:prstDash val="solid"/>
                      <a:round/>
                      <a:headEnd type="none" w="med" len="med"/>
                      <a:tailEnd type="none" w="med" len="med"/>
                    </a:lnT>
                    <a:lnB w="25400" cap="flat" cmpd="sng" algn="ctr">
                      <a:solidFill>
                        <a:srgbClr val="0B0B14"/>
                      </a:solidFill>
                      <a:prstDash val="solid"/>
                      <a:round/>
                      <a:headEnd type="none" w="med" len="med"/>
                      <a:tailEnd type="none" w="med" len="med"/>
                    </a:lnB>
                    <a:solidFill>
                      <a:srgbClr val="171728"/>
                    </a:solidFill>
                  </a:tcPr>
                </a:tc>
                <a:tc>
                  <a:txBody>
                    <a:bodyPr/>
                    <a:lstStyle/>
                    <a:p>
                      <a:pPr indent="0" marL="0">
                        <a:buNone/>
                      </a:pPr>
                      <a:r>
                        <a:rPr lang="en-US" sz="1400" dirty="0">
                          <a:solidFill>
                            <a:schemeClr val="bg2"/>
                          </a:solidFill>
                          <a:latin typeface="Calibri" pitchFamily="34" charset="0"/>
                          <a:ea typeface="Calibri" pitchFamily="34" charset="-122"/>
                          <a:cs typeface="Calibri" pitchFamily="34" charset="-120"/>
                        </a:rPr>
                        <a:t>Pay out to a wallet</a:t>
                      </a:r>
                      <a:endParaRPr lang="en-US" sz="1400" dirty="0">
                        <a:latin typeface="Calibri" charset="0"/>
                        <a:ea typeface="Calibri" charset="0"/>
                        <a:cs typeface="Calibri" charset="0"/>
                      </a:endParaRPr>
                    </a:p>
                  </a:txBody>
                  <a:tcPr marL="91440" marR="91440" marT="45720" marB="45720" anchor="ctr">
                    <a:lnL w="25400" cap="flat" cmpd="sng" algn="ctr">
                      <a:solidFill>
                        <a:srgbClr val="0B0B14"/>
                      </a:solidFill>
                      <a:prstDash val="solid"/>
                      <a:round/>
                      <a:headEnd type="none" w="med" len="med"/>
                      <a:tailEnd type="none" w="med" len="med"/>
                    </a:lnL>
                    <a:lnR w="25400" cap="flat" cmpd="sng" algn="ctr">
                      <a:solidFill>
                        <a:srgbClr val="0B0B14"/>
                      </a:solidFill>
                      <a:prstDash val="solid"/>
                      <a:round/>
                      <a:headEnd type="none" w="med" len="med"/>
                      <a:tailEnd type="none" w="med" len="med"/>
                    </a:lnR>
                    <a:lnT w="25400" cap="flat" cmpd="sng" algn="ctr">
                      <a:solidFill>
                        <a:srgbClr val="0B0B14"/>
                      </a:solidFill>
                      <a:prstDash val="solid"/>
                      <a:round/>
                      <a:headEnd type="none" w="med" len="med"/>
                      <a:tailEnd type="none" w="med" len="med"/>
                    </a:lnT>
                    <a:lnB w="25400" cap="flat" cmpd="sng" algn="ctr">
                      <a:solidFill>
                        <a:srgbClr val="0B0B14"/>
                      </a:solidFill>
                      <a:prstDash val="solid"/>
                      <a:round/>
                      <a:headEnd type="none" w="med" len="med"/>
                      <a:tailEnd type="none" w="med" len="med"/>
                    </a:lnB>
                    <a:solidFill>
                      <a:srgbClr val="171728"/>
                    </a:solidFill>
                  </a:tcPr>
                </a:tc>
                <a:tc>
                  <a:txBody>
                    <a:bodyPr/>
                    <a:lstStyle/>
                    <a:p>
                      <a:pPr indent="0" marL="0">
                        <a:buNone/>
                      </a:pPr>
                      <a:r>
                        <a:rPr lang="en-US" sz="1400" dirty="0">
                          <a:solidFill>
                            <a:schemeClr val="accent6"/>
                          </a:solidFill>
                          <a:latin typeface="Calibri" pitchFamily="34" charset="0"/>
                          <a:ea typeface="Calibri" pitchFamily="34" charset="-122"/>
                          <a:cs typeface="Calibri" pitchFamily="34" charset="-120"/>
                        </a:rPr>
                        <a:t>HMAC signed</a:t>
                      </a:r>
                      <a:endParaRPr lang="en-US" sz="1400" dirty="0">
                        <a:latin typeface="Calibri" charset="0"/>
                        <a:ea typeface="Calibri" charset="0"/>
                        <a:cs typeface="Calibri" charset="0"/>
                      </a:endParaRPr>
                    </a:p>
                  </a:txBody>
                  <a:tcPr marL="91440" marR="91440" marT="45720" marB="45720" anchor="ctr">
                    <a:lnL w="25400" cap="flat" cmpd="sng" algn="ctr">
                      <a:solidFill>
                        <a:srgbClr val="0B0B14"/>
                      </a:solidFill>
                      <a:prstDash val="solid"/>
                      <a:round/>
                      <a:headEnd type="none" w="med" len="med"/>
                      <a:tailEnd type="none" w="med" len="med"/>
                    </a:lnL>
                    <a:lnR w="25400" cap="flat" cmpd="sng" algn="ctr">
                      <a:solidFill>
                        <a:srgbClr val="0B0B14"/>
                      </a:solidFill>
                      <a:prstDash val="solid"/>
                      <a:round/>
                      <a:headEnd type="none" w="med" len="med"/>
                      <a:tailEnd type="none" w="med" len="med"/>
                    </a:lnR>
                    <a:lnT w="25400" cap="flat" cmpd="sng" algn="ctr">
                      <a:solidFill>
                        <a:srgbClr val="0B0B14"/>
                      </a:solidFill>
                      <a:prstDash val="solid"/>
                      <a:round/>
                      <a:headEnd type="none" w="med" len="med"/>
                      <a:tailEnd type="none" w="med" len="med"/>
                    </a:lnT>
                    <a:lnB w="25400" cap="flat" cmpd="sng" algn="ctr">
                      <a:solidFill>
                        <a:srgbClr val="0B0B14"/>
                      </a:solidFill>
                      <a:prstDash val="solid"/>
                      <a:round/>
                      <a:headEnd type="none" w="med" len="med"/>
                      <a:tailEnd type="none" w="med" len="med"/>
                    </a:lnB>
                    <a:solidFill>
                      <a:srgbClr val="171728"/>
                    </a:solidFill>
                  </a:tcPr>
                </a:tc>
              </a:tr>
              <a:tr h="457200">
                <a:tc>
                  <a:txBody>
                    <a:bodyPr/>
                    <a:lstStyle/>
                    <a:p>
                      <a:pPr indent="0" marL="0">
                        <a:buNone/>
                      </a:pPr>
                      <a:r>
                        <a:rPr lang="en-US" sz="1400" b="1" dirty="0">
                          <a:solidFill>
                            <a:schemeClr val="accent2"/>
                          </a:solidFill>
                          <a:latin typeface="Calibri" pitchFamily="34" charset="0"/>
                          <a:ea typeface="Calibri" pitchFamily="34" charset="-122"/>
                          <a:cs typeface="Calibri" pitchFamily="34" charset="-120"/>
                        </a:rPr>
                        <a:t>POST</a:t>
                      </a:r>
                      <a:endParaRPr lang="en-US" sz="1400" dirty="0">
                        <a:latin typeface="Calibri" charset="0"/>
                        <a:ea typeface="Calibri" charset="0"/>
                        <a:cs typeface="Calibri" charset="0"/>
                      </a:endParaRPr>
                    </a:p>
                  </a:txBody>
                  <a:tcPr marL="91440" marR="91440" marT="45720" marB="45720" anchor="ctr">
                    <a:lnL w="25400" cap="flat" cmpd="sng" algn="ctr">
                      <a:solidFill>
                        <a:srgbClr val="0B0B14"/>
                      </a:solidFill>
                      <a:prstDash val="solid"/>
                      <a:round/>
                      <a:headEnd type="none" w="med" len="med"/>
                      <a:tailEnd type="none" w="med" len="med"/>
                    </a:lnL>
                    <a:lnR w="25400" cap="flat" cmpd="sng" algn="ctr">
                      <a:solidFill>
                        <a:srgbClr val="0B0B14"/>
                      </a:solidFill>
                      <a:prstDash val="solid"/>
                      <a:round/>
                      <a:headEnd type="none" w="med" len="med"/>
                      <a:tailEnd type="none" w="med" len="med"/>
                    </a:lnR>
                    <a:lnT w="25400" cap="flat" cmpd="sng" algn="ctr">
                      <a:solidFill>
                        <a:srgbClr val="0B0B14"/>
                      </a:solidFill>
                      <a:prstDash val="solid"/>
                      <a:round/>
                      <a:headEnd type="none" w="med" len="med"/>
                      <a:tailEnd type="none" w="med" len="med"/>
                    </a:lnT>
                    <a:lnB w="25400" cap="flat" cmpd="sng" algn="ctr">
                      <a:solidFill>
                        <a:srgbClr val="0B0B14"/>
                      </a:solidFill>
                      <a:prstDash val="solid"/>
                      <a:round/>
                      <a:headEnd type="none" w="med" len="med"/>
                      <a:tailEnd type="none" w="med" len="med"/>
                    </a:lnB>
                    <a:solidFill>
                      <a:srgbClr val="171728"/>
                    </a:solidFill>
                  </a:tcPr>
                </a:tc>
                <a:tc>
                  <a:txBody>
                    <a:bodyPr/>
                    <a:lstStyle/>
                    <a:p>
                      <a:pPr indent="0" marL="0">
                        <a:buNone/>
                      </a:pPr>
                      <a:r>
                        <a:rPr lang="en-US" sz="1300" dirty="0">
                          <a:solidFill>
                            <a:schemeClr val="bg1"/>
                          </a:solidFill>
                          <a:latin typeface="Courier New" pitchFamily="34" charset="0"/>
                          <a:ea typeface="Courier New" pitchFamily="34" charset="-122"/>
                          <a:cs typeface="Courier New" pitchFamily="34" charset="-120"/>
                        </a:rPr>
                        <a:t>/v2/api/web/admin/merchants/onboard</a:t>
                      </a:r>
                      <a:endParaRPr lang="en-US" sz="1300" dirty="0">
                        <a:latin typeface="Courier New" charset="0"/>
                        <a:ea typeface="Courier New" charset="0"/>
                        <a:cs typeface="Courier New" charset="0"/>
                      </a:endParaRPr>
                    </a:p>
                  </a:txBody>
                  <a:tcPr marL="91440" marR="91440" marT="45720" marB="45720" anchor="ctr">
                    <a:lnL w="25400" cap="flat" cmpd="sng" algn="ctr">
                      <a:solidFill>
                        <a:srgbClr val="0B0B14"/>
                      </a:solidFill>
                      <a:prstDash val="solid"/>
                      <a:round/>
                      <a:headEnd type="none" w="med" len="med"/>
                      <a:tailEnd type="none" w="med" len="med"/>
                    </a:lnL>
                    <a:lnR w="25400" cap="flat" cmpd="sng" algn="ctr">
                      <a:solidFill>
                        <a:srgbClr val="0B0B14"/>
                      </a:solidFill>
                      <a:prstDash val="solid"/>
                      <a:round/>
                      <a:headEnd type="none" w="med" len="med"/>
                      <a:tailEnd type="none" w="med" len="med"/>
                    </a:lnR>
                    <a:lnT w="25400" cap="flat" cmpd="sng" algn="ctr">
                      <a:solidFill>
                        <a:srgbClr val="0B0B14"/>
                      </a:solidFill>
                      <a:prstDash val="solid"/>
                      <a:round/>
                      <a:headEnd type="none" w="med" len="med"/>
                      <a:tailEnd type="none" w="med" len="med"/>
                    </a:lnT>
                    <a:lnB w="25400" cap="flat" cmpd="sng" algn="ctr">
                      <a:solidFill>
                        <a:srgbClr val="0B0B14"/>
                      </a:solidFill>
                      <a:prstDash val="solid"/>
                      <a:round/>
                      <a:headEnd type="none" w="med" len="med"/>
                      <a:tailEnd type="none" w="med" len="med"/>
                    </a:lnB>
                    <a:solidFill>
                      <a:srgbClr val="171728"/>
                    </a:solidFill>
                  </a:tcPr>
                </a:tc>
                <a:tc>
                  <a:txBody>
                    <a:bodyPr/>
                    <a:lstStyle/>
                    <a:p>
                      <a:pPr indent="0" marL="0">
                        <a:buNone/>
                      </a:pPr>
                      <a:r>
                        <a:rPr lang="en-US" sz="1400" dirty="0">
                          <a:solidFill>
                            <a:schemeClr val="bg2"/>
                          </a:solidFill>
                          <a:latin typeface="Calibri" pitchFamily="34" charset="0"/>
                          <a:ea typeface="Calibri" pitchFamily="34" charset="-122"/>
                          <a:cs typeface="Calibri" pitchFamily="34" charset="-120"/>
                        </a:rPr>
                        <a:t>Onboard a merchant (pending)</a:t>
                      </a:r>
                      <a:endParaRPr lang="en-US" sz="1400" dirty="0">
                        <a:latin typeface="Calibri" charset="0"/>
                        <a:ea typeface="Calibri" charset="0"/>
                        <a:cs typeface="Calibri" charset="0"/>
                      </a:endParaRPr>
                    </a:p>
                  </a:txBody>
                  <a:tcPr marL="91440" marR="91440" marT="45720" marB="45720" anchor="ctr">
                    <a:lnL w="25400" cap="flat" cmpd="sng" algn="ctr">
                      <a:solidFill>
                        <a:srgbClr val="0B0B14"/>
                      </a:solidFill>
                      <a:prstDash val="solid"/>
                      <a:round/>
                      <a:headEnd type="none" w="med" len="med"/>
                      <a:tailEnd type="none" w="med" len="med"/>
                    </a:lnL>
                    <a:lnR w="25400" cap="flat" cmpd="sng" algn="ctr">
                      <a:solidFill>
                        <a:srgbClr val="0B0B14"/>
                      </a:solidFill>
                      <a:prstDash val="solid"/>
                      <a:round/>
                      <a:headEnd type="none" w="med" len="med"/>
                      <a:tailEnd type="none" w="med" len="med"/>
                    </a:lnR>
                    <a:lnT w="25400" cap="flat" cmpd="sng" algn="ctr">
                      <a:solidFill>
                        <a:srgbClr val="0B0B14"/>
                      </a:solidFill>
                      <a:prstDash val="solid"/>
                      <a:round/>
                      <a:headEnd type="none" w="med" len="med"/>
                      <a:tailEnd type="none" w="med" len="med"/>
                    </a:lnT>
                    <a:lnB w="25400" cap="flat" cmpd="sng" algn="ctr">
                      <a:solidFill>
                        <a:srgbClr val="0B0B14"/>
                      </a:solidFill>
                      <a:prstDash val="solid"/>
                      <a:round/>
                      <a:headEnd type="none" w="med" len="med"/>
                      <a:tailEnd type="none" w="med" len="med"/>
                    </a:lnB>
                    <a:solidFill>
                      <a:srgbClr val="171728"/>
                    </a:solidFill>
                  </a:tcPr>
                </a:tc>
                <a:tc>
                  <a:txBody>
                    <a:bodyPr/>
                    <a:lstStyle/>
                    <a:p>
                      <a:pPr indent="0" marL="0">
                        <a:buNone/>
                      </a:pPr>
                      <a:r>
                        <a:rPr lang="en-US" sz="1400" dirty="0">
                          <a:solidFill>
                            <a:schemeClr val="accent6"/>
                          </a:solidFill>
                          <a:latin typeface="Calibri" pitchFamily="34" charset="0"/>
                          <a:ea typeface="Calibri" pitchFamily="34" charset="-122"/>
                          <a:cs typeface="Calibri" pitchFamily="34" charset="-120"/>
                        </a:rPr>
                        <a:t>Admin session</a:t>
                      </a:r>
                      <a:endParaRPr lang="en-US" sz="1400" dirty="0">
                        <a:latin typeface="Calibri" charset="0"/>
                        <a:ea typeface="Calibri" charset="0"/>
                        <a:cs typeface="Calibri" charset="0"/>
                      </a:endParaRPr>
                    </a:p>
                  </a:txBody>
                  <a:tcPr marL="91440" marR="91440" marT="45720" marB="45720" anchor="ctr">
                    <a:lnL w="25400" cap="flat" cmpd="sng" algn="ctr">
                      <a:solidFill>
                        <a:srgbClr val="0B0B14"/>
                      </a:solidFill>
                      <a:prstDash val="solid"/>
                      <a:round/>
                      <a:headEnd type="none" w="med" len="med"/>
                      <a:tailEnd type="none" w="med" len="med"/>
                    </a:lnL>
                    <a:lnR w="25400" cap="flat" cmpd="sng" algn="ctr">
                      <a:solidFill>
                        <a:srgbClr val="0B0B14"/>
                      </a:solidFill>
                      <a:prstDash val="solid"/>
                      <a:round/>
                      <a:headEnd type="none" w="med" len="med"/>
                      <a:tailEnd type="none" w="med" len="med"/>
                    </a:lnR>
                    <a:lnT w="25400" cap="flat" cmpd="sng" algn="ctr">
                      <a:solidFill>
                        <a:srgbClr val="0B0B14"/>
                      </a:solidFill>
                      <a:prstDash val="solid"/>
                      <a:round/>
                      <a:headEnd type="none" w="med" len="med"/>
                      <a:tailEnd type="none" w="med" len="med"/>
                    </a:lnT>
                    <a:lnB w="25400" cap="flat" cmpd="sng" algn="ctr">
                      <a:solidFill>
                        <a:srgbClr val="0B0B14"/>
                      </a:solidFill>
                      <a:prstDash val="solid"/>
                      <a:round/>
                      <a:headEnd type="none" w="med" len="med"/>
                      <a:tailEnd type="none" w="med" len="med"/>
                    </a:lnB>
                    <a:solidFill>
                      <a:srgbClr val="171728"/>
                    </a:solidFill>
                  </a:tcPr>
                </a:tc>
              </a:tr>
              <a:tr h="457200">
                <a:tc>
                  <a:txBody>
                    <a:bodyPr/>
                    <a:lstStyle/>
                    <a:p>
                      <a:pPr indent="0" marL="0">
                        <a:buNone/>
                      </a:pPr>
                      <a:r>
                        <a:rPr lang="en-US" sz="1400" b="1" dirty="0">
                          <a:solidFill>
                            <a:schemeClr val="accent2"/>
                          </a:solidFill>
                          <a:latin typeface="Calibri" pitchFamily="34" charset="0"/>
                          <a:ea typeface="Calibri" pitchFamily="34" charset="-122"/>
                          <a:cs typeface="Calibri" pitchFamily="34" charset="-120"/>
                        </a:rPr>
                        <a:t>POST</a:t>
                      </a:r>
                      <a:endParaRPr lang="en-US" sz="1400" dirty="0">
                        <a:latin typeface="Calibri" charset="0"/>
                        <a:ea typeface="Calibri" charset="0"/>
                        <a:cs typeface="Calibri" charset="0"/>
                      </a:endParaRPr>
                    </a:p>
                  </a:txBody>
                  <a:tcPr marL="91440" marR="91440" marT="45720" marB="45720" anchor="ctr">
                    <a:lnL w="25400" cap="flat" cmpd="sng" algn="ctr">
                      <a:solidFill>
                        <a:srgbClr val="0B0B14"/>
                      </a:solidFill>
                      <a:prstDash val="solid"/>
                      <a:round/>
                      <a:headEnd type="none" w="med" len="med"/>
                      <a:tailEnd type="none" w="med" len="med"/>
                    </a:lnL>
                    <a:lnR w="25400" cap="flat" cmpd="sng" algn="ctr">
                      <a:solidFill>
                        <a:srgbClr val="0B0B14"/>
                      </a:solidFill>
                      <a:prstDash val="solid"/>
                      <a:round/>
                      <a:headEnd type="none" w="med" len="med"/>
                      <a:tailEnd type="none" w="med" len="med"/>
                    </a:lnR>
                    <a:lnT w="25400" cap="flat" cmpd="sng" algn="ctr">
                      <a:solidFill>
                        <a:srgbClr val="0B0B14"/>
                      </a:solidFill>
                      <a:prstDash val="solid"/>
                      <a:round/>
                      <a:headEnd type="none" w="med" len="med"/>
                      <a:tailEnd type="none" w="med" len="med"/>
                    </a:lnT>
                    <a:lnB w="25400" cap="flat" cmpd="sng" algn="ctr">
                      <a:solidFill>
                        <a:srgbClr val="0B0B14"/>
                      </a:solidFill>
                      <a:prstDash val="solid"/>
                      <a:round/>
                      <a:headEnd type="none" w="med" len="med"/>
                      <a:tailEnd type="none" w="med" len="med"/>
                    </a:lnB>
                    <a:solidFill>
                      <a:srgbClr val="171728"/>
                    </a:solidFill>
                  </a:tcPr>
                </a:tc>
                <a:tc>
                  <a:txBody>
                    <a:bodyPr/>
                    <a:lstStyle/>
                    <a:p>
                      <a:pPr indent="0" marL="0">
                        <a:buNone/>
                      </a:pPr>
                      <a:r>
                        <a:rPr lang="en-US" sz="1300" dirty="0">
                          <a:solidFill>
                            <a:schemeClr val="bg1"/>
                          </a:solidFill>
                          <a:latin typeface="Courier New" pitchFamily="34" charset="0"/>
                          <a:ea typeface="Courier New" pitchFamily="34" charset="-122"/>
                          <a:cs typeface="Courier New" pitchFamily="34" charset="-120"/>
                        </a:rPr>
                        <a:t>/v2/api/web/admin/merchants/:id/approve</a:t>
                      </a:r>
                      <a:endParaRPr lang="en-US" sz="1300" dirty="0">
                        <a:latin typeface="Courier New" charset="0"/>
                        <a:ea typeface="Courier New" charset="0"/>
                        <a:cs typeface="Courier New" charset="0"/>
                      </a:endParaRPr>
                    </a:p>
                  </a:txBody>
                  <a:tcPr marL="91440" marR="91440" marT="45720" marB="45720" anchor="ctr">
                    <a:lnL w="25400" cap="flat" cmpd="sng" algn="ctr">
                      <a:solidFill>
                        <a:srgbClr val="0B0B14"/>
                      </a:solidFill>
                      <a:prstDash val="solid"/>
                      <a:round/>
                      <a:headEnd type="none" w="med" len="med"/>
                      <a:tailEnd type="none" w="med" len="med"/>
                    </a:lnL>
                    <a:lnR w="25400" cap="flat" cmpd="sng" algn="ctr">
                      <a:solidFill>
                        <a:srgbClr val="0B0B14"/>
                      </a:solidFill>
                      <a:prstDash val="solid"/>
                      <a:round/>
                      <a:headEnd type="none" w="med" len="med"/>
                      <a:tailEnd type="none" w="med" len="med"/>
                    </a:lnR>
                    <a:lnT w="25400" cap="flat" cmpd="sng" algn="ctr">
                      <a:solidFill>
                        <a:srgbClr val="0B0B14"/>
                      </a:solidFill>
                      <a:prstDash val="solid"/>
                      <a:round/>
                      <a:headEnd type="none" w="med" len="med"/>
                      <a:tailEnd type="none" w="med" len="med"/>
                    </a:lnT>
                    <a:lnB w="25400" cap="flat" cmpd="sng" algn="ctr">
                      <a:solidFill>
                        <a:srgbClr val="0B0B14"/>
                      </a:solidFill>
                      <a:prstDash val="solid"/>
                      <a:round/>
                      <a:headEnd type="none" w="med" len="med"/>
                      <a:tailEnd type="none" w="med" len="med"/>
                    </a:lnB>
                    <a:solidFill>
                      <a:srgbClr val="171728"/>
                    </a:solidFill>
                  </a:tcPr>
                </a:tc>
                <a:tc>
                  <a:txBody>
                    <a:bodyPr/>
                    <a:lstStyle/>
                    <a:p>
                      <a:pPr indent="0" marL="0">
                        <a:buNone/>
                      </a:pPr>
                      <a:r>
                        <a:rPr lang="en-US" sz="1400" dirty="0">
                          <a:solidFill>
                            <a:schemeClr val="bg2"/>
                          </a:solidFill>
                          <a:latin typeface="Calibri" pitchFamily="34" charset="0"/>
                          <a:ea typeface="Calibri" pitchFamily="34" charset="-122"/>
                          <a:cs typeface="Calibri" pitchFamily="34" charset="-120"/>
                        </a:rPr>
                        <a:t>Approve to live</a:t>
                      </a:r>
                      <a:endParaRPr lang="en-US" sz="1400" dirty="0">
                        <a:latin typeface="Calibri" charset="0"/>
                        <a:ea typeface="Calibri" charset="0"/>
                        <a:cs typeface="Calibri" charset="0"/>
                      </a:endParaRPr>
                    </a:p>
                  </a:txBody>
                  <a:tcPr marL="91440" marR="91440" marT="45720" marB="45720" anchor="ctr">
                    <a:lnL w="25400" cap="flat" cmpd="sng" algn="ctr">
                      <a:solidFill>
                        <a:srgbClr val="0B0B14"/>
                      </a:solidFill>
                      <a:prstDash val="solid"/>
                      <a:round/>
                      <a:headEnd type="none" w="med" len="med"/>
                      <a:tailEnd type="none" w="med" len="med"/>
                    </a:lnL>
                    <a:lnR w="25400" cap="flat" cmpd="sng" algn="ctr">
                      <a:solidFill>
                        <a:srgbClr val="0B0B14"/>
                      </a:solidFill>
                      <a:prstDash val="solid"/>
                      <a:round/>
                      <a:headEnd type="none" w="med" len="med"/>
                      <a:tailEnd type="none" w="med" len="med"/>
                    </a:lnR>
                    <a:lnT w="25400" cap="flat" cmpd="sng" algn="ctr">
                      <a:solidFill>
                        <a:srgbClr val="0B0B14"/>
                      </a:solidFill>
                      <a:prstDash val="solid"/>
                      <a:round/>
                      <a:headEnd type="none" w="med" len="med"/>
                      <a:tailEnd type="none" w="med" len="med"/>
                    </a:lnT>
                    <a:lnB w="25400" cap="flat" cmpd="sng" algn="ctr">
                      <a:solidFill>
                        <a:srgbClr val="0B0B14"/>
                      </a:solidFill>
                      <a:prstDash val="solid"/>
                      <a:round/>
                      <a:headEnd type="none" w="med" len="med"/>
                      <a:tailEnd type="none" w="med" len="med"/>
                    </a:lnB>
                    <a:solidFill>
                      <a:srgbClr val="171728"/>
                    </a:solidFill>
                  </a:tcPr>
                </a:tc>
                <a:tc>
                  <a:txBody>
                    <a:bodyPr/>
                    <a:lstStyle/>
                    <a:p>
                      <a:pPr indent="0" marL="0">
                        <a:buNone/>
                      </a:pPr>
                      <a:r>
                        <a:rPr lang="en-US" sz="1400" dirty="0">
                          <a:solidFill>
                            <a:schemeClr val="accent6"/>
                          </a:solidFill>
                          <a:latin typeface="Calibri" pitchFamily="34" charset="0"/>
                          <a:ea typeface="Calibri" pitchFamily="34" charset="-122"/>
                          <a:cs typeface="Calibri" pitchFamily="34" charset="-120"/>
                        </a:rPr>
                        <a:t>Admin session</a:t>
                      </a:r>
                      <a:endParaRPr lang="en-US" sz="1400" dirty="0">
                        <a:latin typeface="Calibri" charset="0"/>
                        <a:ea typeface="Calibri" charset="0"/>
                        <a:cs typeface="Calibri" charset="0"/>
                      </a:endParaRPr>
                    </a:p>
                  </a:txBody>
                  <a:tcPr marL="91440" marR="91440" marT="45720" marB="45720" anchor="ctr">
                    <a:lnL w="25400" cap="flat" cmpd="sng" algn="ctr">
                      <a:solidFill>
                        <a:srgbClr val="0B0B14"/>
                      </a:solidFill>
                      <a:prstDash val="solid"/>
                      <a:round/>
                      <a:headEnd type="none" w="med" len="med"/>
                      <a:tailEnd type="none" w="med" len="med"/>
                    </a:lnL>
                    <a:lnR w="25400" cap="flat" cmpd="sng" algn="ctr">
                      <a:solidFill>
                        <a:srgbClr val="0B0B14"/>
                      </a:solidFill>
                      <a:prstDash val="solid"/>
                      <a:round/>
                      <a:headEnd type="none" w="med" len="med"/>
                      <a:tailEnd type="none" w="med" len="med"/>
                    </a:lnR>
                    <a:lnT w="25400" cap="flat" cmpd="sng" algn="ctr">
                      <a:solidFill>
                        <a:srgbClr val="0B0B14"/>
                      </a:solidFill>
                      <a:prstDash val="solid"/>
                      <a:round/>
                      <a:headEnd type="none" w="med" len="med"/>
                      <a:tailEnd type="none" w="med" len="med"/>
                    </a:lnT>
                    <a:lnB w="25400" cap="flat" cmpd="sng" algn="ctr">
                      <a:solidFill>
                        <a:srgbClr val="0B0B14"/>
                      </a:solidFill>
                      <a:prstDash val="solid"/>
                      <a:round/>
                      <a:headEnd type="none" w="med" len="med"/>
                      <a:tailEnd type="none" w="med" len="med"/>
                    </a:lnB>
                    <a:solidFill>
                      <a:srgbClr val="171728"/>
                    </a:solidFill>
                  </a:tcPr>
                </a:tc>
              </a:tr>
              <a:tr h="457200">
                <a:tc>
                  <a:txBody>
                    <a:bodyPr/>
                    <a:lstStyle/>
                    <a:p>
                      <a:pPr indent="0" marL="0">
                        <a:buNone/>
                      </a:pPr>
                      <a:r>
                        <a:rPr lang="en-US" sz="1400" b="1" dirty="0">
                          <a:solidFill>
                            <a:schemeClr val="accent3"/>
                          </a:solidFill>
                          <a:latin typeface="Calibri" pitchFamily="34" charset="0"/>
                          <a:ea typeface="Calibri" pitchFamily="34" charset="-122"/>
                          <a:cs typeface="Calibri" pitchFamily="34" charset="-120"/>
                        </a:rPr>
                        <a:t>GET</a:t>
                      </a:r>
                      <a:endParaRPr lang="en-US" sz="1400" dirty="0">
                        <a:latin typeface="Calibri" charset="0"/>
                        <a:ea typeface="Calibri" charset="0"/>
                        <a:cs typeface="Calibri" charset="0"/>
                      </a:endParaRPr>
                    </a:p>
                  </a:txBody>
                  <a:tcPr marL="91440" marR="91440" marT="45720" marB="45720" anchor="ctr">
                    <a:lnL w="25400" cap="flat" cmpd="sng" algn="ctr">
                      <a:solidFill>
                        <a:srgbClr val="0B0B14"/>
                      </a:solidFill>
                      <a:prstDash val="solid"/>
                      <a:round/>
                      <a:headEnd type="none" w="med" len="med"/>
                      <a:tailEnd type="none" w="med" len="med"/>
                    </a:lnL>
                    <a:lnR w="25400" cap="flat" cmpd="sng" algn="ctr">
                      <a:solidFill>
                        <a:srgbClr val="0B0B14"/>
                      </a:solidFill>
                      <a:prstDash val="solid"/>
                      <a:round/>
                      <a:headEnd type="none" w="med" len="med"/>
                      <a:tailEnd type="none" w="med" len="med"/>
                    </a:lnR>
                    <a:lnT w="25400" cap="flat" cmpd="sng" algn="ctr">
                      <a:solidFill>
                        <a:srgbClr val="0B0B14"/>
                      </a:solidFill>
                      <a:prstDash val="solid"/>
                      <a:round/>
                      <a:headEnd type="none" w="med" len="med"/>
                      <a:tailEnd type="none" w="med" len="med"/>
                    </a:lnT>
                    <a:lnB w="25400" cap="flat" cmpd="sng" algn="ctr">
                      <a:solidFill>
                        <a:srgbClr val="0B0B14"/>
                      </a:solidFill>
                      <a:prstDash val="solid"/>
                      <a:round/>
                      <a:headEnd type="none" w="med" len="med"/>
                      <a:tailEnd type="none" w="med" len="med"/>
                    </a:lnB>
                    <a:solidFill>
                      <a:srgbClr val="171728"/>
                    </a:solidFill>
                  </a:tcPr>
                </a:tc>
                <a:tc>
                  <a:txBody>
                    <a:bodyPr/>
                    <a:lstStyle/>
                    <a:p>
                      <a:pPr indent="0" marL="0">
                        <a:buNone/>
                      </a:pPr>
                      <a:r>
                        <a:rPr lang="en-US" sz="1300" dirty="0">
                          <a:solidFill>
                            <a:schemeClr val="bg1"/>
                          </a:solidFill>
                          <a:latin typeface="Courier New" pitchFamily="34" charset="0"/>
                          <a:ea typeface="Courier New" pitchFamily="34" charset="-122"/>
                          <a:cs typeface="Courier New" pitchFamily="34" charset="-120"/>
                        </a:rPr>
                        <a:t>/openapi.json</a:t>
                      </a:r>
                      <a:endParaRPr lang="en-US" sz="1300" dirty="0">
                        <a:latin typeface="Courier New" charset="0"/>
                        <a:ea typeface="Courier New" charset="0"/>
                        <a:cs typeface="Courier New" charset="0"/>
                      </a:endParaRPr>
                    </a:p>
                  </a:txBody>
                  <a:tcPr marL="91440" marR="91440" marT="45720" marB="45720" anchor="ctr">
                    <a:lnL w="25400" cap="flat" cmpd="sng" algn="ctr">
                      <a:solidFill>
                        <a:srgbClr val="0B0B14"/>
                      </a:solidFill>
                      <a:prstDash val="solid"/>
                      <a:round/>
                      <a:headEnd type="none" w="med" len="med"/>
                      <a:tailEnd type="none" w="med" len="med"/>
                    </a:lnL>
                    <a:lnR w="25400" cap="flat" cmpd="sng" algn="ctr">
                      <a:solidFill>
                        <a:srgbClr val="0B0B14"/>
                      </a:solidFill>
                      <a:prstDash val="solid"/>
                      <a:round/>
                      <a:headEnd type="none" w="med" len="med"/>
                      <a:tailEnd type="none" w="med" len="med"/>
                    </a:lnR>
                    <a:lnT w="25400" cap="flat" cmpd="sng" algn="ctr">
                      <a:solidFill>
                        <a:srgbClr val="0B0B14"/>
                      </a:solidFill>
                      <a:prstDash val="solid"/>
                      <a:round/>
                      <a:headEnd type="none" w="med" len="med"/>
                      <a:tailEnd type="none" w="med" len="med"/>
                    </a:lnT>
                    <a:lnB w="25400" cap="flat" cmpd="sng" algn="ctr">
                      <a:solidFill>
                        <a:srgbClr val="0B0B14"/>
                      </a:solidFill>
                      <a:prstDash val="solid"/>
                      <a:round/>
                      <a:headEnd type="none" w="med" len="med"/>
                      <a:tailEnd type="none" w="med" len="med"/>
                    </a:lnB>
                    <a:solidFill>
                      <a:srgbClr val="171728"/>
                    </a:solidFill>
                  </a:tcPr>
                </a:tc>
                <a:tc>
                  <a:txBody>
                    <a:bodyPr/>
                    <a:lstStyle/>
                    <a:p>
                      <a:pPr indent="0" marL="0">
                        <a:buNone/>
                      </a:pPr>
                      <a:r>
                        <a:rPr lang="en-US" sz="1400" dirty="0">
                          <a:solidFill>
                            <a:schemeClr val="bg2"/>
                          </a:solidFill>
                          <a:latin typeface="Calibri" pitchFamily="34" charset="0"/>
                          <a:ea typeface="Calibri" pitchFamily="34" charset="-122"/>
                          <a:cs typeface="Calibri" pitchFamily="34" charset="-120"/>
                        </a:rPr>
                        <a:t>Full contract incl. webhooks</a:t>
                      </a:r>
                      <a:endParaRPr lang="en-US" sz="1400" dirty="0">
                        <a:latin typeface="Calibri" charset="0"/>
                        <a:ea typeface="Calibri" charset="0"/>
                        <a:cs typeface="Calibri" charset="0"/>
                      </a:endParaRPr>
                    </a:p>
                  </a:txBody>
                  <a:tcPr marL="91440" marR="91440" marT="45720" marB="45720" anchor="ctr">
                    <a:lnL w="25400" cap="flat" cmpd="sng" algn="ctr">
                      <a:solidFill>
                        <a:srgbClr val="0B0B14"/>
                      </a:solidFill>
                      <a:prstDash val="solid"/>
                      <a:round/>
                      <a:headEnd type="none" w="med" len="med"/>
                      <a:tailEnd type="none" w="med" len="med"/>
                    </a:lnL>
                    <a:lnR w="25400" cap="flat" cmpd="sng" algn="ctr">
                      <a:solidFill>
                        <a:srgbClr val="0B0B14"/>
                      </a:solidFill>
                      <a:prstDash val="solid"/>
                      <a:round/>
                      <a:headEnd type="none" w="med" len="med"/>
                      <a:tailEnd type="none" w="med" len="med"/>
                    </a:lnR>
                    <a:lnT w="25400" cap="flat" cmpd="sng" algn="ctr">
                      <a:solidFill>
                        <a:srgbClr val="0B0B14"/>
                      </a:solidFill>
                      <a:prstDash val="solid"/>
                      <a:round/>
                      <a:headEnd type="none" w="med" len="med"/>
                      <a:tailEnd type="none" w="med" len="med"/>
                    </a:lnT>
                    <a:lnB w="25400" cap="flat" cmpd="sng" algn="ctr">
                      <a:solidFill>
                        <a:srgbClr val="0B0B14"/>
                      </a:solidFill>
                      <a:prstDash val="solid"/>
                      <a:round/>
                      <a:headEnd type="none" w="med" len="med"/>
                      <a:tailEnd type="none" w="med" len="med"/>
                    </a:lnB>
                    <a:solidFill>
                      <a:srgbClr val="171728"/>
                    </a:solidFill>
                  </a:tcPr>
                </a:tc>
                <a:tc>
                  <a:txBody>
                    <a:bodyPr/>
                    <a:lstStyle/>
                    <a:p>
                      <a:pPr indent="0" marL="0">
                        <a:buNone/>
                      </a:pPr>
                      <a:r>
                        <a:rPr lang="en-US" sz="1400" dirty="0">
                          <a:solidFill>
                            <a:schemeClr val="accent6"/>
                          </a:solidFill>
                          <a:latin typeface="Calibri" pitchFamily="34" charset="0"/>
                          <a:ea typeface="Calibri" pitchFamily="34" charset="-122"/>
                          <a:cs typeface="Calibri" pitchFamily="34" charset="-120"/>
                        </a:rPr>
                        <a:t>Public</a:t>
                      </a:r>
                      <a:endParaRPr lang="en-US" sz="1400" dirty="0">
                        <a:latin typeface="Calibri" charset="0"/>
                        <a:ea typeface="Calibri" charset="0"/>
                        <a:cs typeface="Calibri" charset="0"/>
                      </a:endParaRPr>
                    </a:p>
                  </a:txBody>
                  <a:tcPr marL="91440" marR="91440" marT="45720" marB="45720" anchor="ctr">
                    <a:lnL w="25400" cap="flat" cmpd="sng" algn="ctr">
                      <a:solidFill>
                        <a:srgbClr val="0B0B14"/>
                      </a:solidFill>
                      <a:prstDash val="solid"/>
                      <a:round/>
                      <a:headEnd type="none" w="med" len="med"/>
                      <a:tailEnd type="none" w="med" len="med"/>
                    </a:lnL>
                    <a:lnR w="25400" cap="flat" cmpd="sng" algn="ctr">
                      <a:solidFill>
                        <a:srgbClr val="0B0B14"/>
                      </a:solidFill>
                      <a:prstDash val="solid"/>
                      <a:round/>
                      <a:headEnd type="none" w="med" len="med"/>
                      <a:tailEnd type="none" w="med" len="med"/>
                    </a:lnR>
                    <a:lnT w="25400" cap="flat" cmpd="sng" algn="ctr">
                      <a:solidFill>
                        <a:srgbClr val="0B0B14"/>
                      </a:solidFill>
                      <a:prstDash val="solid"/>
                      <a:round/>
                      <a:headEnd type="none" w="med" len="med"/>
                      <a:tailEnd type="none" w="med" len="med"/>
                    </a:lnT>
                    <a:lnB w="25400" cap="flat" cmpd="sng" algn="ctr">
                      <a:solidFill>
                        <a:srgbClr val="0B0B14"/>
                      </a:solidFill>
                      <a:prstDash val="solid"/>
                      <a:round/>
                      <a:headEnd type="none" w="med" len="med"/>
                      <a:tailEnd type="none" w="med" len="med"/>
                    </a:lnB>
                    <a:solidFill>
                      <a:srgbClr val="171728"/>
                    </a:solidFill>
                  </a:tcPr>
                </a:tc>
              </a:tr>
            </a:tbl>
          </a:graphicData>
        </a:graphic>
      </p:graphicFrame>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64240" cy="685800"/>
          </a:xfrm>
          <a:prstGeom prst="rect">
            <a:avLst/>
          </a:prstGeom>
          <a:noFill/>
          <a:ln/>
        </p:spPr>
        <p:txBody>
          <a:bodyPr wrap="square" lIns="0" tIns="0" rIns="0" bIns="0" rtlCol="0" anchor="ctr"/>
          <a:lstStyle/>
          <a:p>
            <a:pPr algn="l" indent="0" marL="0">
              <a:buNone/>
            </a:pPr>
            <a:r>
              <a:rPr lang="en-US" sz="3600" b="1" dirty="0">
                <a:solidFill>
                  <a:schemeClr val="bg1"/>
                </a:solidFill>
              </a:rPr>
              <a:t>Integrate in minutes, settle on Solana</a:t>
            </a:r>
            <a:endParaRPr lang="en-US" sz="3600" dirty="0"/>
          </a:p>
        </p:txBody>
      </p:sp>
      <p:sp>
        <p:nvSpPr>
          <p:cNvPr id="3" name="Text 0"/>
          <p:cNvSpPr/>
          <p:nvPr>
            <p:ph idx="101" type="body" hasCustomPrompt="1"/>
          </p:nvPr>
        </p:nvSpPr>
        <p:spPr>
          <a:xfrm>
            <a:off x="548640" y="1024128"/>
            <a:ext cx="11064240" cy="384048"/>
          </a:xfrm>
          <a:prstGeom prst="rect">
            <a:avLst/>
          </a:prstGeom>
          <a:noFill/>
          <a:ln/>
        </p:spPr>
        <p:txBody>
          <a:bodyPr wrap="square" lIns="0" tIns="0" rIns="0" bIns="0" rtlCol="0" anchor="t"/>
          <a:lstStyle/>
          <a:p>
            <a:pPr indent="0" marL="0">
              <a:buNone/>
            </a:pPr>
            <a:r>
              <a:rPr lang="en-US" sz="1600" dirty="0">
                <a:solidFill>
                  <a:schemeClr val="accent6"/>
                </a:solidFill>
              </a:rPr>
              <a:t>One request in, one signed webhook out, Solana primitives underneath</a:t>
            </a:r>
            <a:endParaRPr lang="en-US" sz="1600" dirty="0"/>
          </a:p>
        </p:txBody>
      </p:sp>
      <p:sp>
        <p:nvSpPr>
          <p:cNvPr id="5" name="request code"/>
          <p:cNvSpPr/>
          <p:nvPr/>
        </p:nvSpPr>
        <p:spPr>
          <a:xfrm>
            <a:off x="548640" y="1737360"/>
            <a:ext cx="3749040" cy="4434840"/>
          </a:xfrm>
          <a:prstGeom prst="roundRect">
            <a:avLst>
              <a:gd name="adj" fmla="val 2927"/>
            </a:avLst>
          </a:prstGeom>
          <a:solidFill>
            <a:srgbClr val="0F0F1C"/>
          </a:solidFill>
          <a:ln w="12700">
            <a:solidFill>
              <a:srgbClr val="2A2A44"/>
            </a:solidFill>
            <a:prstDash val="solid"/>
          </a:ln>
        </p:spPr>
      </p:sp>
      <p:sp>
        <p:nvSpPr>
          <p:cNvPr id="6" name="Text 3"/>
          <p:cNvSpPr txBox="1"/>
          <p:nvPr/>
        </p:nvSpPr>
        <p:spPr>
          <a:xfrm>
            <a:off x="777240" y="1874520"/>
            <a:ext cx="3291840" cy="320040"/>
          </a:xfrm>
          <a:prstGeom prst="rect">
            <a:avLst/>
          </a:prstGeom>
          <a:noFill/>
          <a:ln/>
        </p:spPr>
        <p:txBody>
          <a:bodyPr wrap="square" lIns="0" tIns="0" rIns="0" bIns="0" rtlCol="0" anchor="t"/>
          <a:lstStyle/>
          <a:p>
            <a:pPr indent="0" marL="0">
              <a:buNone/>
            </a:pPr>
            <a:r>
              <a:rPr lang="en-US" sz="1400" b="1" dirty="0">
                <a:solidFill>
                  <a:schemeClr val="accent2"/>
                </a:solidFill>
              </a:rPr>
              <a:t>Request</a:t>
            </a:r>
            <a:endParaRPr lang="en-US" sz="1400" dirty="0"/>
          </a:p>
        </p:txBody>
      </p:sp>
      <p:sp>
        <p:nvSpPr>
          <p:cNvPr id="7" name="Text 4"/>
          <p:cNvSpPr txBox="1"/>
          <p:nvPr/>
        </p:nvSpPr>
        <p:spPr>
          <a:xfrm>
            <a:off x="777240" y="2240280"/>
            <a:ext cx="3383280" cy="3840480"/>
          </a:xfrm>
          <a:prstGeom prst="rect">
            <a:avLst/>
          </a:prstGeom>
          <a:noFill/>
          <a:ln/>
        </p:spPr>
        <p:txBody>
          <a:bodyPr wrap="square" lIns="0" tIns="0" rIns="0" bIns="0" rtlCol="0" anchor="t"/>
          <a:lstStyle/>
          <a:p>
            <a:pPr indent="0" marL="0">
              <a:buNone/>
            </a:pPr>
            <a:r>
              <a:rPr lang="en-US" sz="1200" dirty="0">
                <a:solidFill>
                  <a:schemeClr val="bg2"/>
                </a:solidFill>
                <a:latin typeface="Courier New" pitchFamily="34" charset="0"/>
                <a:ea typeface="Courier New" pitchFamily="34" charset="-122"/>
                <a:cs typeface="Courier New" pitchFamily="34" charset="-120"/>
              </a:rPr>
              <a:t>POST /api/v1/payment_links</a:t>
            </a:r>
            <a:endParaRPr lang="en-US" sz="1200" dirty="0"/>
          </a:p>
          <a:p>
            <a:pPr indent="0" marL="0">
              <a:buNone/>
            </a:pPr>
            <a:r>
              <a:rPr lang="en-US" sz="1200" dirty="0">
                <a:solidFill>
                  <a:schemeClr val="bg2"/>
                </a:solidFill>
                <a:latin typeface="Courier New" pitchFamily="34" charset="0"/>
                <a:ea typeface="Courier New" pitchFamily="34" charset="-122"/>
                <a:cs typeface="Courier New" pitchFamily="34" charset="-120"/>
              </a:rPr>
              <a:t>Authorization: Bearer sk_live_…</a:t>
            </a:r>
            <a:endParaRPr lang="en-US" sz="1200" dirty="0"/>
          </a:p>
          <a:p>
            <a:pPr indent="0" marL="0">
              <a:buNone/>
            </a:pPr>
            <a:r>
              <a:rPr lang="en-US" sz="1200" dirty="0">
                <a:solidFill>
                  <a:schemeClr val="bg2"/>
                </a:solidFill>
                <a:latin typeface="Courier New" pitchFamily="34" charset="0"/>
                <a:ea typeface="Courier New" pitchFamily="34" charset="-122"/>
                <a:cs typeface="Courier New" pitchFamily="34" charset="-120"/>
              </a:rPr>
              <a:t>Idempotency-Key: ord_2231</a:t>
            </a:r>
            <a:endParaRPr lang="en-US" sz="1200" dirty="0"/>
          </a:p>
          <a:p>
            <a:pPr indent="0" marL="0">
              <a:buNone/>
            </a:pPr>
            <a:endParaRPr lang="en-US" sz="1200" dirty="0"/>
          </a:p>
          <a:p>
            <a:pPr indent="0" marL="0">
              <a:buNone/>
            </a:pPr>
            <a:r>
              <a:rPr lang="en-US" sz="1200" dirty="0">
                <a:solidFill>
                  <a:schemeClr val="bg2"/>
                </a:solidFill>
                <a:latin typeface="Courier New" pitchFamily="34" charset="0"/>
                <a:ea typeface="Courier New" pitchFamily="34" charset="-122"/>
                <a:cs typeface="Courier New" pitchFamily="34" charset="-120"/>
              </a:rPr>
              <a:t>{</a:t>
            </a:r>
            <a:endParaRPr lang="en-US" sz="1200" dirty="0"/>
          </a:p>
          <a:p>
            <a:pPr indent="0" marL="0">
              <a:buNone/>
            </a:pPr>
            <a:r>
              <a:rPr lang="en-US" sz="1200" dirty="0">
                <a:solidFill>
                  <a:schemeClr val="bg2"/>
                </a:solidFill>
                <a:latin typeface="Courier New" pitchFamily="34" charset="0"/>
                <a:ea typeface="Courier New" pitchFamily="34" charset="-122"/>
                <a:cs typeface="Courier New" pitchFamily="34" charset="-120"/>
              </a:rPr>
              <a:t>  "amount": "249.00",</a:t>
            </a:r>
            <a:endParaRPr lang="en-US" sz="1200" dirty="0"/>
          </a:p>
          <a:p>
            <a:pPr indent="0" marL="0">
              <a:buNone/>
            </a:pPr>
            <a:r>
              <a:rPr lang="en-US" sz="1200" dirty="0">
                <a:solidFill>
                  <a:schemeClr val="bg2"/>
                </a:solidFill>
                <a:latin typeface="Courier New" pitchFamily="34" charset="0"/>
                <a:ea typeface="Courier New" pitchFamily="34" charset="-122"/>
                <a:cs typeface="Courier New" pitchFamily="34" charset="-120"/>
              </a:rPr>
              <a:t>  "currency": "USD",</a:t>
            </a:r>
            <a:endParaRPr lang="en-US" sz="1200" dirty="0"/>
          </a:p>
          <a:p>
            <a:pPr indent="0" marL="0">
              <a:buNone/>
            </a:pPr>
            <a:r>
              <a:rPr lang="en-US" sz="1200" dirty="0">
                <a:solidFill>
                  <a:schemeClr val="bg2"/>
                </a:solidFill>
                <a:latin typeface="Courier New" pitchFamily="34" charset="0"/>
                <a:ea typeface="Courier New" pitchFamily="34" charset="-122"/>
                <a:cs typeface="Courier New" pitchFamily="34" charset="-120"/>
              </a:rPr>
              <a:t>  "methods": ["card","upi","crypto"],</a:t>
            </a:r>
            <a:endParaRPr lang="en-US" sz="1200" dirty="0"/>
          </a:p>
          <a:p>
            <a:pPr indent="0" marL="0">
              <a:buNone/>
            </a:pPr>
            <a:r>
              <a:rPr lang="en-US" sz="1200" dirty="0">
                <a:solidFill>
                  <a:schemeClr val="bg2"/>
                </a:solidFill>
                <a:latin typeface="Courier New" pitchFamily="34" charset="0"/>
                <a:ea typeface="Courier New" pitchFamily="34" charset="-122"/>
                <a:cs typeface="Courier New" pitchFamily="34" charset="-120"/>
              </a:rPr>
              <a:t>  "pay_in_chains": ["solana","tron",</a:t>
            </a:r>
            <a:endParaRPr lang="en-US" sz="1200" dirty="0"/>
          </a:p>
          <a:p>
            <a:pPr indent="0" marL="0">
              <a:buNone/>
            </a:pPr>
            <a:r>
              <a:rPr lang="en-US" sz="1200" dirty="0">
                <a:solidFill>
                  <a:schemeClr val="bg2"/>
                </a:solidFill>
                <a:latin typeface="Courier New" pitchFamily="34" charset="0"/>
                <a:ea typeface="Courier New" pitchFamily="34" charset="-122"/>
                <a:cs typeface="Courier New" pitchFamily="34" charset="-120"/>
              </a:rPr>
              <a:t>    "ethereum","polygon","bsc"],</a:t>
            </a:r>
            <a:endParaRPr lang="en-US" sz="1200" dirty="0"/>
          </a:p>
          <a:p>
            <a:pPr indent="0" marL="0">
              <a:buNone/>
            </a:pPr>
            <a:r>
              <a:rPr lang="en-US" sz="1200" dirty="0">
                <a:solidFill>
                  <a:schemeClr val="bg2"/>
                </a:solidFill>
                <a:latin typeface="Courier New" pitchFamily="34" charset="0"/>
                <a:ea typeface="Courier New" pitchFamily="34" charset="-122"/>
                <a:cs typeface="Courier New" pitchFamily="34" charset="-120"/>
              </a:rPr>
              <a:t>  "settlement": {</a:t>
            </a:r>
            <a:endParaRPr lang="en-US" sz="1200" dirty="0"/>
          </a:p>
          <a:p>
            <a:pPr indent="0" marL="0">
              <a:buNone/>
            </a:pPr>
            <a:r>
              <a:rPr lang="en-US" sz="1200" dirty="0">
                <a:solidFill>
                  <a:schemeClr val="bg2"/>
                </a:solidFill>
                <a:latin typeface="Courier New" pitchFamily="34" charset="0"/>
                <a:ea typeface="Courier New" pitchFamily="34" charset="-122"/>
                <a:cs typeface="Courier New" pitchFamily="34" charset="-120"/>
              </a:rPr>
              <a:t>    "chain": "solana",</a:t>
            </a:r>
            <a:endParaRPr lang="en-US" sz="1200" dirty="0"/>
          </a:p>
          <a:p>
            <a:pPr indent="0" marL="0">
              <a:buNone/>
            </a:pPr>
            <a:r>
              <a:rPr lang="en-US" sz="1200" dirty="0">
                <a:solidFill>
                  <a:schemeClr val="bg2"/>
                </a:solidFill>
                <a:latin typeface="Courier New" pitchFamily="34" charset="0"/>
                <a:ea typeface="Courier New" pitchFamily="34" charset="-122"/>
                <a:cs typeface="Courier New" pitchFamily="34" charset="-120"/>
              </a:rPr>
              <a:t>    "asset": "USDT",</a:t>
            </a:r>
            <a:endParaRPr lang="en-US" sz="1200" dirty="0"/>
          </a:p>
          <a:p>
            <a:pPr indent="0" marL="0">
              <a:buNone/>
            </a:pPr>
            <a:r>
              <a:rPr lang="en-US" sz="1200" dirty="0">
                <a:solidFill>
                  <a:schemeClr val="bg2"/>
                </a:solidFill>
                <a:latin typeface="Courier New" pitchFamily="34" charset="0"/>
                <a:ea typeface="Courier New" pitchFamily="34" charset="-122"/>
                <a:cs typeface="Courier New" pitchFamily="34" charset="-120"/>
              </a:rPr>
              <a:t>    "mode": "auto"</a:t>
            </a:r>
            <a:endParaRPr lang="en-US" sz="1200" dirty="0"/>
          </a:p>
          <a:p>
            <a:pPr indent="0" marL="0">
              <a:buNone/>
            </a:pPr>
            <a:r>
              <a:rPr lang="en-US" sz="1200" dirty="0">
                <a:solidFill>
                  <a:schemeClr val="bg2"/>
                </a:solidFill>
                <a:latin typeface="Courier New" pitchFamily="34" charset="0"/>
                <a:ea typeface="Courier New" pitchFamily="34" charset="-122"/>
                <a:cs typeface="Courier New" pitchFamily="34" charset="-120"/>
              </a:rPr>
              <a:t>  }</a:t>
            </a:r>
            <a:endParaRPr lang="en-US" sz="1200" dirty="0"/>
          </a:p>
          <a:p>
            <a:pPr indent="0" marL="0">
              <a:buNone/>
            </a:pPr>
            <a:r>
              <a:rPr lang="en-US" sz="1200" dirty="0">
                <a:solidFill>
                  <a:schemeClr val="bg2"/>
                </a:solidFill>
                <a:latin typeface="Courier New" pitchFamily="34" charset="0"/>
                <a:ea typeface="Courier New" pitchFamily="34" charset="-122"/>
                <a:cs typeface="Courier New" pitchFamily="34" charset="-120"/>
              </a:rPr>
              <a:t>}</a:t>
            </a:r>
            <a:endParaRPr lang="en-US" sz="1200" dirty="0"/>
          </a:p>
        </p:txBody>
      </p:sp>
      <p:sp>
        <p:nvSpPr>
          <p:cNvPr id="8" name="webhook code"/>
          <p:cNvSpPr/>
          <p:nvPr/>
        </p:nvSpPr>
        <p:spPr>
          <a:xfrm>
            <a:off x="4480560" y="1737360"/>
            <a:ext cx="3383280" cy="4434840"/>
          </a:xfrm>
          <a:prstGeom prst="roundRect">
            <a:avLst>
              <a:gd name="adj" fmla="val 3243"/>
            </a:avLst>
          </a:prstGeom>
          <a:solidFill>
            <a:srgbClr val="0F0F1C"/>
          </a:solidFill>
          <a:ln w="12700">
            <a:solidFill>
              <a:srgbClr val="2A2A44"/>
            </a:solidFill>
            <a:prstDash val="solid"/>
          </a:ln>
        </p:spPr>
      </p:sp>
      <p:sp>
        <p:nvSpPr>
          <p:cNvPr id="9" name="Text 6"/>
          <p:cNvSpPr txBox="1"/>
          <p:nvPr/>
        </p:nvSpPr>
        <p:spPr>
          <a:xfrm>
            <a:off x="4709160" y="1874520"/>
            <a:ext cx="2926080" cy="320040"/>
          </a:xfrm>
          <a:prstGeom prst="rect">
            <a:avLst/>
          </a:prstGeom>
          <a:noFill/>
          <a:ln/>
        </p:spPr>
        <p:txBody>
          <a:bodyPr wrap="square" lIns="0" tIns="0" rIns="0" bIns="0" rtlCol="0" anchor="t"/>
          <a:lstStyle/>
          <a:p>
            <a:pPr indent="0" marL="0">
              <a:buNone/>
            </a:pPr>
            <a:r>
              <a:rPr lang="en-US" sz="1400" b="1" dirty="0">
                <a:solidFill>
                  <a:schemeClr val="accent2"/>
                </a:solidFill>
              </a:rPr>
              <a:t>Signed webhook</a:t>
            </a:r>
            <a:endParaRPr lang="en-US" sz="1400" dirty="0"/>
          </a:p>
        </p:txBody>
      </p:sp>
      <p:sp>
        <p:nvSpPr>
          <p:cNvPr id="10" name="Text 7"/>
          <p:cNvSpPr txBox="1"/>
          <p:nvPr/>
        </p:nvSpPr>
        <p:spPr>
          <a:xfrm>
            <a:off x="4709160" y="2240280"/>
            <a:ext cx="3063240" cy="3840480"/>
          </a:xfrm>
          <a:prstGeom prst="rect">
            <a:avLst/>
          </a:prstGeom>
          <a:noFill/>
          <a:ln/>
        </p:spPr>
        <p:txBody>
          <a:bodyPr wrap="square" lIns="0" tIns="0" rIns="0" bIns="0" rtlCol="0" anchor="t"/>
          <a:lstStyle/>
          <a:p>
            <a:pPr indent="0" marL="0">
              <a:buNone/>
            </a:pPr>
            <a:r>
              <a:rPr lang="en-US" sz="1200" dirty="0">
                <a:solidFill>
                  <a:schemeClr val="bg2"/>
                </a:solidFill>
                <a:latin typeface="Courier New" pitchFamily="34" charset="0"/>
                <a:ea typeface="Courier New" pitchFamily="34" charset="-122"/>
                <a:cs typeface="Courier New" pitchFamily="34" charset="-120"/>
              </a:rPr>
              <a:t>// header x-kp-signature: t,v1</a:t>
            </a:r>
            <a:endParaRPr lang="en-US" sz="1200" dirty="0"/>
          </a:p>
          <a:p>
            <a:pPr indent="0" marL="0">
              <a:buNone/>
            </a:pPr>
            <a:r>
              <a:rPr lang="en-US" sz="1200" dirty="0">
                <a:solidFill>
                  <a:schemeClr val="bg2"/>
                </a:solidFill>
                <a:latin typeface="Courier New" pitchFamily="34" charset="0"/>
                <a:ea typeface="Courier New" pitchFamily="34" charset="-122"/>
                <a:cs typeface="Courier New" pitchFamily="34" charset="-120"/>
              </a:rPr>
              <a:t>{</a:t>
            </a:r>
            <a:endParaRPr lang="en-US" sz="1200" dirty="0"/>
          </a:p>
          <a:p>
            <a:pPr indent="0" marL="0">
              <a:buNone/>
            </a:pPr>
            <a:r>
              <a:rPr lang="en-US" sz="1200" dirty="0">
                <a:solidFill>
                  <a:schemeClr val="bg2"/>
                </a:solidFill>
                <a:latin typeface="Courier New" pitchFamily="34" charset="0"/>
                <a:ea typeface="Courier New" pitchFamily="34" charset="-122"/>
                <a:cs typeface="Courier New" pitchFamily="34" charset="-120"/>
              </a:rPr>
              <a:t>  "type": "payment.succeeded",</a:t>
            </a:r>
            <a:endParaRPr lang="en-US" sz="1200" dirty="0"/>
          </a:p>
          <a:p>
            <a:pPr indent="0" marL="0">
              <a:buNone/>
            </a:pPr>
            <a:r>
              <a:rPr lang="en-US" sz="1200" dirty="0">
                <a:solidFill>
                  <a:schemeClr val="bg2"/>
                </a:solidFill>
                <a:latin typeface="Courier New" pitchFamily="34" charset="0"/>
                <a:ea typeface="Courier New" pitchFamily="34" charset="-122"/>
                <a:cs typeface="Courier New" pitchFamily="34" charset="-120"/>
              </a:rPr>
              <a:t>  "data": {</a:t>
            </a:r>
            <a:endParaRPr lang="en-US" sz="1200" dirty="0"/>
          </a:p>
          <a:p>
            <a:pPr indent="0" marL="0">
              <a:buNone/>
            </a:pPr>
            <a:r>
              <a:rPr lang="en-US" sz="1200" dirty="0">
                <a:solidFill>
                  <a:schemeClr val="bg2"/>
                </a:solidFill>
                <a:latin typeface="Courier New" pitchFamily="34" charset="0"/>
                <a:ea typeface="Courier New" pitchFamily="34" charset="-122"/>
                <a:cs typeface="Courier New" pitchFamily="34" charset="-120"/>
              </a:rPr>
              <a:t>    "id": "pay_01J8…",</a:t>
            </a:r>
            <a:endParaRPr lang="en-US" sz="1200" dirty="0"/>
          </a:p>
          <a:p>
            <a:pPr indent="0" marL="0">
              <a:buNone/>
            </a:pPr>
            <a:r>
              <a:rPr lang="en-US" sz="1200" dirty="0">
                <a:solidFill>
                  <a:schemeClr val="bg2"/>
                </a:solidFill>
                <a:latin typeface="Courier New" pitchFamily="34" charset="0"/>
                <a:ea typeface="Courier New" pitchFamily="34" charset="-122"/>
                <a:cs typeface="Courier New" pitchFamily="34" charset="-120"/>
              </a:rPr>
              <a:t>    "amount": "249.00",</a:t>
            </a:r>
            <a:endParaRPr lang="en-US" sz="1200" dirty="0"/>
          </a:p>
          <a:p>
            <a:pPr indent="0" marL="0">
              <a:buNone/>
            </a:pPr>
            <a:r>
              <a:rPr lang="en-US" sz="1200" dirty="0">
                <a:solidFill>
                  <a:schemeClr val="bg2"/>
                </a:solidFill>
                <a:latin typeface="Courier New" pitchFamily="34" charset="0"/>
                <a:ea typeface="Courier New" pitchFamily="34" charset="-122"/>
                <a:cs typeface="Courier New" pitchFamily="34" charset="-120"/>
              </a:rPr>
              <a:t>    "method": "crypto",</a:t>
            </a:r>
            <a:endParaRPr lang="en-US" sz="1200" dirty="0"/>
          </a:p>
          <a:p>
            <a:pPr indent="0" marL="0">
              <a:buNone/>
            </a:pPr>
            <a:r>
              <a:rPr lang="en-US" sz="1200" dirty="0">
                <a:solidFill>
                  <a:schemeClr val="bg2"/>
                </a:solidFill>
                <a:latin typeface="Courier New" pitchFamily="34" charset="0"/>
                <a:ea typeface="Courier New" pitchFamily="34" charset="-122"/>
                <a:cs typeface="Courier New" pitchFamily="34" charset="-120"/>
              </a:rPr>
              <a:t>    "paid_on": "tron",</a:t>
            </a:r>
            <a:endParaRPr lang="en-US" sz="1200" dirty="0"/>
          </a:p>
          <a:p>
            <a:pPr indent="0" marL="0">
              <a:buNone/>
            </a:pPr>
            <a:r>
              <a:rPr lang="en-US" sz="1200" dirty="0">
                <a:solidFill>
                  <a:schemeClr val="bg2"/>
                </a:solidFill>
                <a:latin typeface="Courier New" pitchFamily="34" charset="0"/>
                <a:ea typeface="Courier New" pitchFamily="34" charset="-122"/>
                <a:cs typeface="Courier New" pitchFamily="34" charset="-120"/>
              </a:rPr>
              <a:t>    "asset": "USDT",</a:t>
            </a:r>
            <a:endParaRPr lang="en-US" sz="1200" dirty="0"/>
          </a:p>
          <a:p>
            <a:pPr indent="0" marL="0">
              <a:buNone/>
            </a:pPr>
            <a:r>
              <a:rPr lang="en-US" sz="1200" dirty="0">
                <a:solidFill>
                  <a:schemeClr val="bg2"/>
                </a:solidFill>
                <a:latin typeface="Courier New" pitchFamily="34" charset="0"/>
                <a:ea typeface="Courier New" pitchFamily="34" charset="-122"/>
                <a:cs typeface="Courier New" pitchFamily="34" charset="-120"/>
              </a:rPr>
              <a:t>    "signature": "5h3Kq…xP9",</a:t>
            </a:r>
            <a:endParaRPr lang="en-US" sz="1200" dirty="0"/>
          </a:p>
          <a:p>
            <a:pPr indent="0" marL="0">
              <a:buNone/>
            </a:pPr>
            <a:r>
              <a:rPr lang="en-US" sz="1200" dirty="0">
                <a:solidFill>
                  <a:schemeClr val="bg2"/>
                </a:solidFill>
                <a:latin typeface="Courier New" pitchFamily="34" charset="0"/>
                <a:ea typeface="Courier New" pitchFamily="34" charset="-122"/>
                <a:cs typeface="Courier New" pitchFamily="34" charset="-120"/>
              </a:rPr>
              <a:t>    "commitment": "finalized"</a:t>
            </a:r>
            <a:endParaRPr lang="en-US" sz="1200" dirty="0"/>
          </a:p>
          <a:p>
            <a:pPr indent="0" marL="0">
              <a:buNone/>
            </a:pPr>
            <a:r>
              <a:rPr lang="en-US" sz="1200" dirty="0">
                <a:solidFill>
                  <a:schemeClr val="bg2"/>
                </a:solidFill>
                <a:latin typeface="Courier New" pitchFamily="34" charset="0"/>
                <a:ea typeface="Courier New" pitchFamily="34" charset="-122"/>
                <a:cs typeface="Courier New" pitchFamily="34" charset="-120"/>
              </a:rPr>
              <a:t>  }</a:t>
            </a:r>
            <a:endParaRPr lang="en-US" sz="1200" dirty="0"/>
          </a:p>
          <a:p>
            <a:pPr indent="0" marL="0">
              <a:buNone/>
            </a:pPr>
            <a:r>
              <a:rPr lang="en-US" sz="1200" dirty="0">
                <a:solidFill>
                  <a:schemeClr val="bg2"/>
                </a:solidFill>
                <a:latin typeface="Courier New" pitchFamily="34" charset="0"/>
                <a:ea typeface="Courier New" pitchFamily="34" charset="-122"/>
                <a:cs typeface="Courier New" pitchFamily="34" charset="-120"/>
              </a:rPr>
              <a:t>}</a:t>
            </a:r>
            <a:endParaRPr lang="en-US" sz="1200" dirty="0"/>
          </a:p>
        </p:txBody>
      </p:sp>
      <p:pic>
        <p:nvPicPr>
          <p:cNvPr id="11" name="icon FiMaximize" descr="preencoded.png">    </p:cNvPr>
          <p:cNvPicPr>
            <a:picLocks noChangeAspect="1"/>
          </p:cNvPicPr>
          <p:nvPr/>
        </p:nvPicPr>
        <p:blipFill>
          <a:blip r:embed="rId1"/>
          <a:stretch>
            <a:fillRect/>
          </a:stretch>
        </p:blipFill>
        <p:spPr>
          <a:xfrm>
            <a:off x="8092440" y="1783080"/>
            <a:ext cx="457200" cy="457200"/>
          </a:xfrm>
          <a:prstGeom prst="rect">
            <a:avLst/>
          </a:prstGeom>
        </p:spPr>
      </p:pic>
      <p:sp>
        <p:nvSpPr>
          <p:cNvPr id="12" name="row Solana Pay"/>
          <p:cNvSpPr txBox="1"/>
          <p:nvPr/>
        </p:nvSpPr>
        <p:spPr>
          <a:xfrm>
            <a:off x="8732520" y="1746504"/>
            <a:ext cx="2880360" cy="786384"/>
          </a:xfrm>
          <a:prstGeom prst="rect">
            <a:avLst/>
          </a:prstGeom>
          <a:noFill/>
          <a:ln/>
        </p:spPr>
        <p:txBody>
          <a:bodyPr wrap="square" lIns="0" tIns="0" rIns="0" bIns="0" rtlCol="0" anchor="t"/>
          <a:lstStyle/>
          <a:p>
            <a:pPr indent="0" marL="0">
              <a:buNone/>
            </a:pPr>
            <a:r>
              <a:rPr lang="en-US" sz="1500" b="1" dirty="0">
                <a:solidFill>
                  <a:schemeClr val="bg1"/>
                </a:solidFill>
              </a:rPr>
              <a:t>Solana Pay</a:t>
            </a:r>
            <a:endParaRPr lang="en-US" sz="1500" dirty="0"/>
          </a:p>
          <a:p>
            <a:pPr indent="0" marL="0">
              <a:buNone/>
            </a:pPr>
            <a:r>
              <a:rPr lang="en-US" sz="1400" dirty="0">
                <a:solidFill>
                  <a:schemeClr val="accent6"/>
                </a:solidFill>
              </a:rPr>
              <a:t>Transfer requests with reference keys</a:t>
            </a:r>
            <a:endParaRPr lang="en-US" sz="1500" dirty="0"/>
          </a:p>
        </p:txBody>
      </p:sp>
      <p:pic>
        <p:nvPicPr>
          <p:cNvPr id="13" name="icon FiDollarSign" descr="preencoded.png">    </p:cNvPr>
          <p:cNvPicPr>
            <a:picLocks noChangeAspect="1"/>
          </p:cNvPicPr>
          <p:nvPr/>
        </p:nvPicPr>
        <p:blipFill>
          <a:blip r:embed="rId2"/>
          <a:stretch>
            <a:fillRect/>
          </a:stretch>
        </p:blipFill>
        <p:spPr>
          <a:xfrm>
            <a:off x="8092440" y="2660904"/>
            <a:ext cx="457200" cy="457200"/>
          </a:xfrm>
          <a:prstGeom prst="rect">
            <a:avLst/>
          </a:prstGeom>
        </p:spPr>
      </p:pic>
      <p:sp>
        <p:nvSpPr>
          <p:cNvPr id="14" name="row SPL + Token-2022"/>
          <p:cNvSpPr txBox="1"/>
          <p:nvPr/>
        </p:nvSpPr>
        <p:spPr>
          <a:xfrm>
            <a:off x="8732520" y="2624328"/>
            <a:ext cx="2880360" cy="786384"/>
          </a:xfrm>
          <a:prstGeom prst="rect">
            <a:avLst/>
          </a:prstGeom>
          <a:noFill/>
          <a:ln/>
        </p:spPr>
        <p:txBody>
          <a:bodyPr wrap="square" lIns="0" tIns="0" rIns="0" bIns="0" rtlCol="0" anchor="t"/>
          <a:lstStyle/>
          <a:p>
            <a:pPr indent="0" marL="0">
              <a:buNone/>
            </a:pPr>
            <a:r>
              <a:rPr lang="en-US" sz="1500" b="1" dirty="0">
                <a:solidFill>
                  <a:schemeClr val="bg1"/>
                </a:solidFill>
              </a:rPr>
              <a:t>SPL + Token-2022</a:t>
            </a:r>
            <a:endParaRPr lang="en-US" sz="1500" dirty="0"/>
          </a:p>
          <a:p>
            <a:pPr indent="0" marL="0">
              <a:buNone/>
            </a:pPr>
            <a:r>
              <a:rPr lang="en-US" sz="1400" dirty="0">
                <a:solidFill>
                  <a:schemeClr val="accent6"/>
                </a:solidFill>
              </a:rPr>
              <a:t>USDT, USDC, PYUSD, ATAs</a:t>
            </a:r>
            <a:endParaRPr lang="en-US" sz="1500" dirty="0"/>
          </a:p>
        </p:txBody>
      </p:sp>
      <p:pic>
        <p:nvPicPr>
          <p:cNvPr id="15" name="icon FiZap" descr="preencoded.png">    </p:cNvPr>
          <p:cNvPicPr>
            <a:picLocks noChangeAspect="1"/>
          </p:cNvPicPr>
          <p:nvPr/>
        </p:nvPicPr>
        <p:blipFill>
          <a:blip r:embed="rId3"/>
          <a:stretch>
            <a:fillRect/>
          </a:stretch>
        </p:blipFill>
        <p:spPr>
          <a:xfrm>
            <a:off x="8092440" y="3538728"/>
            <a:ext cx="457200" cy="457200"/>
          </a:xfrm>
          <a:prstGeom prst="rect">
            <a:avLst/>
          </a:prstGeom>
        </p:spPr>
      </p:pic>
      <p:sp>
        <p:nvSpPr>
          <p:cNvPr id="16" name="row Priority fees"/>
          <p:cNvSpPr txBox="1"/>
          <p:nvPr/>
        </p:nvSpPr>
        <p:spPr>
          <a:xfrm>
            <a:off x="8732520" y="3502152"/>
            <a:ext cx="2880360" cy="786384"/>
          </a:xfrm>
          <a:prstGeom prst="rect">
            <a:avLst/>
          </a:prstGeom>
          <a:noFill/>
          <a:ln/>
        </p:spPr>
        <p:txBody>
          <a:bodyPr wrap="square" lIns="0" tIns="0" rIns="0" bIns="0" rtlCol="0" anchor="t"/>
          <a:lstStyle/>
          <a:p>
            <a:pPr indent="0" marL="0">
              <a:buNone/>
            </a:pPr>
            <a:r>
              <a:rPr lang="en-US" sz="1500" b="1" dirty="0">
                <a:solidFill>
                  <a:schemeClr val="bg1"/>
                </a:solidFill>
              </a:rPr>
              <a:t>Priority fees</a:t>
            </a:r>
            <a:endParaRPr lang="en-US" sz="1500" dirty="0"/>
          </a:p>
          <a:p>
            <a:pPr indent="0" marL="0">
              <a:buNone/>
            </a:pPr>
            <a:r>
              <a:rPr lang="en-US" sz="1400" dirty="0">
                <a:solidFill>
                  <a:schemeClr val="accent6"/>
                </a:solidFill>
              </a:rPr>
              <a:t>Reliable landing at peak</a:t>
            </a:r>
            <a:endParaRPr lang="en-US" sz="1500" dirty="0"/>
          </a:p>
        </p:txBody>
      </p:sp>
      <p:pic>
        <p:nvPicPr>
          <p:cNvPr id="17" name="icon FiCheckSquare" descr="preencoded.png">    </p:cNvPr>
          <p:cNvPicPr>
            <a:picLocks noChangeAspect="1"/>
          </p:cNvPicPr>
          <p:nvPr/>
        </p:nvPicPr>
        <p:blipFill>
          <a:blip r:embed="rId4"/>
          <a:stretch>
            <a:fillRect/>
          </a:stretch>
        </p:blipFill>
        <p:spPr>
          <a:xfrm>
            <a:off x="8092440" y="4416552"/>
            <a:ext cx="457200" cy="457200"/>
          </a:xfrm>
          <a:prstGeom prst="rect">
            <a:avLst/>
          </a:prstGeom>
        </p:spPr>
      </p:pic>
      <p:sp>
        <p:nvSpPr>
          <p:cNvPr id="18" name="row Finalized only"/>
          <p:cNvSpPr txBox="1"/>
          <p:nvPr/>
        </p:nvSpPr>
        <p:spPr>
          <a:xfrm>
            <a:off x="8732520" y="4379976"/>
            <a:ext cx="2880360" cy="786384"/>
          </a:xfrm>
          <a:prstGeom prst="rect">
            <a:avLst/>
          </a:prstGeom>
          <a:noFill/>
          <a:ln/>
        </p:spPr>
        <p:txBody>
          <a:bodyPr wrap="square" lIns="0" tIns="0" rIns="0" bIns="0" rtlCol="0" anchor="t"/>
          <a:lstStyle/>
          <a:p>
            <a:pPr indent="0" marL="0">
              <a:buNone/>
            </a:pPr>
            <a:r>
              <a:rPr lang="en-US" sz="1500" b="1" dirty="0">
                <a:solidFill>
                  <a:schemeClr val="bg1"/>
                </a:solidFill>
              </a:rPr>
              <a:t>Finalized only</a:t>
            </a:r>
            <a:endParaRPr lang="en-US" sz="1500" dirty="0"/>
          </a:p>
          <a:p>
            <a:pPr indent="0" marL="0">
              <a:buNone/>
            </a:pPr>
            <a:r>
              <a:rPr lang="en-US" sz="1400" dirty="0">
                <a:solidFill>
                  <a:schemeClr val="accent6"/>
                </a:solidFill>
              </a:rPr>
              <a:t>Ledger credits at finalized</a:t>
            </a:r>
            <a:endParaRPr lang="en-US" sz="1500" dirty="0"/>
          </a:p>
        </p:txBody>
      </p:sp>
      <p:pic>
        <p:nvPicPr>
          <p:cNvPr id="19" name="icon FiActivity" descr="preencoded.png">    </p:cNvPr>
          <p:cNvPicPr>
            <a:picLocks noChangeAspect="1"/>
          </p:cNvPicPr>
          <p:nvPr/>
        </p:nvPicPr>
        <p:blipFill>
          <a:blip r:embed="rId5"/>
          <a:stretch>
            <a:fillRect/>
          </a:stretch>
        </p:blipFill>
        <p:spPr>
          <a:xfrm>
            <a:off x="8092440" y="5294376"/>
            <a:ext cx="457200" cy="457200"/>
          </a:xfrm>
          <a:prstGeom prst="rect">
            <a:avLst/>
          </a:prstGeom>
        </p:spPr>
      </p:pic>
      <p:sp>
        <p:nvSpPr>
          <p:cNvPr id="20" name="row Pyth / Chainlink"/>
          <p:cNvSpPr txBox="1"/>
          <p:nvPr/>
        </p:nvSpPr>
        <p:spPr>
          <a:xfrm>
            <a:off x="8732520" y="5257800"/>
            <a:ext cx="2880360" cy="786384"/>
          </a:xfrm>
          <a:prstGeom prst="rect">
            <a:avLst/>
          </a:prstGeom>
          <a:noFill/>
          <a:ln/>
        </p:spPr>
        <p:txBody>
          <a:bodyPr wrap="square" lIns="0" tIns="0" rIns="0" bIns="0" rtlCol="0" anchor="t"/>
          <a:lstStyle/>
          <a:p>
            <a:pPr indent="0" marL="0">
              <a:buNone/>
            </a:pPr>
            <a:r>
              <a:rPr lang="en-US" sz="1500" b="1" dirty="0">
                <a:solidFill>
                  <a:schemeClr val="bg1"/>
                </a:solidFill>
              </a:rPr>
              <a:t>Pyth / Chainlink</a:t>
            </a:r>
            <a:endParaRPr lang="en-US" sz="1500" dirty="0"/>
          </a:p>
          <a:p>
            <a:pPr indent="0" marL="0">
              <a:buNone/>
            </a:pPr>
            <a:r>
              <a:rPr lang="en-US" sz="1400" dirty="0">
                <a:solidFill>
                  <a:schemeClr val="accent6"/>
                </a:solidFill>
              </a:rPr>
              <a:t>Quorum pricing for quotes</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64240" cy="685800"/>
          </a:xfrm>
          <a:prstGeom prst="rect">
            <a:avLst/>
          </a:prstGeom>
          <a:noFill/>
          <a:ln/>
        </p:spPr>
        <p:txBody>
          <a:bodyPr wrap="square" lIns="0" tIns="0" rIns="0" bIns="0" rtlCol="0" anchor="ctr"/>
          <a:lstStyle/>
          <a:p>
            <a:pPr algn="l" indent="0" marL="0">
              <a:buNone/>
            </a:pPr>
            <a:r>
              <a:rPr lang="en-US" sz="3600" b="1" dirty="0">
                <a:solidFill>
                  <a:schemeClr val="bg1"/>
                </a:solidFill>
              </a:rPr>
              <a:t>Self-hosted, not open source</a:t>
            </a:r>
            <a:endParaRPr lang="en-US" sz="3600" dirty="0"/>
          </a:p>
        </p:txBody>
      </p:sp>
      <p:sp>
        <p:nvSpPr>
          <p:cNvPr id="3" name="Text 0"/>
          <p:cNvSpPr/>
          <p:nvPr>
            <p:ph idx="101" type="body" hasCustomPrompt="1"/>
          </p:nvPr>
        </p:nvSpPr>
        <p:spPr>
          <a:xfrm>
            <a:off x="548640" y="1024128"/>
            <a:ext cx="11064240" cy="384048"/>
          </a:xfrm>
          <a:prstGeom prst="rect">
            <a:avLst/>
          </a:prstGeom>
          <a:noFill/>
          <a:ln/>
        </p:spPr>
        <p:txBody>
          <a:bodyPr wrap="square" lIns="0" tIns="0" rIns="0" bIns="0" rtlCol="0" anchor="t"/>
          <a:lstStyle/>
          <a:p>
            <a:pPr indent="0" marL="0">
              <a:buNone/>
            </a:pPr>
            <a:r>
              <a:rPr lang="en-US" sz="1600" dirty="0">
                <a:solidFill>
                  <a:schemeClr val="accent6"/>
                </a:solidFill>
              </a:rPr>
              <a:t>Your servers, your keys, your data, under a commercial licence</a:t>
            </a:r>
            <a:endParaRPr lang="en-US" sz="1600" dirty="0"/>
          </a:p>
        </p:txBody>
      </p:sp>
      <p:sp>
        <p:nvSpPr>
          <p:cNvPr id="5" name="Self-hosted deployment screenshot frame"/>
          <p:cNvSpPr/>
          <p:nvPr/>
        </p:nvSpPr>
        <p:spPr>
          <a:xfrm>
            <a:off x="484632" y="1719072"/>
            <a:ext cx="6711696" cy="4242816"/>
          </a:xfrm>
          <a:prstGeom prst="roundRect">
            <a:avLst>
              <a:gd name="adj" fmla="val 2155"/>
            </a:avLst>
          </a:prstGeom>
          <a:solidFill>
            <a:srgbClr val="1C1C30"/>
          </a:solidFill>
          <a:ln w="15875">
            <a:solidFill>
              <a:srgbClr val="3A2A66"/>
            </a:solidFill>
            <a:prstDash val="solid"/>
          </a:ln>
          <a:effectLst>
            <a:outerShdw sx="100000" sy="100000" kx="0" ky="0" algn="bl" rotWithShape="0" blurRad="177800" dist="50800" dir="5400000">
              <a:srgbClr val="000000">
                <a:alpha val="55000"/>
              </a:srgbClr>
            </a:outerShdw>
          </a:effectLst>
        </p:spPr>
      </p:sp>
      <p:pic>
        <p:nvPicPr>
          <p:cNvPr id="6" name="Self-hosted deployment screenshot" descr="Self-hosted deployment screenshot">    </p:cNvPr>
          <p:cNvPicPr>
            <a:picLocks noChangeAspect="1"/>
          </p:cNvPicPr>
          <p:nvPr/>
        </p:nvPicPr>
        <p:blipFill>
          <a:blip r:embed="rId1"/>
          <a:stretch>
            <a:fillRect/>
          </a:stretch>
        </p:blipFill>
        <p:spPr>
          <a:xfrm>
            <a:off x="548640" y="1783080"/>
            <a:ext cx="6583680" cy="4114800"/>
          </a:xfrm>
          <a:prstGeom prst="rect">
            <a:avLst/>
          </a:prstGeom>
        </p:spPr>
      </p:pic>
      <p:pic>
        <p:nvPicPr>
          <p:cNvPr id="7" name="icon FiBox" descr="preencoded.png">    </p:cNvPr>
          <p:cNvPicPr>
            <a:picLocks noChangeAspect="1"/>
          </p:cNvPicPr>
          <p:nvPr/>
        </p:nvPicPr>
        <p:blipFill>
          <a:blip r:embed="rId2"/>
          <a:stretch>
            <a:fillRect/>
          </a:stretch>
        </p:blipFill>
        <p:spPr>
          <a:xfrm>
            <a:off x="7589520" y="1828800"/>
            <a:ext cx="457200" cy="457200"/>
          </a:xfrm>
          <a:prstGeom prst="rect">
            <a:avLst/>
          </a:prstGeom>
        </p:spPr>
      </p:pic>
      <p:sp>
        <p:nvSpPr>
          <p:cNvPr id="8" name="row Docker + Kubernetes"/>
          <p:cNvSpPr txBox="1"/>
          <p:nvPr/>
        </p:nvSpPr>
        <p:spPr>
          <a:xfrm>
            <a:off x="8229600" y="1792224"/>
            <a:ext cx="3383280" cy="932688"/>
          </a:xfrm>
          <a:prstGeom prst="rect">
            <a:avLst/>
          </a:prstGeom>
          <a:noFill/>
          <a:ln/>
        </p:spPr>
        <p:txBody>
          <a:bodyPr wrap="square" lIns="0" tIns="0" rIns="0" bIns="0" rtlCol="0" anchor="t"/>
          <a:lstStyle/>
          <a:p>
            <a:pPr indent="0" marL="0">
              <a:buNone/>
            </a:pPr>
            <a:r>
              <a:rPr lang="en-US" sz="1600" b="1" dirty="0">
                <a:solidFill>
                  <a:schemeClr val="bg1"/>
                </a:solidFill>
              </a:rPr>
              <a:t>Docker + Kubernetes</a:t>
            </a:r>
            <a:endParaRPr lang="en-US" sz="1500" dirty="0"/>
          </a:p>
          <a:p>
            <a:pPr indent="0" marL="0">
              <a:buNone/>
            </a:pPr>
            <a:r>
              <a:rPr lang="en-US" sz="1400" dirty="0">
                <a:solidFill>
                  <a:schemeClr val="accent6"/>
                </a:solidFill>
              </a:rPr>
              <a:t>Signed images, Helm chart, migrations included</a:t>
            </a:r>
            <a:endParaRPr lang="en-US" sz="1500" dirty="0"/>
          </a:p>
        </p:txBody>
      </p:sp>
      <p:pic>
        <p:nvPicPr>
          <p:cNvPr id="9" name="icon FiDatabase" descr="preencoded.png">    </p:cNvPr>
          <p:cNvPicPr>
            <a:picLocks noChangeAspect="1"/>
          </p:cNvPicPr>
          <p:nvPr/>
        </p:nvPicPr>
        <p:blipFill>
          <a:blip r:embed="rId3"/>
          <a:stretch>
            <a:fillRect/>
          </a:stretch>
        </p:blipFill>
        <p:spPr>
          <a:xfrm>
            <a:off x="7589520" y="2852928"/>
            <a:ext cx="457200" cy="457200"/>
          </a:xfrm>
          <a:prstGeom prst="rect">
            <a:avLst/>
          </a:prstGeom>
        </p:spPr>
      </p:pic>
      <p:sp>
        <p:nvSpPr>
          <p:cNvPr id="10" name="row PostgreSQL 16 + Redis 7"/>
          <p:cNvSpPr txBox="1"/>
          <p:nvPr/>
        </p:nvSpPr>
        <p:spPr>
          <a:xfrm>
            <a:off x="8229600" y="2816352"/>
            <a:ext cx="3383280" cy="932688"/>
          </a:xfrm>
          <a:prstGeom prst="rect">
            <a:avLst/>
          </a:prstGeom>
          <a:noFill/>
          <a:ln/>
        </p:spPr>
        <p:txBody>
          <a:bodyPr wrap="square" lIns="0" tIns="0" rIns="0" bIns="0" rtlCol="0" anchor="t"/>
          <a:lstStyle/>
          <a:p>
            <a:pPr indent="0" marL="0">
              <a:buNone/>
            </a:pPr>
            <a:r>
              <a:rPr lang="en-US" sz="1600" b="1" dirty="0">
                <a:solidFill>
                  <a:schemeClr val="bg1"/>
                </a:solidFill>
              </a:rPr>
              <a:t>PostgreSQL 16 + Redis 7</a:t>
            </a:r>
            <a:endParaRPr lang="en-US" sz="1500" dirty="0"/>
          </a:p>
          <a:p>
            <a:pPr indent="0" marL="0">
              <a:buNone/>
            </a:pPr>
            <a:r>
              <a:rPr lang="en-US" sz="1400" dirty="0">
                <a:solidFill>
                  <a:schemeClr val="accent6"/>
                </a:solidFill>
              </a:rPr>
              <a:t>Your database, your region</a:t>
            </a:r>
            <a:endParaRPr lang="en-US" sz="1500" dirty="0"/>
          </a:p>
        </p:txBody>
      </p:sp>
      <p:pic>
        <p:nvPicPr>
          <p:cNvPr id="11" name="icon FiKey" descr="preencoded.png">    </p:cNvPr>
          <p:cNvPicPr>
            <a:picLocks noChangeAspect="1"/>
          </p:cNvPicPr>
          <p:nvPr/>
        </p:nvPicPr>
        <p:blipFill>
          <a:blip r:embed="rId4"/>
          <a:stretch>
            <a:fillRect/>
          </a:stretch>
        </p:blipFill>
        <p:spPr>
          <a:xfrm>
            <a:off x="7589520" y="3877056"/>
            <a:ext cx="457200" cy="457200"/>
          </a:xfrm>
          <a:prstGeom prst="rect">
            <a:avLst/>
          </a:prstGeom>
        </p:spPr>
      </p:pic>
      <p:sp>
        <p:nvSpPr>
          <p:cNvPr id="12" name="row Your MPC / HSM"/>
          <p:cNvSpPr txBox="1"/>
          <p:nvPr/>
        </p:nvSpPr>
        <p:spPr>
          <a:xfrm>
            <a:off x="8229600" y="3840480"/>
            <a:ext cx="3383280" cy="932688"/>
          </a:xfrm>
          <a:prstGeom prst="rect">
            <a:avLst/>
          </a:prstGeom>
          <a:noFill/>
          <a:ln/>
        </p:spPr>
        <p:txBody>
          <a:bodyPr wrap="square" lIns="0" tIns="0" rIns="0" bIns="0" rtlCol="0" anchor="t"/>
          <a:lstStyle/>
          <a:p>
            <a:pPr indent="0" marL="0">
              <a:buNone/>
            </a:pPr>
            <a:r>
              <a:rPr lang="en-US" sz="1600" b="1" dirty="0">
                <a:solidFill>
                  <a:schemeClr val="bg1"/>
                </a:solidFill>
              </a:rPr>
              <a:t>Your MPC / HSM</a:t>
            </a:r>
            <a:endParaRPr lang="en-US" sz="1500" dirty="0"/>
          </a:p>
          <a:p>
            <a:pPr indent="0" marL="0">
              <a:buNone/>
            </a:pPr>
            <a:r>
              <a:rPr lang="en-US" sz="1400" dirty="0">
                <a:solidFill>
                  <a:schemeClr val="accent6"/>
                </a:solidFill>
              </a:rPr>
              <a:t>KPay never holds merchant funds</a:t>
            </a:r>
            <a:endParaRPr lang="en-US" sz="1500" dirty="0"/>
          </a:p>
        </p:txBody>
      </p:sp>
      <p:pic>
        <p:nvPicPr>
          <p:cNvPr id="13" name="icon FiFileText" descr="preencoded.png">    </p:cNvPr>
          <p:cNvPicPr>
            <a:picLocks noChangeAspect="1"/>
          </p:cNvPicPr>
          <p:nvPr/>
        </p:nvPicPr>
        <p:blipFill>
          <a:blip r:embed="rId5"/>
          <a:stretch>
            <a:fillRect/>
          </a:stretch>
        </p:blipFill>
        <p:spPr>
          <a:xfrm>
            <a:off x="7589520" y="4901184"/>
            <a:ext cx="457200" cy="457200"/>
          </a:xfrm>
          <a:prstGeom prst="rect">
            <a:avLst/>
          </a:prstGeom>
        </p:spPr>
      </p:pic>
      <p:sp>
        <p:nvSpPr>
          <p:cNvPr id="14" name="row Commercial licence"/>
          <p:cNvSpPr txBox="1"/>
          <p:nvPr/>
        </p:nvSpPr>
        <p:spPr>
          <a:xfrm>
            <a:off x="8229600" y="4864608"/>
            <a:ext cx="3383280" cy="932688"/>
          </a:xfrm>
          <a:prstGeom prst="rect">
            <a:avLst/>
          </a:prstGeom>
          <a:noFill/>
          <a:ln/>
        </p:spPr>
        <p:txBody>
          <a:bodyPr wrap="square" lIns="0" tIns="0" rIns="0" bIns="0" rtlCol="0" anchor="t"/>
          <a:lstStyle/>
          <a:p>
            <a:pPr indent="0" marL="0">
              <a:buNone/>
            </a:pPr>
            <a:r>
              <a:rPr lang="en-US" sz="1600" b="1" dirty="0">
                <a:solidFill>
                  <a:schemeClr val="bg1"/>
                </a:solidFill>
              </a:rPr>
              <a:t>Commercial licence</a:t>
            </a:r>
            <a:endParaRPr lang="en-US" sz="1500" dirty="0"/>
          </a:p>
          <a:p>
            <a:pPr indent="0" marL="0">
              <a:buNone/>
            </a:pPr>
            <a:r>
              <a:rPr lang="en-US" sz="1400" dirty="0">
                <a:solidFill>
                  <a:schemeClr val="accent6"/>
                </a:solidFill>
              </a:rPr>
              <a:t>Closed source; escrow for enterprise</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64240" cy="685800"/>
          </a:xfrm>
          <a:prstGeom prst="rect">
            <a:avLst/>
          </a:prstGeom>
          <a:noFill/>
          <a:ln/>
        </p:spPr>
        <p:txBody>
          <a:bodyPr wrap="square" lIns="0" tIns="0" rIns="0" bIns="0" rtlCol="0" anchor="ctr"/>
          <a:lstStyle/>
          <a:p>
            <a:pPr algn="l" indent="0" marL="0">
              <a:buNone/>
            </a:pPr>
            <a:r>
              <a:rPr lang="en-US" sz="3600" b="1" dirty="0">
                <a:solidFill>
                  <a:schemeClr val="bg1"/>
                </a:solidFill>
              </a:rPr>
              <a:t>Business model</a:t>
            </a:r>
            <a:endParaRPr lang="en-US" sz="3600" dirty="0"/>
          </a:p>
        </p:txBody>
      </p:sp>
      <p:sp>
        <p:nvSpPr>
          <p:cNvPr id="3" name="Text 0"/>
          <p:cNvSpPr/>
          <p:nvPr>
            <p:ph idx="101" type="body" hasCustomPrompt="1"/>
          </p:nvPr>
        </p:nvSpPr>
        <p:spPr>
          <a:xfrm>
            <a:off x="548640" y="1024128"/>
            <a:ext cx="11064240" cy="384048"/>
          </a:xfrm>
          <a:prstGeom prst="rect">
            <a:avLst/>
          </a:prstGeom>
          <a:noFill/>
          <a:ln/>
        </p:spPr>
        <p:txBody>
          <a:bodyPr wrap="square" lIns="0" tIns="0" rIns="0" bIns="0" rtlCol="0" anchor="t"/>
          <a:lstStyle/>
          <a:p>
            <a:pPr indent="0" marL="0">
              <a:buNone/>
            </a:pPr>
            <a:r>
              <a:rPr lang="en-US" sz="1600" dirty="0">
                <a:solidFill>
                  <a:schemeClr val="accent6"/>
                </a:solidFill>
              </a:rPr>
              <a:t>Recurring licence plus usage that grows with settled volume</a:t>
            </a:r>
            <a:endParaRPr lang="en-US" sz="1600" dirty="0"/>
          </a:p>
        </p:txBody>
      </p:sp>
      <p:sp>
        <p:nvSpPr>
          <p:cNvPr id="5" name="revenue Licence"/>
          <p:cNvSpPr/>
          <p:nvPr/>
        </p:nvSpPr>
        <p:spPr>
          <a:xfrm>
            <a:off x="548640" y="1783080"/>
            <a:ext cx="3520440" cy="2743200"/>
          </a:xfrm>
          <a:prstGeom prst="roundRect">
            <a:avLst>
              <a:gd name="adj" fmla="val 4000"/>
            </a:avLst>
          </a:prstGeom>
          <a:solidFill>
            <a:schemeClr val="tx2"/>
          </a:solidFill>
          <a:ln w="12700">
            <a:solidFill>
              <a:srgbClr val="2A2A44"/>
            </a:solidFill>
            <a:prstDash val="solid"/>
          </a:ln>
        </p:spPr>
      </p:sp>
      <p:pic>
        <p:nvPicPr>
          <p:cNvPr id="6" name="icon FiAward" descr="preencoded.png">    </p:cNvPr>
          <p:cNvPicPr>
            <a:picLocks noChangeAspect="1"/>
          </p:cNvPicPr>
          <p:nvPr/>
        </p:nvPicPr>
        <p:blipFill>
          <a:blip r:embed="rId1"/>
          <a:stretch>
            <a:fillRect/>
          </a:stretch>
        </p:blipFill>
        <p:spPr>
          <a:xfrm>
            <a:off x="868680" y="2057400"/>
            <a:ext cx="640080" cy="640080"/>
          </a:xfrm>
          <a:prstGeom prst="rect">
            <a:avLst/>
          </a:prstGeom>
        </p:spPr>
      </p:pic>
      <p:sp>
        <p:nvSpPr>
          <p:cNvPr id="7" name="Text 3"/>
          <p:cNvSpPr txBox="1"/>
          <p:nvPr/>
        </p:nvSpPr>
        <p:spPr>
          <a:xfrm>
            <a:off x="868680" y="2880360"/>
            <a:ext cx="2880360" cy="457200"/>
          </a:xfrm>
          <a:prstGeom prst="rect">
            <a:avLst/>
          </a:prstGeom>
          <a:noFill/>
          <a:ln/>
        </p:spPr>
        <p:txBody>
          <a:bodyPr wrap="square" lIns="0" tIns="0" rIns="0" bIns="0" rtlCol="0" anchor="t"/>
          <a:lstStyle/>
          <a:p>
            <a:pPr indent="0" marL="0">
              <a:buNone/>
            </a:pPr>
            <a:r>
              <a:rPr lang="en-US" sz="2200" b="1" dirty="0">
                <a:solidFill>
                  <a:schemeClr val="bg1"/>
                </a:solidFill>
                <a:latin typeface="Arial" pitchFamily="34" charset="0"/>
                <a:ea typeface="Arial" pitchFamily="34" charset="-122"/>
                <a:cs typeface="Arial" pitchFamily="34" charset="-120"/>
              </a:rPr>
              <a:t>Licence</a:t>
            </a:r>
            <a:endParaRPr lang="en-US" sz="2200" dirty="0"/>
          </a:p>
        </p:txBody>
      </p:sp>
      <p:sp>
        <p:nvSpPr>
          <p:cNvPr id="8" name="Text 4"/>
          <p:cNvSpPr txBox="1"/>
          <p:nvPr/>
        </p:nvSpPr>
        <p:spPr>
          <a:xfrm>
            <a:off x="868680" y="3383280"/>
            <a:ext cx="2880360" cy="914400"/>
          </a:xfrm>
          <a:prstGeom prst="rect">
            <a:avLst/>
          </a:prstGeom>
          <a:noFill/>
          <a:ln/>
        </p:spPr>
        <p:txBody>
          <a:bodyPr wrap="square" lIns="0" tIns="0" rIns="0" bIns="0" rtlCol="0" anchor="t"/>
          <a:lstStyle/>
          <a:p>
            <a:pPr indent="0" marL="0">
              <a:buNone/>
            </a:pPr>
            <a:r>
              <a:rPr lang="en-US" sz="1600" dirty="0">
                <a:solidFill>
                  <a:schemeClr val="accent6"/>
                </a:solidFill>
              </a:rPr>
              <a:t>Annual, per deployment, tiered L1 to L4</a:t>
            </a:r>
            <a:endParaRPr lang="en-US" sz="1600" dirty="0"/>
          </a:p>
        </p:txBody>
      </p:sp>
      <p:sp>
        <p:nvSpPr>
          <p:cNvPr id="9" name="revenue Usage"/>
          <p:cNvSpPr/>
          <p:nvPr/>
        </p:nvSpPr>
        <p:spPr>
          <a:xfrm>
            <a:off x="4343400" y="1783080"/>
            <a:ext cx="3520440" cy="2743200"/>
          </a:xfrm>
          <a:prstGeom prst="roundRect">
            <a:avLst>
              <a:gd name="adj" fmla="val 4000"/>
            </a:avLst>
          </a:prstGeom>
          <a:solidFill>
            <a:schemeClr val="tx2"/>
          </a:solidFill>
          <a:ln w="12700">
            <a:solidFill>
              <a:srgbClr val="2A2A44"/>
            </a:solidFill>
            <a:prstDash val="solid"/>
          </a:ln>
        </p:spPr>
      </p:sp>
      <p:pic>
        <p:nvPicPr>
          <p:cNvPr id="10" name="icon FiTrendingUp" descr="preencoded.png">    </p:cNvPr>
          <p:cNvPicPr>
            <a:picLocks noChangeAspect="1"/>
          </p:cNvPicPr>
          <p:nvPr/>
        </p:nvPicPr>
        <p:blipFill>
          <a:blip r:embed="rId2"/>
          <a:stretch>
            <a:fillRect/>
          </a:stretch>
        </p:blipFill>
        <p:spPr>
          <a:xfrm>
            <a:off x="4663440" y="2057400"/>
            <a:ext cx="640080" cy="640080"/>
          </a:xfrm>
          <a:prstGeom prst="rect">
            <a:avLst/>
          </a:prstGeom>
        </p:spPr>
      </p:pic>
      <p:sp>
        <p:nvSpPr>
          <p:cNvPr id="11" name="Text 6"/>
          <p:cNvSpPr txBox="1"/>
          <p:nvPr/>
        </p:nvSpPr>
        <p:spPr>
          <a:xfrm>
            <a:off x="4663440" y="2880360"/>
            <a:ext cx="2880360" cy="457200"/>
          </a:xfrm>
          <a:prstGeom prst="rect">
            <a:avLst/>
          </a:prstGeom>
          <a:noFill/>
          <a:ln/>
        </p:spPr>
        <p:txBody>
          <a:bodyPr wrap="square" lIns="0" tIns="0" rIns="0" bIns="0" rtlCol="0" anchor="t"/>
          <a:lstStyle/>
          <a:p>
            <a:pPr indent="0" marL="0">
              <a:buNone/>
            </a:pPr>
            <a:r>
              <a:rPr lang="en-US" sz="2200" b="1" dirty="0">
                <a:solidFill>
                  <a:schemeClr val="bg1"/>
                </a:solidFill>
                <a:latin typeface="Arial" pitchFamily="34" charset="0"/>
                <a:ea typeface="Arial" pitchFamily="34" charset="-122"/>
                <a:cs typeface="Arial" pitchFamily="34" charset="-120"/>
              </a:rPr>
              <a:t>Usage</a:t>
            </a:r>
            <a:endParaRPr lang="en-US" sz="2200" dirty="0"/>
          </a:p>
        </p:txBody>
      </p:sp>
      <p:sp>
        <p:nvSpPr>
          <p:cNvPr id="12" name="Text 7"/>
          <p:cNvSpPr txBox="1"/>
          <p:nvPr/>
        </p:nvSpPr>
        <p:spPr>
          <a:xfrm>
            <a:off x="4663440" y="3383280"/>
            <a:ext cx="2880360" cy="914400"/>
          </a:xfrm>
          <a:prstGeom prst="rect">
            <a:avLst/>
          </a:prstGeom>
          <a:noFill/>
          <a:ln/>
        </p:spPr>
        <p:txBody>
          <a:bodyPr wrap="square" lIns="0" tIns="0" rIns="0" bIns="0" rtlCol="0" anchor="t"/>
          <a:lstStyle/>
          <a:p>
            <a:pPr indent="0" marL="0">
              <a:buNone/>
            </a:pPr>
            <a:r>
              <a:rPr lang="en-US" sz="1600" dirty="0">
                <a:solidFill>
                  <a:schemeClr val="accent6"/>
                </a:solidFill>
              </a:rPr>
              <a:t>Basis points on volume settled on Solana</a:t>
            </a:r>
            <a:endParaRPr lang="en-US" sz="1600" dirty="0"/>
          </a:p>
        </p:txBody>
      </p:sp>
      <p:sp>
        <p:nvSpPr>
          <p:cNvPr id="13" name="revenue Enterprise"/>
          <p:cNvSpPr/>
          <p:nvPr/>
        </p:nvSpPr>
        <p:spPr>
          <a:xfrm>
            <a:off x="8138160" y="1783080"/>
            <a:ext cx="3520440" cy="2743200"/>
          </a:xfrm>
          <a:prstGeom prst="roundRect">
            <a:avLst>
              <a:gd name="adj" fmla="val 4000"/>
            </a:avLst>
          </a:prstGeom>
          <a:solidFill>
            <a:schemeClr val="tx2"/>
          </a:solidFill>
          <a:ln w="12700">
            <a:solidFill>
              <a:srgbClr val="2A2A44"/>
            </a:solidFill>
            <a:prstDash val="solid"/>
          </a:ln>
        </p:spPr>
      </p:sp>
      <p:pic>
        <p:nvPicPr>
          <p:cNvPr id="14" name="icon FiLifeBuoy" descr="preencoded.png">    </p:cNvPr>
          <p:cNvPicPr>
            <a:picLocks noChangeAspect="1"/>
          </p:cNvPicPr>
          <p:nvPr/>
        </p:nvPicPr>
        <p:blipFill>
          <a:blip r:embed="rId3"/>
          <a:stretch>
            <a:fillRect/>
          </a:stretch>
        </p:blipFill>
        <p:spPr>
          <a:xfrm>
            <a:off x="8458200" y="2057400"/>
            <a:ext cx="640080" cy="640080"/>
          </a:xfrm>
          <a:prstGeom prst="rect">
            <a:avLst/>
          </a:prstGeom>
        </p:spPr>
      </p:pic>
      <p:sp>
        <p:nvSpPr>
          <p:cNvPr id="15" name="Text 9"/>
          <p:cNvSpPr txBox="1"/>
          <p:nvPr/>
        </p:nvSpPr>
        <p:spPr>
          <a:xfrm>
            <a:off x="8458200" y="2880360"/>
            <a:ext cx="2880360" cy="457200"/>
          </a:xfrm>
          <a:prstGeom prst="rect">
            <a:avLst/>
          </a:prstGeom>
          <a:noFill/>
          <a:ln/>
        </p:spPr>
        <p:txBody>
          <a:bodyPr wrap="square" lIns="0" tIns="0" rIns="0" bIns="0" rtlCol="0" anchor="t"/>
          <a:lstStyle/>
          <a:p>
            <a:pPr indent="0" marL="0">
              <a:buNone/>
            </a:pPr>
            <a:r>
              <a:rPr lang="en-US" sz="2200" b="1" dirty="0">
                <a:solidFill>
                  <a:schemeClr val="bg1"/>
                </a:solidFill>
                <a:latin typeface="Arial" pitchFamily="34" charset="0"/>
                <a:ea typeface="Arial" pitchFamily="34" charset="-122"/>
                <a:cs typeface="Arial" pitchFamily="34" charset="-120"/>
              </a:rPr>
              <a:t>Enterprise</a:t>
            </a:r>
            <a:endParaRPr lang="en-US" sz="2200" dirty="0"/>
          </a:p>
        </p:txBody>
      </p:sp>
      <p:sp>
        <p:nvSpPr>
          <p:cNvPr id="16" name="Text 10"/>
          <p:cNvSpPr txBox="1"/>
          <p:nvPr/>
        </p:nvSpPr>
        <p:spPr>
          <a:xfrm>
            <a:off x="8458200" y="3383280"/>
            <a:ext cx="2880360" cy="914400"/>
          </a:xfrm>
          <a:prstGeom prst="rect">
            <a:avLst/>
          </a:prstGeom>
          <a:noFill/>
          <a:ln/>
        </p:spPr>
        <p:txBody>
          <a:bodyPr wrap="square" lIns="0" tIns="0" rIns="0" bIns="0" rtlCol="0" anchor="t"/>
          <a:lstStyle/>
          <a:p>
            <a:pPr indent="0" marL="0">
              <a:buNone/>
            </a:pPr>
            <a:r>
              <a:rPr lang="en-US" sz="1600" dirty="0">
                <a:solidFill>
                  <a:schemeClr val="accent6"/>
                </a:solidFill>
              </a:rPr>
              <a:t>SLA support, white-label onboarding, escrow</a:t>
            </a:r>
            <a:endParaRPr lang="en-US" sz="1600" dirty="0"/>
          </a:p>
        </p:txBody>
      </p:sp>
      <p:sp>
        <p:nvSpPr>
          <p:cNvPr id="17" name="operator economics"/>
          <p:cNvSpPr/>
          <p:nvPr/>
        </p:nvSpPr>
        <p:spPr>
          <a:xfrm>
            <a:off x="548640" y="4754880"/>
            <a:ext cx="11064240" cy="1325880"/>
          </a:xfrm>
          <a:prstGeom prst="roundRect">
            <a:avLst>
              <a:gd name="adj" fmla="val 8276"/>
            </a:avLst>
          </a:prstGeom>
          <a:solidFill>
            <a:srgbClr val="16231F"/>
          </a:solidFill>
          <a:ln w="12700">
            <a:solidFill>
              <a:srgbClr val="1F6B4E"/>
            </a:solidFill>
            <a:prstDash val="solid"/>
          </a:ln>
        </p:spPr>
      </p:sp>
      <p:sp>
        <p:nvSpPr>
          <p:cNvPr id="18" name="Text 12"/>
          <p:cNvSpPr txBox="1"/>
          <p:nvPr/>
        </p:nvSpPr>
        <p:spPr>
          <a:xfrm>
            <a:off x="822960" y="4846320"/>
            <a:ext cx="10515600" cy="1143000"/>
          </a:xfrm>
          <a:prstGeom prst="rect">
            <a:avLst/>
          </a:prstGeom>
          <a:noFill/>
          <a:ln/>
        </p:spPr>
        <p:txBody>
          <a:bodyPr wrap="square" lIns="0" tIns="0" rIns="0" bIns="0" rtlCol="0" anchor="ctr"/>
          <a:lstStyle/>
          <a:p>
            <a:pPr indent="0" marL="0">
              <a:buNone/>
            </a:pPr>
            <a:r>
              <a:rPr lang="en-US" sz="1600" b="1" dirty="0">
                <a:solidFill>
                  <a:schemeClr val="accent2"/>
                </a:solidFill>
              </a:rPr>
              <a:t>Operators keep their own economics.  </a:t>
            </a:r>
            <a:pPr indent="0" marL="0">
              <a:buNone/>
            </a:pPr>
            <a:r>
              <a:rPr lang="en-US" sz="1600" dirty="0">
                <a:solidFill>
                  <a:schemeClr val="bg2"/>
                </a:solidFill>
              </a:rPr>
              <a:t>MDR per method and the FX buffer on conversion are earned inside each deployment and reported per asset in Platform Earnings. KPay never sits in the flow of funds.</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64240" cy="685800"/>
          </a:xfrm>
          <a:prstGeom prst="rect">
            <a:avLst/>
          </a:prstGeom>
          <a:noFill/>
          <a:ln/>
        </p:spPr>
        <p:txBody>
          <a:bodyPr wrap="square" lIns="0" tIns="0" rIns="0" bIns="0" rtlCol="0" anchor="ctr"/>
          <a:lstStyle/>
          <a:p>
            <a:pPr algn="l" indent="0" marL="0">
              <a:buNone/>
            </a:pPr>
            <a:r>
              <a:rPr lang="en-US" sz="3600" b="1" dirty="0">
                <a:solidFill>
                  <a:schemeClr val="bg1"/>
                </a:solidFill>
              </a:rPr>
              <a:t>Roadmap</a:t>
            </a:r>
            <a:endParaRPr lang="en-US" sz="3600" dirty="0"/>
          </a:p>
        </p:txBody>
      </p:sp>
      <p:sp>
        <p:nvSpPr>
          <p:cNvPr id="3" name="Text 0"/>
          <p:cNvSpPr/>
          <p:nvPr>
            <p:ph idx="101" type="body" hasCustomPrompt="1"/>
          </p:nvPr>
        </p:nvSpPr>
        <p:spPr>
          <a:xfrm>
            <a:off x="548640" y="1024128"/>
            <a:ext cx="11064240" cy="384048"/>
          </a:xfrm>
          <a:prstGeom prst="rect">
            <a:avLst/>
          </a:prstGeom>
          <a:noFill/>
          <a:ln/>
        </p:spPr>
        <p:txBody>
          <a:bodyPr wrap="square" lIns="0" tIns="0" rIns="0" bIns="0" rtlCol="0" anchor="t"/>
          <a:lstStyle/>
          <a:p>
            <a:pPr indent="0" marL="0">
              <a:buNone/>
            </a:pPr>
            <a:r>
              <a:rPr lang="en-US" sz="1600" dirty="0">
                <a:solidFill>
                  <a:schemeClr val="accent6"/>
                </a:solidFill>
              </a:rPr>
              <a:t>From demo to every operator on Solana</a:t>
            </a:r>
            <a:endParaRPr lang="en-US" sz="1600" dirty="0"/>
          </a:p>
        </p:txBody>
      </p:sp>
      <p:sp>
        <p:nvSpPr>
          <p:cNvPr id="5" name="roadmap Now · demo"/>
          <p:cNvSpPr/>
          <p:nvPr/>
        </p:nvSpPr>
        <p:spPr>
          <a:xfrm>
            <a:off x="548640" y="1783080"/>
            <a:ext cx="3520440" cy="4343400"/>
          </a:xfrm>
          <a:prstGeom prst="roundRect">
            <a:avLst>
              <a:gd name="adj" fmla="val 3117"/>
            </a:avLst>
          </a:prstGeom>
          <a:solidFill>
            <a:srgbClr val="16231F"/>
          </a:solidFill>
          <a:ln w="12700">
            <a:solidFill>
              <a:srgbClr val="1F6B4E"/>
            </a:solidFill>
            <a:prstDash val="solid"/>
          </a:ln>
        </p:spPr>
      </p:sp>
      <p:sp>
        <p:nvSpPr>
          <p:cNvPr id="6" name="Text 3"/>
          <p:cNvSpPr txBox="1"/>
          <p:nvPr/>
        </p:nvSpPr>
        <p:spPr>
          <a:xfrm>
            <a:off x="822960" y="1965960"/>
            <a:ext cx="3017520" cy="457200"/>
          </a:xfrm>
          <a:prstGeom prst="rect">
            <a:avLst/>
          </a:prstGeom>
          <a:noFill/>
          <a:ln/>
        </p:spPr>
        <p:txBody>
          <a:bodyPr wrap="square" lIns="0" tIns="0" rIns="0" bIns="0" rtlCol="0" anchor="t"/>
          <a:lstStyle/>
          <a:p>
            <a:pPr indent="0" marL="0">
              <a:buNone/>
            </a:pPr>
            <a:r>
              <a:rPr lang="en-US" sz="2200" b="1" dirty="0">
                <a:solidFill>
                  <a:schemeClr val="accent2"/>
                </a:solidFill>
                <a:latin typeface="Arial" pitchFamily="34" charset="0"/>
                <a:ea typeface="Arial" pitchFamily="34" charset="-122"/>
                <a:cs typeface="Arial" pitchFamily="34" charset="-120"/>
              </a:rPr>
              <a:t>Now · demo</a:t>
            </a:r>
            <a:endParaRPr lang="en-US" sz="2200" dirty="0"/>
          </a:p>
        </p:txBody>
      </p:sp>
      <p:sp>
        <p:nvSpPr>
          <p:cNvPr id="7" name="Text 4"/>
          <p:cNvSpPr txBox="1"/>
          <p:nvPr/>
        </p:nvSpPr>
        <p:spPr>
          <a:xfrm>
            <a:off x="822960" y="2560320"/>
            <a:ext cx="3017520" cy="338328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bg2"/>
                </a:solidFill>
              </a:rPr>
              <a:t>Solana Pay USDT checkout</a:t>
            </a:r>
            <a:endParaRPr lang="en-US" sz="1500" dirty="0"/>
          </a:p>
          <a:p>
            <a:pPr marL="342900" indent="-342900">
              <a:spcAft>
                <a:spcPts val="800"/>
              </a:spcAft>
              <a:buSzPct val="100000"/>
              <a:buChar char="•"/>
            </a:pPr>
            <a:r>
              <a:rPr lang="en-US" sz="1500" dirty="0">
                <a:solidFill>
                  <a:schemeClr val="bg2"/>
                </a:solidFill>
              </a:rPr>
              <a:t>Other-chain USDT merged to Solana</a:t>
            </a:r>
            <a:endParaRPr lang="en-US" sz="1500" dirty="0"/>
          </a:p>
          <a:p>
            <a:pPr marL="342900" indent="-342900">
              <a:spcAft>
                <a:spcPts val="800"/>
              </a:spcAft>
              <a:buSzPct val="100000"/>
              <a:buChar char="•"/>
            </a:pPr>
            <a:r>
              <a:rPr lang="en-US" sz="1500" dirty="0">
                <a:solidFill>
                  <a:schemeClr val="bg2"/>
                </a:solidFill>
              </a:rPr>
              <a:t>Auto-settle USDT to merchant wallets</a:t>
            </a:r>
            <a:endParaRPr lang="en-US" sz="1500" dirty="0"/>
          </a:p>
          <a:p>
            <a:pPr marL="342900" indent="-342900">
              <a:spcAft>
                <a:spcPts val="800"/>
              </a:spcAft>
              <a:buSzPct val="100000"/>
              <a:buChar char="•"/>
            </a:pPr>
            <a:r>
              <a:rPr lang="en-US" sz="1500" dirty="0">
                <a:solidFill>
                  <a:schemeClr val="bg2"/>
                </a:solidFill>
              </a:rPr>
              <a:t>Onboarding, rollout, routing</a:t>
            </a:r>
            <a:endParaRPr lang="en-US" sz="1500" dirty="0"/>
          </a:p>
        </p:txBody>
      </p:sp>
      <p:sp>
        <p:nvSpPr>
          <p:cNvPr id="8" name="roadmap Q4 2026"/>
          <p:cNvSpPr/>
          <p:nvPr/>
        </p:nvSpPr>
        <p:spPr>
          <a:xfrm>
            <a:off x="4343400" y="1783080"/>
            <a:ext cx="3520440" cy="4343400"/>
          </a:xfrm>
          <a:prstGeom prst="roundRect">
            <a:avLst>
              <a:gd name="adj" fmla="val 3117"/>
            </a:avLst>
          </a:prstGeom>
          <a:solidFill>
            <a:srgbClr val="1A1230"/>
          </a:solidFill>
          <a:ln w="12700">
            <a:solidFill>
              <a:srgbClr val="4B2F8A"/>
            </a:solidFill>
            <a:prstDash val="solid"/>
          </a:ln>
        </p:spPr>
      </p:sp>
      <p:sp>
        <p:nvSpPr>
          <p:cNvPr id="9" name="Text 6"/>
          <p:cNvSpPr txBox="1"/>
          <p:nvPr/>
        </p:nvSpPr>
        <p:spPr>
          <a:xfrm>
            <a:off x="4617720" y="1965960"/>
            <a:ext cx="3017520" cy="457200"/>
          </a:xfrm>
          <a:prstGeom prst="rect">
            <a:avLst/>
          </a:prstGeom>
          <a:noFill/>
          <a:ln/>
        </p:spPr>
        <p:txBody>
          <a:bodyPr wrap="square" lIns="0" tIns="0" rIns="0" bIns="0" rtlCol="0" anchor="t"/>
          <a:lstStyle/>
          <a:p>
            <a:pPr indent="0" marL="0">
              <a:buNone/>
            </a:pPr>
            <a:r>
              <a:rPr lang="en-US" sz="2200" b="1" dirty="0">
                <a:solidFill>
                  <a:schemeClr val="accent1"/>
                </a:solidFill>
                <a:latin typeface="Arial" pitchFamily="34" charset="0"/>
                <a:ea typeface="Arial" pitchFamily="34" charset="-122"/>
                <a:cs typeface="Arial" pitchFamily="34" charset="-120"/>
              </a:rPr>
              <a:t>Q4 2026</a:t>
            </a:r>
            <a:endParaRPr lang="en-US" sz="2200" dirty="0"/>
          </a:p>
        </p:txBody>
      </p:sp>
      <p:sp>
        <p:nvSpPr>
          <p:cNvPr id="10" name="Text 7"/>
          <p:cNvSpPr txBox="1"/>
          <p:nvPr/>
        </p:nvSpPr>
        <p:spPr>
          <a:xfrm>
            <a:off x="4617720" y="2560320"/>
            <a:ext cx="3017520" cy="338328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bg2"/>
                </a:solidFill>
              </a:rPr>
              <a:t>Mainnet pilot with design partners</a:t>
            </a:r>
            <a:endParaRPr lang="en-US" sz="1500" dirty="0"/>
          </a:p>
          <a:p>
            <a:pPr marL="342900" indent="-342900">
              <a:spcAft>
                <a:spcPts val="800"/>
              </a:spcAft>
              <a:buSzPct val="100000"/>
              <a:buChar char="•"/>
            </a:pPr>
            <a:r>
              <a:rPr lang="en-US" sz="1500" dirty="0">
                <a:solidFill>
                  <a:schemeClr val="bg2"/>
                </a:solidFill>
              </a:rPr>
              <a:t>Bridge routes hardened per chain</a:t>
            </a:r>
            <a:endParaRPr lang="en-US" sz="1500" dirty="0"/>
          </a:p>
          <a:p>
            <a:pPr marL="342900" indent="-342900">
              <a:spcAft>
                <a:spcPts val="800"/>
              </a:spcAft>
              <a:buSzPct val="100000"/>
              <a:buChar char="•"/>
            </a:pPr>
            <a:r>
              <a:rPr lang="en-US" sz="1500" dirty="0">
                <a:solidFill>
                  <a:schemeClr val="bg2"/>
                </a:solidFill>
              </a:rPr>
              <a:t>Pyth in the oracle quorum</a:t>
            </a:r>
            <a:endParaRPr lang="en-US" sz="1500" dirty="0"/>
          </a:p>
          <a:p>
            <a:pPr marL="342900" indent="-342900">
              <a:spcAft>
                <a:spcPts val="800"/>
              </a:spcAft>
              <a:buSzPct val="100000"/>
              <a:buChar char="•"/>
            </a:pPr>
            <a:r>
              <a:rPr lang="en-US" sz="1500" dirty="0">
                <a:solidFill>
                  <a:schemeClr val="bg2"/>
                </a:solidFill>
              </a:rPr>
              <a:t>Devnet sandbox for integrators</a:t>
            </a:r>
            <a:endParaRPr lang="en-US" sz="1500" dirty="0"/>
          </a:p>
        </p:txBody>
      </p:sp>
      <p:sp>
        <p:nvSpPr>
          <p:cNvPr id="11" name="roadmap 2027"/>
          <p:cNvSpPr/>
          <p:nvPr/>
        </p:nvSpPr>
        <p:spPr>
          <a:xfrm>
            <a:off x="8138160" y="1783080"/>
            <a:ext cx="3520440" cy="4343400"/>
          </a:xfrm>
          <a:prstGeom prst="roundRect">
            <a:avLst>
              <a:gd name="adj" fmla="val 3117"/>
            </a:avLst>
          </a:prstGeom>
          <a:solidFill>
            <a:srgbClr val="0F1E2A"/>
          </a:solidFill>
          <a:ln w="12700">
            <a:solidFill>
              <a:srgbClr val="1F4E6B"/>
            </a:solidFill>
            <a:prstDash val="solid"/>
          </a:ln>
        </p:spPr>
      </p:sp>
      <p:sp>
        <p:nvSpPr>
          <p:cNvPr id="12" name="Text 9"/>
          <p:cNvSpPr txBox="1"/>
          <p:nvPr/>
        </p:nvSpPr>
        <p:spPr>
          <a:xfrm>
            <a:off x="8412480" y="1965960"/>
            <a:ext cx="3017520" cy="457200"/>
          </a:xfrm>
          <a:prstGeom prst="rect">
            <a:avLst/>
          </a:prstGeom>
          <a:noFill/>
          <a:ln/>
        </p:spPr>
        <p:txBody>
          <a:bodyPr wrap="square" lIns="0" tIns="0" rIns="0" bIns="0" rtlCol="0" anchor="t"/>
          <a:lstStyle/>
          <a:p>
            <a:pPr indent="0" marL="0">
              <a:buNone/>
            </a:pPr>
            <a:r>
              <a:rPr lang="en-US" sz="2200" b="1" dirty="0">
                <a:solidFill>
                  <a:schemeClr val="accent3"/>
                </a:solidFill>
                <a:latin typeface="Arial" pitchFamily="34" charset="0"/>
                <a:ea typeface="Arial" pitchFamily="34" charset="-122"/>
                <a:cs typeface="Arial" pitchFamily="34" charset="-120"/>
              </a:rPr>
              <a:t>2027</a:t>
            </a:r>
            <a:endParaRPr lang="en-US" sz="2200" dirty="0"/>
          </a:p>
        </p:txBody>
      </p:sp>
      <p:sp>
        <p:nvSpPr>
          <p:cNvPr id="13" name="Text 10"/>
          <p:cNvSpPr txBox="1"/>
          <p:nvPr/>
        </p:nvSpPr>
        <p:spPr>
          <a:xfrm>
            <a:off x="8412480" y="2560320"/>
            <a:ext cx="3017520" cy="338328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bg2"/>
                </a:solidFill>
              </a:rPr>
              <a:t>Token-2022 stablecoins (PYUSD, USDG)</a:t>
            </a:r>
            <a:endParaRPr lang="en-US" sz="1500" dirty="0"/>
          </a:p>
          <a:p>
            <a:pPr marL="342900" indent="-342900">
              <a:spcAft>
                <a:spcPts val="800"/>
              </a:spcAft>
              <a:buSzPct val="100000"/>
              <a:buChar char="•"/>
            </a:pPr>
            <a:r>
              <a:rPr lang="en-US" sz="1500" dirty="0">
                <a:solidFill>
                  <a:schemeClr val="bg2"/>
                </a:solidFill>
              </a:rPr>
              <a:t>Alpenglow-era sub-second finality</a:t>
            </a:r>
            <a:endParaRPr lang="en-US" sz="1500" dirty="0"/>
          </a:p>
          <a:p>
            <a:pPr marL="342900" indent="-342900">
              <a:spcAft>
                <a:spcPts val="800"/>
              </a:spcAft>
              <a:buSzPct val="100000"/>
              <a:buChar char="•"/>
            </a:pPr>
            <a:r>
              <a:rPr lang="en-US" sz="1500" dirty="0">
                <a:solidFill>
                  <a:schemeClr val="bg2"/>
                </a:solidFill>
              </a:rPr>
              <a:t>Off-ramp partners in India, SEA, MENA</a:t>
            </a:r>
            <a:endParaRPr lang="en-US" sz="1500" dirty="0"/>
          </a:p>
          <a:p>
            <a:pPr marL="342900" indent="-342900">
              <a:spcAft>
                <a:spcPts val="800"/>
              </a:spcAft>
              <a:buSzPct val="100000"/>
              <a:buChar char="•"/>
            </a:pPr>
            <a:r>
              <a:rPr lang="en-US" sz="1500" dirty="0">
                <a:solidFill>
                  <a:schemeClr val="bg2"/>
                </a:solidFill>
              </a:rPr>
              <a:t>White-label PSP program</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640080" y="2011680"/>
            <a:ext cx="6035040" cy="1737360"/>
          </a:xfrm>
          <a:prstGeom prst="rect">
            <a:avLst/>
          </a:prstGeom>
          <a:noFill/>
          <a:ln/>
        </p:spPr>
        <p:txBody>
          <a:bodyPr wrap="square" lIns="0" tIns="0" rIns="0" bIns="0" rtlCol="0" anchor="b"/>
          <a:lstStyle/>
          <a:p>
            <a:pPr algn="l" indent="0" marL="0">
              <a:buNone/>
            </a:pPr>
            <a:r>
              <a:rPr lang="en-US" sz="4400" b="1" dirty="0">
                <a:solidFill>
                  <a:schemeClr val="bg1"/>
                </a:solidFill>
              </a:rPr>
              <a:t>Own the stack.</a:t>
            </a:r>
            <a:endParaRPr lang="en-US" sz="4400" dirty="0"/>
          </a:p>
          <a:p>
            <a:pPr algn="l" indent="0" marL="0">
              <a:buNone/>
            </a:pPr>
            <a:r>
              <a:rPr lang="en-US" sz="4400" b="1" dirty="0">
                <a:solidFill>
                  <a:schemeClr val="accent2"/>
                </a:solidFill>
              </a:rPr>
              <a:t>Settle on Solana.</a:t>
            </a:r>
            <a:endParaRPr lang="en-US" sz="4400" dirty="0"/>
          </a:p>
        </p:txBody>
      </p:sp>
      <p:sp>
        <p:nvSpPr>
          <p:cNvPr id="3" name="Text 0"/>
          <p:cNvSpPr/>
          <p:nvPr>
            <p:ph idx="101" type="body" hasCustomPrompt="1"/>
          </p:nvPr>
        </p:nvSpPr>
        <p:spPr>
          <a:xfrm>
            <a:off x="640080" y="3886200"/>
            <a:ext cx="5852160" cy="1097280"/>
          </a:xfrm>
          <a:prstGeom prst="rect">
            <a:avLst/>
          </a:prstGeom>
          <a:noFill/>
          <a:ln/>
        </p:spPr>
        <p:txBody>
          <a:bodyPr wrap="square" lIns="0" tIns="0" rIns="0" bIns="0" rtlCol="0" anchor="t"/>
          <a:lstStyle/>
          <a:p>
            <a:pPr indent="0" marL="0">
              <a:buNone/>
            </a:pPr>
            <a:r>
              <a:rPr lang="en-US" sz="1800" dirty="0">
                <a:solidFill>
                  <a:schemeClr val="bg2"/>
                </a:solidFill>
              </a:rPr>
              <a:t>KPay brings every PSP, platform and bank that installs it onto Solana as a settlement layer.</a:t>
            </a:r>
            <a:endParaRPr lang="en-US" sz="1800" dirty="0"/>
          </a:p>
        </p:txBody>
      </p:sp>
      <p:sp>
        <p:nvSpPr>
          <p:cNvPr id="4" name="Text 2"/>
          <p:cNvSpPr txBox="1"/>
          <p:nvPr/>
        </p:nvSpPr>
        <p:spPr>
          <a:xfrm>
            <a:off x="7040880" y="1463040"/>
            <a:ext cx="4572000" cy="457200"/>
          </a:xfrm>
          <a:prstGeom prst="rect">
            <a:avLst/>
          </a:prstGeom>
          <a:noFill/>
          <a:ln/>
        </p:spPr>
        <p:txBody>
          <a:bodyPr wrap="square" lIns="0" tIns="0" rIns="0" bIns="0" rtlCol="0" anchor="t"/>
          <a:lstStyle/>
          <a:p>
            <a:pPr indent="0" marL="0">
              <a:buNone/>
            </a:pPr>
            <a:r>
              <a:rPr lang="en-US" sz="2000" b="1" dirty="0">
                <a:solidFill>
                  <a:schemeClr val="bg1"/>
                </a:solidFill>
                <a:latin typeface="Arial" pitchFamily="34" charset="0"/>
                <a:ea typeface="Arial" pitchFamily="34" charset="-122"/>
                <a:cs typeface="Arial" pitchFamily="34" charset="-120"/>
              </a:rPr>
              <a:t>Our ask to the Solana ecosystem</a:t>
            </a:r>
            <a:endParaRPr lang="en-US" sz="2000" dirty="0"/>
          </a:p>
        </p:txBody>
      </p:sp>
      <p:pic>
        <p:nvPicPr>
          <p:cNvPr id="5" name="icon FiAward" descr="preencoded.png">    </p:cNvPr>
          <p:cNvPicPr>
            <a:picLocks noChangeAspect="1"/>
          </p:cNvPicPr>
          <p:nvPr/>
        </p:nvPicPr>
        <p:blipFill>
          <a:blip r:embed="rId1"/>
          <a:stretch>
            <a:fillRect/>
          </a:stretch>
        </p:blipFill>
        <p:spPr>
          <a:xfrm>
            <a:off x="7040880" y="2103120"/>
            <a:ext cx="457200" cy="457200"/>
          </a:xfrm>
          <a:prstGeom prst="rect">
            <a:avLst/>
          </a:prstGeom>
        </p:spPr>
      </p:pic>
      <p:sp>
        <p:nvSpPr>
          <p:cNvPr id="6" name="row Grant + co-marketing"/>
          <p:cNvSpPr txBox="1"/>
          <p:nvPr/>
        </p:nvSpPr>
        <p:spPr>
          <a:xfrm>
            <a:off x="7680960" y="2066544"/>
            <a:ext cx="3931920" cy="868680"/>
          </a:xfrm>
          <a:prstGeom prst="rect">
            <a:avLst/>
          </a:prstGeom>
          <a:noFill/>
          <a:ln/>
        </p:spPr>
        <p:txBody>
          <a:bodyPr wrap="square" lIns="0" tIns="0" rIns="0" bIns="0" rtlCol="0" anchor="t"/>
          <a:lstStyle/>
          <a:p>
            <a:pPr indent="0" marL="0">
              <a:buNone/>
            </a:pPr>
            <a:r>
              <a:rPr lang="en-US" sz="1600" b="1" dirty="0">
                <a:solidFill>
                  <a:schemeClr val="bg1"/>
                </a:solidFill>
              </a:rPr>
              <a:t>Grant + co-marketing</a:t>
            </a:r>
            <a:endParaRPr lang="en-US" sz="1500" dirty="0"/>
          </a:p>
          <a:p>
            <a:pPr indent="0" marL="0">
              <a:buNone/>
            </a:pPr>
            <a:r>
              <a:rPr lang="en-US" sz="1400" dirty="0">
                <a:solidFill>
                  <a:schemeClr val="accent6"/>
                </a:solidFill>
              </a:rPr>
              <a:t>Ship the Solana settlement rail GA</a:t>
            </a:r>
            <a:endParaRPr lang="en-US" sz="1500" dirty="0"/>
          </a:p>
        </p:txBody>
      </p:sp>
      <p:pic>
        <p:nvPicPr>
          <p:cNvPr id="7" name="icon FiLink" descr="preencoded.png">    </p:cNvPr>
          <p:cNvPicPr>
            <a:picLocks noChangeAspect="1"/>
          </p:cNvPicPr>
          <p:nvPr/>
        </p:nvPicPr>
        <p:blipFill>
          <a:blip r:embed="rId2"/>
          <a:stretch>
            <a:fillRect/>
          </a:stretch>
        </p:blipFill>
        <p:spPr>
          <a:xfrm>
            <a:off x="7040880" y="3063240"/>
            <a:ext cx="457200" cy="457200"/>
          </a:xfrm>
          <a:prstGeom prst="rect">
            <a:avLst/>
          </a:prstGeom>
        </p:spPr>
      </p:pic>
      <p:sp>
        <p:nvSpPr>
          <p:cNvPr id="8" name="row Stablecoin + off-ramp intros"/>
          <p:cNvSpPr txBox="1"/>
          <p:nvPr/>
        </p:nvSpPr>
        <p:spPr>
          <a:xfrm>
            <a:off x="7680960" y="3026664"/>
            <a:ext cx="3931920" cy="868680"/>
          </a:xfrm>
          <a:prstGeom prst="rect">
            <a:avLst/>
          </a:prstGeom>
          <a:noFill/>
          <a:ln/>
        </p:spPr>
        <p:txBody>
          <a:bodyPr wrap="square" lIns="0" tIns="0" rIns="0" bIns="0" rtlCol="0" anchor="t"/>
          <a:lstStyle/>
          <a:p>
            <a:pPr indent="0" marL="0">
              <a:buNone/>
            </a:pPr>
            <a:r>
              <a:rPr lang="en-US" sz="1600" b="1" dirty="0">
                <a:solidFill>
                  <a:schemeClr val="bg1"/>
                </a:solidFill>
              </a:rPr>
              <a:t>Stablecoin + off-ramp intros</a:t>
            </a:r>
            <a:endParaRPr lang="en-US" sz="1500" dirty="0"/>
          </a:p>
          <a:p>
            <a:pPr indent="0" marL="0">
              <a:buNone/>
            </a:pPr>
            <a:r>
              <a:rPr lang="en-US" sz="1400" dirty="0">
                <a:solidFill>
                  <a:schemeClr val="accent6"/>
                </a:solidFill>
              </a:rPr>
              <a:t>Issuers and local off-ramp partners</a:t>
            </a:r>
            <a:endParaRPr lang="en-US" sz="1500" dirty="0"/>
          </a:p>
        </p:txBody>
      </p:sp>
      <p:pic>
        <p:nvPicPr>
          <p:cNvPr id="9" name="icon FiServer" descr="preencoded.png">    </p:cNvPr>
          <p:cNvPicPr>
            <a:picLocks noChangeAspect="1"/>
          </p:cNvPicPr>
          <p:nvPr/>
        </p:nvPicPr>
        <p:blipFill>
          <a:blip r:embed="rId3"/>
          <a:stretch>
            <a:fillRect/>
          </a:stretch>
        </p:blipFill>
        <p:spPr>
          <a:xfrm>
            <a:off x="7040880" y="4023360"/>
            <a:ext cx="457200" cy="457200"/>
          </a:xfrm>
          <a:prstGeom prst="rect">
            <a:avLst/>
          </a:prstGeom>
        </p:spPr>
      </p:pic>
      <p:sp>
        <p:nvSpPr>
          <p:cNvPr id="10" name="row RPC infrastructure"/>
          <p:cNvSpPr txBox="1"/>
          <p:nvPr/>
        </p:nvSpPr>
        <p:spPr>
          <a:xfrm>
            <a:off x="7680960" y="3986784"/>
            <a:ext cx="3931920" cy="868680"/>
          </a:xfrm>
          <a:prstGeom prst="rect">
            <a:avLst/>
          </a:prstGeom>
          <a:noFill/>
          <a:ln/>
        </p:spPr>
        <p:txBody>
          <a:bodyPr wrap="square" lIns="0" tIns="0" rIns="0" bIns="0" rtlCol="0" anchor="t"/>
          <a:lstStyle/>
          <a:p>
            <a:pPr indent="0" marL="0">
              <a:buNone/>
            </a:pPr>
            <a:r>
              <a:rPr lang="en-US" sz="1600" b="1" dirty="0">
                <a:solidFill>
                  <a:schemeClr val="bg1"/>
                </a:solidFill>
              </a:rPr>
              <a:t>RPC infrastructure</a:t>
            </a:r>
            <a:endParaRPr lang="en-US" sz="1500" dirty="0"/>
          </a:p>
          <a:p>
            <a:pPr indent="0" marL="0">
              <a:buNone/>
            </a:pPr>
            <a:r>
              <a:rPr lang="en-US" sz="1400" dirty="0">
                <a:solidFill>
                  <a:schemeClr val="accent6"/>
                </a:solidFill>
              </a:rPr>
              <a:t>Dedicated RPC for self-hosted installs</a:t>
            </a:r>
            <a:endParaRPr lang="en-US" sz="1500" dirty="0"/>
          </a:p>
        </p:txBody>
      </p:sp>
      <p:pic>
        <p:nvPicPr>
          <p:cNvPr id="11" name="icon FiUsers" descr="preencoded.png">    </p:cNvPr>
          <p:cNvPicPr>
            <a:picLocks noChangeAspect="1"/>
          </p:cNvPicPr>
          <p:nvPr/>
        </p:nvPicPr>
        <p:blipFill>
          <a:blip r:embed="rId4"/>
          <a:stretch>
            <a:fillRect/>
          </a:stretch>
        </p:blipFill>
        <p:spPr>
          <a:xfrm>
            <a:off x="7040880" y="4983480"/>
            <a:ext cx="457200" cy="457200"/>
          </a:xfrm>
          <a:prstGeom prst="rect">
            <a:avLst/>
          </a:prstGeom>
        </p:spPr>
      </p:pic>
      <p:sp>
        <p:nvSpPr>
          <p:cNvPr id="12" name="row Pilot merchants + PSPs"/>
          <p:cNvSpPr txBox="1"/>
          <p:nvPr/>
        </p:nvSpPr>
        <p:spPr>
          <a:xfrm>
            <a:off x="7680960" y="4946904"/>
            <a:ext cx="3931920" cy="868680"/>
          </a:xfrm>
          <a:prstGeom prst="rect">
            <a:avLst/>
          </a:prstGeom>
          <a:noFill/>
          <a:ln/>
        </p:spPr>
        <p:txBody>
          <a:bodyPr wrap="square" lIns="0" tIns="0" rIns="0" bIns="0" rtlCol="0" anchor="t"/>
          <a:lstStyle/>
          <a:p>
            <a:pPr indent="0" marL="0">
              <a:buNone/>
            </a:pPr>
            <a:r>
              <a:rPr lang="en-US" sz="1600" b="1" dirty="0">
                <a:solidFill>
                  <a:schemeClr val="bg1"/>
                </a:solidFill>
              </a:rPr>
              <a:t>Pilot merchants + PSPs</a:t>
            </a:r>
            <a:endParaRPr lang="en-US" sz="1500" dirty="0"/>
          </a:p>
          <a:p>
            <a:pPr indent="0" marL="0">
              <a:buNone/>
            </a:pPr>
            <a:r>
              <a:rPr lang="en-US" sz="1400" dirty="0">
                <a:solidFill>
                  <a:schemeClr val="accent6"/>
                </a:solidFill>
              </a:rPr>
              <a:t>Five design partners for Q4 2026</a:t>
            </a:r>
            <a:endParaRPr lang="en-US" sz="1500" dirty="0"/>
          </a:p>
        </p:txBody>
      </p:sp>
    </p:spTree>
  </p:cSld>
  <p:clrMapOvr>
    <a:masterClrMapping/>
  </p:clrMapOvr>
</p:sld>
</file>

<file path=ppt/theme/theme1.xml><?xml version="1.0" encoding="utf-8"?>
<a:theme xmlns:a="http://schemas.openxmlformats.org/drawingml/2006/main" name="KPay Solana">
  <a:themeElements>
    <a:clrScheme name="KPay Solana">
      <a:dk1>
        <a:srgbClr val="0B0B14"/>
      </a:dk1>
      <a:lt1>
        <a:srgbClr val="FFFFFF"/>
      </a:lt1>
      <a:dk2>
        <a:srgbClr val="171728"/>
      </a:dk2>
      <a:lt2>
        <a:srgbClr val="ECECF5"/>
      </a:lt2>
      <a:accent1>
        <a:srgbClr val="9945FF"/>
      </a:accent1>
      <a:accent2>
        <a:srgbClr val="14F195"/>
      </a:accent2>
      <a:accent3>
        <a:srgbClr val="00C2FF"/>
      </a:accent3>
      <a:accent4>
        <a:srgbClr val="FFB547"/>
      </a:accent4>
      <a:accent5>
        <a:srgbClr val="FF5C7A"/>
      </a:accent5>
      <a:accent6>
        <a:srgbClr val="9A9AB5"/>
      </a:accent6>
      <a:hlink>
        <a:srgbClr val="00C2FF"/>
      </a:hlink>
      <a:folHlink>
        <a:srgbClr val="9945FF"/>
      </a:folHlink>
    </a:clrScheme>
    <a:fontScheme name="KPay Solana">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KPay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KPay — Self-hosted payment gateway settling on Solana</dc:title>
  <dc:subject>PptxGenJS Presentation</dc:subject>
  <dc:creator>KPay</dc:creator>
  <cp:lastModifiedBy>KPay</cp:lastModifiedBy>
  <cp:revision>1</cp:revision>
  <dcterms:created xsi:type="dcterms:W3CDTF">2026-10-06T08:24:37Z</dcterms:created>
  <dcterms:modified xsi:type="dcterms:W3CDTF">2026-10-06T08:24:37Z</dcterms:modified>
</cp:coreProperties>
</file>